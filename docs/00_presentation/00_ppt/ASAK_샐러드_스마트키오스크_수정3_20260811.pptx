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 · 멘토 남상규.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 연결. 실서버 연동·통합 검증은 진행 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활용 기술. 표에 적은 기술은 실제 저장소에서 사용 중인 것만 기재한다.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구조. RTOS·임베디드·카드리더기·프린터는 구현 범위가 아니므로 넣지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프로세스. 06 1차 통합을 현재 단계로 강조했다. 실제 진행 단계에 맞춰 강조 위치를 옮긴다.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옵션이 많은 샐러드 주문을, 키오스크와 운영 화면으로 연결한다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 · 김나연   |   멘토 남상규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결과보고서_다비치(ASAK 샐러드 스마트 키오스크)  ·  2026.06.29 ~ 2026.08.07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왜 샐러드 키오스크인가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화면 · API 단위 역할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문서 → 코드 → 검증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구조 · 화면 ·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정직한 현재 단계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주문을 실수 없이 끝낸다.  ·  2인 팀 · 6주 · 저장소 4개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>
                <a:solidFill>
                  <a:srgbClr val="111827"/>
                </a:solidFill>
                <a:latin typeface="Pretendard SemiBol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정책·제외 재료·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품절·수량 제한을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서버 검증에 반영한다.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결과는 Admin에서</a:t>
            </a:r>
          </a:p>
          <a:p>
            <a:pPr algn="l"/>
            <a:r>
              <a:rPr sz="1150">
                <a:solidFill>
                  <a:srgbClr val="111827"/>
                </a:solidFill>
                <a:latin typeface="Pretendard"/>
              </a:rPr>
              <a:t>확인한다.</a:t>
            </a: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>
                <a:solidFill>
                  <a:srgbClr val="111827"/>
                </a:solidFill>
                <a:latin typeface="Pretendard SemiBol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고객: 옵션을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흐름대로 선택한다.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9948672" y="3986784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운영: 주문·메뉴를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화면에서 확인한다.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948672" y="4882896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입력 오류를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줄인다.</a:t>
            </a:r>
            <a:endParaRPr lang="en-US" sz="1150" dirty="0"/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 주문은 메뉴 외에도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옵션·제외·수량이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겹친다.</a:t>
            </a:r>
          </a:p>
          <a:p>
            <a:pPr marL="0" indent="0" algn="l">
              <a:lnSpc>
                <a:spcPts val="1600"/>
              </a:lnSpc>
              <a:buNone/>
            </a:pPr>
            <a:endParaRPr sz="115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실수 없이 끝내는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주문 흐름이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필요했다.</a:t>
            </a: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팀 · 저장소 4개(ASAK · Kiosk · Admin · back) · 역할은 화면·API 단위로 나눈다.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 err="1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2359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· Docs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화면 · 문서 · Hub 정본 관리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Figma · Screen Bible · WBS·발표 자료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Live 주문 · 주문 관리 · 메뉴·품절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관리자 API 연동 · DB 스키마 반영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spc="6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주문 흐름 · 옵션 UI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필수·선택 옵션 · 제외 · 수량 제한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장바구니 · 결제·완료·타임아웃 화면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r>
              <a:rPr sz="1150">
                <a:latin typeface="Pretendard"/>
              </a:rPr>
              <a:t>API 연동·검증 · QA·시연 시나리오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lnSpc>
                <a:spcPct val="190000"/>
              </a:lnSpc>
              <a:buNone/>
            </a:pP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38912" y="5303520"/>
            <a:ext cx="11313871" cy="56692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640080" y="54498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멘토 남상규  ·  강사 피드백으로 API 계약 · 상태 경계 · 수직 슬라이스 순서를 맞췄다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문서(요구·화면·API)를 먼저 맞춘 뒤 화면과 서버를 붙였다.</a:t>
            </a:r>
            <a:b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300" dirty="0"/>
          </a:p>
          <a:p>
            <a:pPr algn="l"/>
            <a:r>
              <a:rPr sz="1300">
                <a:solidFill>
                  <a:srgbClr val="6B7280"/>
                </a:solidFill>
                <a:latin typeface="Pretendard"/>
              </a:rPr>
              <a:t>7 실서버 연동 · 8 통합 검증은 현재 진행 중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W27  6/29~7/5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 · DB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W28  7/6~7/12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Figma UI 확정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  7/13~7/19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W29~W30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화면 구현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  7/20~7/26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API 계약 · 백엔드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W30~W31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실서버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W31~W32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검증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W32  8/3~8/7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2026.06.29  ~  2026.08.07   (6주 · ISO W27~W32)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Stack · Build · Process · Iterate · Deliver — 다섯 축으로 경과를 본다.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Kiosk/Admin +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Spring · MyBatis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MySQL API 구조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옵션·제외·수량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Admin 주문·메뉴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개발 → 통합 →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QA → 시연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흐름·검증·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데이터 구조를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피드백 단위로 보완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· ERD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API 테스트 ·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Bible · WBS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 및 구현 방법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 구현 방법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세션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 · Zustand · Axios · Vite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주문 · 메뉴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화면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 · MyBatis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검증 · Admin 조회 API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데이터베이스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24테이블 — 메뉴·옵션·주문·결제 (공통코드)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협업 · 검증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· Figma · Bruno · WBS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형상 · API 테스트 · 일정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640080" y="499262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구현 방법 요약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Kiosk와 Admin은 역할별 React 앱으로 분리하고, Spring Boot API로 메뉴·옵션·주문을 조회·검증한다.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MyBatis는 메뉴 구성과 주문 보존에 필요한 관계를 연결한다.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2433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Menu · Detail · Cart · Payment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243300"/>
                </a:solidFill>
                <a:latin typeface="Pretendard"/>
              </a:rPr>
              <a:t>고객 주문 세션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· Orders · Menus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sz="950">
                <a:solidFill>
                  <a:srgbClr val="1A1A1A"/>
                </a:solidFill>
                <a:latin typeface="Pretendard"/>
              </a:rPr>
              <a:t>품절 · 결제수단 · 매출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Controller · Admin Controller · Service · Validation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Mapper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menu · ing · opt_policy · orders · payment · common_code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0756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514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0756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2951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91840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29184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3558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3611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383133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050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2702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489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4709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291840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29184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35584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36118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050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270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4897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47091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49286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291840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29184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3558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3611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3831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05079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270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4897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47091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291840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29184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38313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0507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2702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489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4709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468880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2688336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367588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358384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4882896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Text 100"/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= 카테고리 + 기본 재료 + 옵션 정책.  min/max 선택과 can_remove가 주문 화면의 규칙이 된다.</a:t>
            </a:r>
            <a:endParaRPr lang="en-US" sz="1150" dirty="0"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부가 테이블 — tag · menu_tag · allergen · ing_allergen · menu_nutr · opt_item_comp · menu_opt_override (전체 24개 테이블 중 핵심 9개만 표시)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항목에 옵션·제외 재료를 붙여 ‘그때 그 조합’을 그대로 보존한다.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→ 메뉴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옵션·제외·수량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 dirty="0" err="1">
                <a:solidFill>
                  <a:srgbClr val="111827"/>
                </a:solidFill>
                <a:latin typeface="Pretendard"/>
              </a:rPr>
              <a:t>장바구니</a:t>
            </a:r>
            <a:r>
              <a:rPr sz="1250" dirty="0">
                <a:solidFill>
                  <a:srgbClr val="111827"/>
                </a:solidFill>
                <a:latin typeface="Pretendard"/>
              </a:rPr>
              <a:t> → </a:t>
            </a:r>
            <a:r>
              <a:rPr sz="1250" dirty="0" err="1">
                <a:solidFill>
                  <a:srgbClr val="111827"/>
                </a:solidFill>
                <a:latin typeface="Pretendard"/>
              </a:rPr>
              <a:t>결제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단계를 나누되, 뒤로 가도</a:t>
            </a:r>
            <a:endParaRPr lang="en-US" sz="1250" dirty="0"/>
          </a:p>
          <a:p>
            <a:pPr marL="0" indent="0" algn="l">
              <a:lnSpc>
                <a:spcPct val="145000"/>
              </a:lnSpc>
              <a:buNone/>
            </a:pPr>
            <a:r>
              <a:rPr sz="1250">
                <a:solidFill>
                  <a:srgbClr val="111827"/>
                </a:solidFill>
                <a:latin typeface="Pretendard"/>
              </a:rPr>
              <a:t>선택은 유지한다.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" y="32735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38912" y="33192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63931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38912" y="368503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" y="40050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40507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1517904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709160" y="1956816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720840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013448" y="1956816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025128" y="3721608"/>
            <a:ext cx="29260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317736" y="1956816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— 카테고리 선택 → 메뉴 선택 → 옵션 · 제외 재료 · 수량 → 장바구니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기준: 카테고리 · 옵션 정책 · 제외 재료 · 금액 확인  ·  Screen Bible</a:t>
            </a:r>
            <a:endParaRPr lang="en-US" sz="1200" dirty="0"/>
          </a:p>
        </p:txBody>
      </p:sp>
      <p:pic>
        <p:nvPicPr>
          <p:cNvPr id="39" name="Picture 38" descr="kiosk-02-menuL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1956816"/>
            <a:ext cx="2011680" cy="3584448"/>
          </a:xfrm>
          <a:prstGeom prst="rect">
            <a:avLst/>
          </a:prstGeom>
        </p:spPr>
      </p:pic>
      <p:pic>
        <p:nvPicPr>
          <p:cNvPr id="40" name="Picture 39" descr="kiosk-03-menuDet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3448" y="1956816"/>
            <a:ext cx="2011680" cy="3584448"/>
          </a:xfrm>
          <a:prstGeom prst="rect">
            <a:avLst/>
          </a:prstGeom>
        </p:spPr>
      </p:pic>
      <p:pic>
        <p:nvPicPr>
          <p:cNvPr id="41" name="Picture 40" descr="kiosk-04-c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1956816"/>
            <a:ext cx="20116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이름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이미지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품절을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한눈에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원하는 메뉴를 선택해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상세로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메뉴는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택을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막아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실패를 앞당기지 않는다.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API(GET /api/kiosk/categories · menuList)는 구현되어 있고, 실 DB 응답 검증이 남아 있습니다.</a:t>
            </a:r>
            <a:endParaRPr lang="en-US" sz="1200" dirty="0"/>
          </a:p>
        </p:txBody>
      </p:sp>
      <p:pic>
        <p:nvPicPr>
          <p:cNvPr id="30" name="Picture 29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1" y="1233811"/>
            <a:ext cx="2263073" cy="4032385"/>
          </a:xfrm>
          <a:prstGeom prst="rect">
            <a:avLst/>
          </a:prstGeom>
        </p:spPr>
      </p:pic>
      <p:pic>
        <p:nvPicPr>
          <p:cNvPr id="31" name="Picture 3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93" y="1233812"/>
            <a:ext cx="2287735" cy="4076328"/>
          </a:xfrm>
          <a:prstGeom prst="rect">
            <a:avLst/>
          </a:prstGeom>
        </p:spPr>
      </p:pic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· 선택 옵션을 정책(min/max)에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맞게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고릅니다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빼고,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수량을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조정합니다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  <a:p>
            <a:pPr algn="l"/>
            <a:r>
              <a:rPr sz="1300" dirty="0" err="1">
                <a:solidFill>
                  <a:srgbClr val="111827"/>
                </a:solidFill>
                <a:latin typeface="Pretendard"/>
              </a:rPr>
              <a:t>가격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변화는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선택과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함께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41248" y="360603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재검증. 옵션·품절·수량을 주문 전에 </a:t>
            </a: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API(POST /api/kiosk/cart/validate)가 서버에서 총액을 재계산합니다.</a:t>
            </a:r>
            <a:endParaRPr lang="en-US" sz="1200" dirty="0"/>
          </a:p>
        </p:txBody>
      </p:sp>
      <p:pic>
        <p:nvPicPr>
          <p:cNvPr id="30" name="Picture 29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616" y="1233812"/>
            <a:ext cx="2263073" cy="4032385"/>
          </a:xfrm>
          <a:prstGeom prst="rect">
            <a:avLst/>
          </a:prstGeom>
        </p:spPr>
      </p:pic>
      <p:pic>
        <p:nvPicPr>
          <p:cNvPr id="31" name="Picture 30" descr="kiosk-03-menu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215" y="1233812"/>
            <a:ext cx="2263073" cy="4032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장바구니는 마지막 검산. 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실패해도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선택은 유지한다. (시연: 결제 화면 이동까지)</a:t>
            </a:r>
            <a:endParaRPr lang="en-US" sz="1200" dirty="0"/>
          </a:p>
          <a:p>
            <a:pPr marL="0" indent="0" algn="l">
              <a:lnSpc>
                <a:spcPct val="145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0" name="Picture 29" descr="kiosk-04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189" y="1233812"/>
            <a:ext cx="2231136" cy="3975479"/>
          </a:xfrm>
          <a:prstGeom prst="rect">
            <a:avLst/>
          </a:prstGeom>
        </p:spPr>
      </p:pic>
      <p:pic>
        <p:nvPicPr>
          <p:cNvPr id="31" name="Picture 30" descr="kiosk-05-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0184" y="1233812"/>
            <a:ext cx="2231136" cy="39754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보드와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목록에서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번호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메뉴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·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상태를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상세에서 옵션 · 제외 재료까지 </a:t>
            </a:r>
            <a:r>
              <a:rPr lang="ko-KR" altLang="en-US" sz="130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더블체크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4108" y="372795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주문건별로 쉽게 보고 관리할 수 있는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조회 · Live · 상태 변경 API 경로는 구현되어 있으며, 통합 테스트가 진행 중입니다.</a:t>
            </a:r>
            <a:endParaRPr lang="en-US" sz="1200" dirty="0"/>
          </a:p>
        </p:txBody>
      </p:sp>
      <p:pic>
        <p:nvPicPr>
          <p:cNvPr id="27" name="Picture 26" descr="admin-01-live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627632"/>
            <a:ext cx="6766560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데이터가 흔들리면 Kiosk도 흔들린다.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(CRUD 범위는 구현 현황에 맞춤)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404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164695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2347575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2347575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2347575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02055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4103223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4286103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286103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86103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40583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041751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6224631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6224631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테스트 QA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224631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· 브라우저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9111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980279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8163159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8163159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시연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63159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정리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 → 설계 → 개발 → 통합 → DB → QA → 시연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path 형식과 camelCase / snake_case가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통일되어 있지 않다. 전역 상태도 과다하다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경로 · 네이밍 규칙을 명세로 통일하고,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하나로 축소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DTO와 Mapper 구조를 정리하고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수직 슬라이스 한 경로로 완성하라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dto/request · dto/response 분리,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인터페이스 Mapper로 전환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MySQL 스키마가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일치하는지 비교가 필요하다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API 명세를 실제 스키마와 대조해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24개 테이블 · FK 39건 기준으로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994D4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장바구니에서 주문 생성 API까지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실연결하고 DB로 검증하라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API 서버 재계산 구현,</a:t>
            </a:r>
            <a:endParaRPr lang="en-US" sz="12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· 결제 승인 연동은 진행 중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438912" y="5998464"/>
            <a:ext cx="113138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회의록 2026-W29 · W30 · W32 「강사 피드백」 항목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→ 옵션·제외·수량 → 장바구니 → (주문) → Admin 확인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97296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[시연 영상 제출 시 파일명 또는 링크 입력]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기타 참고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명세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API 테스트 자료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GitHub 저장소</a:t>
            </a:r>
            <a:endParaRPr lang="en-US" sz="1200" dirty="0"/>
          </a:p>
        </p:txBody>
      </p:sp>
      <p:pic>
        <p:nvPicPr>
          <p:cNvPr id="41" name="Picture 40" descr="kiosk-02-menu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554480"/>
            <a:ext cx="1591056" cy="2834640"/>
          </a:xfrm>
          <a:prstGeom prst="rect">
            <a:avLst/>
          </a:prstGeom>
        </p:spPr>
      </p:pic>
      <p:pic>
        <p:nvPicPr>
          <p:cNvPr id="42" name="Picture 41" descr="kiosk-03-menu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554480"/>
            <a:ext cx="1591056" cy="2834640"/>
          </a:xfrm>
          <a:prstGeom prst="rect">
            <a:avLst/>
          </a:prstGeom>
        </p:spPr>
      </p:pic>
      <p:pic>
        <p:nvPicPr>
          <p:cNvPr id="43" name="Picture 42" descr="admin-01-liveOrd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2221992"/>
            <a:ext cx="2670048" cy="1499616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25128" y="2224908"/>
            <a:ext cx="2670048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· 데이터 · 테스트 자료를 같이 남겨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sz="1200" dirty="0" err="1">
                <a:solidFill>
                  <a:srgbClr val="FFFFFF"/>
                </a:solidFill>
                <a:latin typeface="Pretendard"/>
              </a:rPr>
              <a:t>화면과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흐름을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Pretendard"/>
              </a:rPr>
              <a:t>추적했다</a:t>
            </a:r>
            <a:r>
              <a:rPr sz="1200" dirty="0">
                <a:solidFill>
                  <a:srgbClr val="FFFFFF"/>
                </a:solidFill>
                <a:latin typeface="Pretendard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산출물 목록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화면 흐름 · Screen Bible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ERD · 주문 · 결제 ERD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컬렉션 · MySQL 조회 결과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40080" y="17373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B5E30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현재 단계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048256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검증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sz="2600" b="1">
                <a:solidFill>
                  <a:srgbClr val="FFFFFF"/>
                </a:solidFill>
                <a:latin typeface="Pretendard"/>
              </a:rPr>
              <a:t>진행 중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66928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— wbs.md · 아삭_mysql.sql · 저장소 baseline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4A7A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20848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문서·Kiosk·Admin·Backend를 저장소로 나누고, 옵션·제외까지 담은 데이터 모델을 설계했다.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생성·결제 승인 E2E와 Admin mock 제거·실연동을 끝까지 검증해야 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82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157216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화면·API·DB는 각각 통과해도, 같은 주문번호로 한 줄로 이을 때 진짜 검증이 된다.</a:t>
            </a:r>
            <a:endParaRPr lang="en-US" sz="1250" dirty="0"/>
          </a:p>
          <a:p>
            <a:pPr marL="0" indent="0" algn="l">
              <a:lnSpc>
                <a:spcPct val="150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샐러드 스마트 키오스크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선택 → 옵션 · 제외 재료 · 수량 선택 → 장바구니 → 주문 관리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2712</Words>
  <Application>Microsoft Office PowerPoint</Application>
  <PresentationFormat>와이드스크린</PresentationFormat>
  <Paragraphs>583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Pretendard</vt:lpstr>
      <vt:lpstr>Pretendard SemiBold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21</cp:revision>
  <dcterms:created xsi:type="dcterms:W3CDTF">2026-08-07T09:36:12Z</dcterms:created>
  <dcterms:modified xsi:type="dcterms:W3CDTF">2026-08-12T05:43:21Z</dcterms:modified>
</cp:coreProperties>
</file>
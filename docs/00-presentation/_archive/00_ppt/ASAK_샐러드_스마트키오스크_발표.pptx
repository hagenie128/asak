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5720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팀명 다비치, 팀원 이하진·김나연. 멘토(강사) 이름만 확인해 채운다. 기간은 회의록 2026-W27~W32 기준.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목차. 5개 섹션은 결과보고서 표준 구성을 따른다.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개요. 실제로 구현하지 않은 결제 수단·AI 추천·하드웨어 제어는 쓰지 않는다. 기대 효과는 수치 없이 목표로만 서술한다.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 구성. WBS 담당 건수와 워크로그 entries 기준으로 작성했다. 이하진 26건 · 김나연 15건.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수행 절차. 1~6단계 완료, 7 실서버 연동·8 통합 검증은 진행 중이다. current-status-baseline.md 기준.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수행 경과 요약. 이후 7~20쪽에서 각 항목을 상세히 다룬다.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활용 기술. 표에 적은 기술은 실제 저장소에서 사용 중인 것만 기재한다.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구조. RTOS·임베디드·카드리더기·프린터는 구현 범위가 아니므로 넣지 않았다.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ERD 1/2. 아삭_mysql.sql 정본 기준. 전체 24개 테이블 중 메뉴·옵션 핵심 9개만 표시했고 부가 테이블은 하단에 이름으로 남겼다.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ERD 2/2. 주문 상태·주문 유형·결제 수단·결제 상태는 모두 common_code를 참조하는 공통코드 구조다. code_group → common_code → orders/payment/pay_method_cfg 경로를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화면설계서. Figma 화면 흐름 캡처를 확보하면 3개 자리표시자를 교체한다.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메뉴 목록 화면. Kiosk 캡처 2장(기본 목록 / 카테고리 전환 또는 품절 상태)을 넣는다.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메뉴 상세 화면. 옵션 정책(min_select·max_select)과 제외 가능 재료(can_remove)가 화면에 반영되는 지점이다.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장바구니 화면. 결제 API 연결 전이면 "결제 화면으로 이동"까지만 말하고 결제 성공 결과는 언급하지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관리자 주문 관리. Live 주문 또는 주문 관리 화면 캡처를 넣는다.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관리자 메뉴 관리. 조회만 구현했다면 제목을 "메뉴 정보 조회"로 바꾼다.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수행 프로세스. 06 1차 통합을 현재 단계로 강조했다. 실제 진행 단계에 맞춰 강조 위치를 옮긴다.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피드백. 4건 모두 회의록에 날짜와 함께 기록된 실제 강사 피드백이다. 8/4 항목의 주문 생성·결제 연동은 아직 진행 중임을 밝힌다.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결과물 1/2. 캡처 칸 크기는 동일하게 두고 이미지 비율은 유지한다. 늘려 맞추지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결과물 2/2. 설계·검증 산출물. 실제 확보한 자료만 남기고 나머지 칸은 삭제한다.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자체 평가. current-status-baseline.md의 「mock 1차 연결은 DONE이 아니다」 원칙을 그대로 따라 보완할 점을 서술했다. 점수는 넣지 않았다.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마무리. 질의응답으로 이어진다.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2121408"/>
            <a:ext cx="4974336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11880" y="2121408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86216" y="2121408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11880" y="4315968"/>
            <a:ext cx="4974336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11880" y="4096512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86216" y="4096512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31352" y="411480"/>
            <a:ext cx="100584" cy="1444752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9253728" y="0"/>
            <a:ext cx="100584" cy="1408176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456432" y="4636008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898648" y="4910328"/>
            <a:ext cx="100584" cy="1444752"/>
          </a:xfrm>
          <a:prstGeom prst="rect">
            <a:avLst/>
          </a:prstGeom>
          <a:solidFill>
            <a:srgbClr val="B5E30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0" y="1700784"/>
            <a:ext cx="12191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그린컴퓨터아카데미 신촌 · 키오스크 풀스택 개발자 양성과정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0" y="2633472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: 샐러드 스마트 키오스크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0" y="3529584"/>
            <a:ext cx="12191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선택이 많은 샐러드 주문을 고객 키오스크와 관리자 운영 화면으로 연결한다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813048" y="4846320"/>
            <a:ext cx="4572000" cy="694944"/>
          </a:xfrm>
          <a:prstGeom prst="rect">
            <a:avLst/>
          </a:prstGeom>
          <a:solidFill>
            <a:srgbClr val="383D4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813048" y="49560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TEAM 다비치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813048" y="52120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이하진 · 김나연   |   멘토 남상규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0" y="6291072"/>
            <a:ext cx="12191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결과보고서_다비치(ASAK 샐러드 스마트 키오스크)  ·  2026.06.29 ~ 2026.08.07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38912" y="140817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438912" y="1993392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38912" y="215798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215798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개요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2212848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· 배경 · 범위 · 기대 효과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98448" y="2633472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Shape 7"/>
          <p:cNvSpPr/>
          <p:nvPr/>
        </p:nvSpPr>
        <p:spPr>
          <a:xfrm>
            <a:off x="438912" y="2779776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8912" y="294436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294436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팀 구성 및 역할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2999232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화면 · API · 산출물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98448" y="3419856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4" name="Shape 12"/>
          <p:cNvSpPr/>
          <p:nvPr/>
        </p:nvSpPr>
        <p:spPr>
          <a:xfrm>
            <a:off x="438912" y="3566160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38912" y="37307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373075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수행 절차 및 방법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3785616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 → 설계 → 개발 → 통합 → QA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298448" y="4206240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Shape 17"/>
          <p:cNvSpPr/>
          <p:nvPr/>
        </p:nvSpPr>
        <p:spPr>
          <a:xfrm>
            <a:off x="438912" y="4352544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38912" y="451713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298448" y="451713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수행 경과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4572000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· 구조 · ERD · 화면 · 결과물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298448" y="4992624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Shape 22"/>
          <p:cNvSpPr/>
          <p:nvPr/>
        </p:nvSpPr>
        <p:spPr>
          <a:xfrm>
            <a:off x="438912" y="5138928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38912" y="530352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298448" y="530352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자체 평가 의견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5358384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잘한 점 · 보완할 점 · 배운 점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298448" y="5779008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개요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프로젝트 개요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1463040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선택이 많은 샐러드 주문을 고객 키오스크와 관리자 운영 화면으로 연결한다.  ·  2인 팀 · 6주 · 저장소 4개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03504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주제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선정 배경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" y="2889504"/>
            <a:ext cx="181965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샐러드 주문은 메뉴 외에도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선택, 재료 제외,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수량 변경처럼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확인할 항목이 많다.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4023360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과정을 쉽게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이해할 수 있는 흐름을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만들고자 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75204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75204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939796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939796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특화 포인트 ·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차별화 내용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2939796" y="2889504"/>
            <a:ext cx="181965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 메뉴 주문이 아니라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정책, 제외 재료,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여부, 수량 제한을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흐름에 반영한다.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2939796" y="4023360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결과는 관리자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화면에서 확인한다.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111496" y="1883664"/>
            <a:ext cx="2116836" cy="4206240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11496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276088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276088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내용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276088" y="2889504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Kiosk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276088" y="3145536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 · 메뉴 목록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 · 장바구니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276088" y="404164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Admin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276088" y="4297680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주문 · 주문 관리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관리 · 품절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276088" y="495604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Backend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276088" y="5212080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· 주문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검증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447788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47788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612380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612380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 장비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자료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7612380" y="2889504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프론트엔드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7612380" y="3145536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· React Router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Zustand · Axios · Vite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7612380" y="3803904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백엔드 · DB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7612380" y="4059936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 · Java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· MySQL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7612380" y="4718304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협업 · 문서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7612380" y="4974336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Bruno · GitHub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 · WBS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9784080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784080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948672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948672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 방안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기대 효과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9948672" y="2889504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고객은 복잡한 옵션을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흐름에 따라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선택할 수 있다.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9948672" y="3785616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운영자는 주문과 메뉴를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화면에서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확인할 수 있다.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9948672" y="4681728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입력 오류를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줄이는 것이 목표다.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팀 구성 및 역할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팀 구성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1463040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2인 팀으로 저장소 4개(문서 · Kiosk · Admin · Backend)를 나누어 맡고, WBS 85건을 증거 기준으로 관리했다.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555955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2121408"/>
            <a:ext cx="694944" cy="694944"/>
          </a:xfrm>
          <a:prstGeom prst="rect">
            <a:avLst/>
          </a:prstGeom>
          <a:solidFill>
            <a:srgbClr val="F5FBE0"/>
          </a:solidFill>
          <a:ln w="19050">
            <a:solidFill>
              <a:srgbClr val="B5E30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4944" y="2304288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21396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이하진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279392" y="21945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WBS 26건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554480" y="2523744"/>
            <a:ext cx="2377440" cy="256032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554480" y="257860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기획 · 문서 · 관리자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4944" y="2999232"/>
            <a:ext cx="5047488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4944" y="3182112"/>
            <a:ext cx="5047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문서·WBS·ERD·API 명세 정본 관리</a:t>
            </a:r>
            <a:endParaRPr lang="en-US" sz="1150" dirty="0"/>
          </a:p>
          <a:p>
            <a:pPr marL="0" indent="0" algn="l">
              <a:lnSpc>
                <a:spcPct val="19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디자인 토큰 · 공통 컴포넌트 · 화면 매핑</a:t>
            </a:r>
            <a:endParaRPr lang="en-US" sz="1150" dirty="0"/>
          </a:p>
          <a:p>
            <a:pPr marL="0" indent="0" algn="l">
              <a:lnSpc>
                <a:spcPct val="19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전 화면 구현 — Live 주문 · 주문 관리 · 상태 전환</a:t>
            </a:r>
            <a:endParaRPr lang="en-US" sz="1150" dirty="0"/>
          </a:p>
          <a:p>
            <a:pPr marL="0" indent="0" algn="l">
              <a:lnSpc>
                <a:spcPct val="19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· 메뉴 · 결제수단 · 매출 · 대시보드 화면</a:t>
            </a:r>
            <a:endParaRPr lang="en-US" sz="1150" dirty="0"/>
          </a:p>
          <a:p>
            <a:pPr marL="0" indent="0" algn="l">
              <a:lnSpc>
                <a:spcPct val="19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실서버 API 연동, DB 스키마 반영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99632" y="1883664"/>
            <a:ext cx="555955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55664" y="2121408"/>
            <a:ext cx="694944" cy="694944"/>
          </a:xfrm>
          <a:prstGeom prst="rect">
            <a:avLst/>
          </a:prstGeom>
          <a:solidFill>
            <a:srgbClr val="F5FBE0"/>
          </a:solidFill>
          <a:ln w="19050">
            <a:solidFill>
              <a:srgbClr val="B5E30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55664" y="2304288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김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21396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김나연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0040112" y="21945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WBS 15건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0" y="2523744"/>
            <a:ext cx="2377440" cy="256032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315200" y="257860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키오스크 · 백엔드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55664" y="2999232"/>
            <a:ext cx="5047488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55664" y="3182112"/>
            <a:ext cx="5047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화면 Figma 초기 설계 (로그인 · 주문 현황 · 매출)</a:t>
            </a:r>
            <a:endParaRPr lang="en-US" sz="1150" dirty="0"/>
          </a:p>
          <a:p>
            <a:pPr marL="0" indent="0" algn="l">
              <a:lnSpc>
                <a:spcPct val="19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전 화면 구현 — 라우트 · 메뉴 목록 · 상세 · 옵션</a:t>
            </a:r>
            <a:endParaRPr lang="en-US" sz="1150" dirty="0"/>
          </a:p>
          <a:p>
            <a:pPr marL="0" indent="0" algn="l">
              <a:lnSpc>
                <a:spcPct val="19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필수·선택 옵션 활성 조건, 알레르기 조건부 표시</a:t>
            </a:r>
            <a:endParaRPr lang="en-US" sz="1150" dirty="0"/>
          </a:p>
          <a:p>
            <a:pPr marL="0" indent="0" algn="l">
              <a:lnSpc>
                <a:spcPct val="19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수량 제한(메뉴 9개 · 장바구니 30개) 및 초과 안내</a:t>
            </a:r>
            <a:endParaRPr lang="en-US" sz="1150" dirty="0"/>
          </a:p>
          <a:p>
            <a:pPr marL="0" indent="0" algn="l">
              <a:lnSpc>
                <a:spcPct val="19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· 주문 완료 · 타임아웃 화면, Kiosk 실서버 API 연동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38912" y="5303520"/>
            <a:ext cx="11313871" cy="56692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0080" y="54498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멘토 남상규  ·  주차별 강사 피드백으로 API 계약 · 상태 관리 · 수직 슬라이스 구현 순서를 조정했다.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수행 절차 및 방법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수행 절차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1463040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주차별 회의록과 WBS를 근거로 8단계를 진행했다. 7단계 실서버 연동과 8단계 통합 검증은 현재 진행 중이다.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3236976"/>
            <a:ext cx="1056132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1540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0312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기획 · 요구사항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10312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W27  6/29~7/5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194560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194560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372868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691640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 · DB 설계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W28  7/6~7/12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75888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675888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854196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172968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Figma UI 확정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172968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W29  7/13~7/19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157216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157216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335524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654296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Kiosk 화면 구현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654296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W29~W30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638544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638544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816852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135624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Admin 화면 구현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135624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W30  7/20~7/26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119872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119872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298180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616952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API 계약 · 백엔드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7616952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W30~W31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601200" y="30632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C970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601200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9779508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098280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실서버 연동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9098280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W31~W32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1082528" y="30632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C970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1082528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11260836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10579608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통합 검증 · 문서화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0579608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W32  8/3~8/7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38912" y="4846320"/>
            <a:ext cx="11313871" cy="512064"/>
          </a:xfrm>
          <a:prstGeom prst="rect">
            <a:avLst/>
          </a:prstGeom>
          <a:solidFill>
            <a:srgbClr val="383D42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731520" y="49926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총 개발기간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5486400" y="4956048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2026.06.29  ~  2026.08.07   (6주 · ISO W27~W32)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수행 경과 요약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1463040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· 화면 · 프로세스 · 피드백 · 결과물 다섯 축으로 수행 경과를 정리했다.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03504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 기술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구현 방법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" y="2962656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기반 Kiosk /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화면과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 · MyBatis ·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MySQL 기반 API 구조를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75204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75204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939796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939796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기능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구현 화면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939796" y="2962656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·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 재료 · 수량 선택,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장바구니,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주문 · 메뉴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 화면을 구성했다.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111496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11496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276088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276088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수행 프로세스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276088" y="2962656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요구사항 분석부터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UI/DB 설계, 화면 · API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개발, 통합, QA,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 준비까지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단계별로 진행했다.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447788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47788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612380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612380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피드백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반영 내용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612380" y="2962656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검토에서 확인된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흐름 · 주문 검증 ·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구조 사항을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보완했다.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784080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84080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948672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948672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결과물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첨부 자료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9948672" y="2962656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Kiosk, Admin, ERD,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테스트,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WBS 자료를</a:t>
            </a:r>
            <a:endParaRPr lang="en-US" sz="11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결과물로 정리했다.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 기술 및 구현 방법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기술 및 구현 방법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645920"/>
            <a:ext cx="2011680" cy="347472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66928" y="173736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계층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50592" y="1645920"/>
            <a:ext cx="3291840" cy="347472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578608" y="1737360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 기술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42432" y="1645920"/>
            <a:ext cx="6010351" cy="347472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870448" y="1737360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구현 내용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" y="1993392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6928" y="2167128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Kiosk 프론트엔드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450592" y="1993392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578608" y="2167128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· React Router · Zustand · Axios · Vite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742432" y="1993392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870448" y="2167128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Home, 메뉴 목록 · 상세, 장바구니, 결제 관련 화면 및 주문 상태 관리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8912" y="2505456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Shape 25"/>
          <p:cNvSpPr/>
          <p:nvPr/>
        </p:nvSpPr>
        <p:spPr>
          <a:xfrm>
            <a:off x="438912" y="2505456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66928" y="2679192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Admin 프론트엔드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450592" y="2505456"/>
            <a:ext cx="3291840" cy="51206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2578608" y="2679192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· React Router · Zustand · Axios · Vite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742432" y="2505456"/>
            <a:ext cx="6010351" cy="51206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870448" y="2679192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주문, 주문 관리, 메뉴 관리, 품절 · 판매 관련 화면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38912" y="3017520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4" name="Shape 32"/>
          <p:cNvSpPr/>
          <p:nvPr/>
        </p:nvSpPr>
        <p:spPr>
          <a:xfrm>
            <a:off x="438912" y="3017520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66928" y="3191256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백엔드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450592" y="3017520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2578608" y="3191256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 · Java · MyBatis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742432" y="3017520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870448" y="3191256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키오스크 · 관리자 API, 메뉴 · 옵션 · 주문 검증 및 상태 처리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38912" y="3529584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1" name="Shape 39"/>
          <p:cNvSpPr/>
          <p:nvPr/>
        </p:nvSpPr>
        <p:spPr>
          <a:xfrm>
            <a:off x="438912" y="3529584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66928" y="370332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데이터베이스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2450592" y="3529584"/>
            <a:ext cx="3291840" cy="51206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2578608" y="3703320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MySQL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742432" y="3529584"/>
            <a:ext cx="6010351" cy="51206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5870448" y="3703320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24개 테이블 — 메뉴 · 재료 · 옵션 정책 · 주문 · 결제, 상태값은 공통코드로 관리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38912" y="4041648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8" name="Shape 46"/>
          <p:cNvSpPr/>
          <p:nvPr/>
        </p:nvSpPr>
        <p:spPr>
          <a:xfrm>
            <a:off x="438912" y="4041648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566928" y="4215384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협업 · 검증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2450592" y="4041648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2578608" y="4215384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 · Figma · Bruno · WBS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742432" y="4041648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5870448" y="4215384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형상 관리, 화면 설계, API 테스트, 작업 상태 관리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438912" y="4553712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5" name="Shape 53"/>
          <p:cNvSpPr/>
          <p:nvPr/>
        </p:nvSpPr>
        <p:spPr>
          <a:xfrm>
            <a:off x="438912" y="4846320"/>
            <a:ext cx="11313871" cy="1097280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40080" y="499262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구현 방법 요약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640080" y="5303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Kiosk와 Admin은 역할별로 독립된 React 애플리케이션으로 구성하고, Spring Boot API를 통해 메뉴 · 옵션 · 주문 데이터를 조회 · 검증한다.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Mapper는 메뉴 구성과 주문 저장에 필요한 테이블 관계를 연결한다.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전체 구조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구조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1737360"/>
            <a:ext cx="3840480" cy="1188720"/>
          </a:xfrm>
          <a:prstGeom prst="rect">
            <a:avLst/>
          </a:prstGeom>
          <a:solidFill>
            <a:srgbClr val="F5FBE0"/>
          </a:solidFill>
          <a:ln w="19050">
            <a:solidFill>
              <a:srgbClr val="B5E30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24128" y="1883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2433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Kiosk (React)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224942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 · Menu · Detail · Cart · Payment</a:t>
            </a:r>
            <a:endParaRPr lang="en-US" sz="9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Router · Zustand · Axios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534656" y="1737360"/>
            <a:ext cx="3840480" cy="1188720"/>
          </a:xfrm>
          <a:prstGeom prst="rect">
            <a:avLst/>
          </a:prstGeom>
          <a:solidFill>
            <a:srgbClr val="F5F5F5"/>
          </a:solidFill>
          <a:ln w="19050">
            <a:solidFill>
              <a:srgbClr val="383D4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35824" y="1883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Admin (React)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735824" y="224942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주문 · 주문 관리 · 메뉴 관리</a:t>
            </a:r>
            <a:endParaRPr lang="en-US" sz="9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· 결제수단 · 매출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0" y="2926080"/>
            <a:ext cx="0" cy="310896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0" y="3236976"/>
            <a:ext cx="26974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54896" y="2926080"/>
            <a:ext cx="0" cy="310896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3236976"/>
            <a:ext cx="268833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40680" y="3108960"/>
            <a:ext cx="13258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40680" y="31546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REST API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99048" y="3364992"/>
            <a:ext cx="0" cy="20116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3566160"/>
            <a:ext cx="5605272" cy="11887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493008" y="3712464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Spring Boot Backend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493008" y="4078224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Controller · Admin Controller · Service · Validation</a:t>
            </a:r>
            <a:endParaRPr lang="en-US" sz="9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Mapper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99048" y="4754880"/>
            <a:ext cx="0" cy="274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86784" y="5029200"/>
            <a:ext cx="4215384" cy="786384"/>
          </a:xfrm>
          <a:prstGeom prst="rect">
            <a:avLst/>
          </a:prstGeom>
          <a:solidFill>
            <a:srgbClr val="4A7A0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187952" y="51389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MySQL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187952" y="54681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24개 테이블 · menu · ing · opt_policy · orders · payment · common_code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2743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ERD — 메뉴 · 재료 · 옵션 구조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86384"/>
            <a:ext cx="109728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10991088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1146536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1301984" y="329184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8" name="Shape 6"/>
          <p:cNvSpPr/>
          <p:nvPr/>
        </p:nvSpPr>
        <p:spPr>
          <a:xfrm>
            <a:off x="11457432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966960" y="53035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수행 경과 · ERD 1/2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5488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097280"/>
            <a:ext cx="169164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097280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11480" y="11612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category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14173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163677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18562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sort_no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11480" y="20756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331720" y="1097280"/>
            <a:ext cx="205740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31720" y="109728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423160" y="11612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menu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141732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423160" y="163677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cat_id  FK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423160" y="185623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423160" y="20756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22951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2423160" y="251460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image_url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1097280"/>
            <a:ext cx="2148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1097280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800600" y="11612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menu_opt_policy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14173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163677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18562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policy_id  FK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20756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priority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800600" y="229514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required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78040" y="1097280"/>
            <a:ext cx="210312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78040" y="109728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269480" y="11612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opt_policy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269480" y="14173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269480" y="16367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opt_group_id  FK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269480" y="1856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policy_key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7269480" y="20756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269480" y="22951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min_select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7269480" y="2514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max_select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601200" y="109728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601200" y="109728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692640" y="11612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opt_group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692640" y="14173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9692640" y="16367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group_type_id  FK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9692640" y="18562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9692640" y="207568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min_select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9692640" y="22951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max_select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20040" y="3291840"/>
            <a:ext cx="16916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0040" y="3291840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411480" y="335584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ing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411480" y="361188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411480" y="383133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411480" y="40507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type_id  FK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411480" y="427024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kcal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411480" y="448970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protein_g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411480" y="47091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331720" y="3291840"/>
            <a:ext cx="20574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31720" y="329184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2423160" y="335584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menu_ing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2423160" y="36118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67" name="Text 65"/>
          <p:cNvSpPr txBox="1"/>
          <p:nvPr/>
        </p:nvSpPr>
        <p:spPr>
          <a:xfrm>
            <a:off x="2423160" y="383133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68" name="Text 66"/>
          <p:cNvSpPr txBox="1"/>
          <p:nvPr/>
        </p:nvSpPr>
        <p:spPr>
          <a:xfrm>
            <a:off x="2423160" y="405079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69" name="Text 67"/>
          <p:cNvSpPr txBox="1"/>
          <p:nvPr/>
        </p:nvSpPr>
        <p:spPr>
          <a:xfrm>
            <a:off x="2423160" y="427024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role_id  FK</a:t>
            </a:r>
            <a:endParaRPr lang="en-US" sz="950" dirty="0"/>
          </a:p>
        </p:txBody>
      </p:sp>
      <p:sp>
        <p:nvSpPr>
          <p:cNvPr id="70" name="Text 68"/>
          <p:cNvSpPr txBox="1"/>
          <p:nvPr/>
        </p:nvSpPr>
        <p:spPr>
          <a:xfrm>
            <a:off x="2423160" y="448970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is_default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2423160" y="470916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can_remove</a:t>
            </a:r>
            <a:endParaRPr lang="en-US" sz="950" dirty="0"/>
          </a:p>
        </p:txBody>
      </p:sp>
      <p:sp>
        <p:nvSpPr>
          <p:cNvPr id="72" name="Text 70"/>
          <p:cNvSpPr txBox="1"/>
          <p:nvPr/>
        </p:nvSpPr>
        <p:spPr>
          <a:xfrm>
            <a:off x="2423160" y="492861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7178040" y="3291840"/>
            <a:ext cx="210312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178040" y="329184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7269480" y="33558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opt_policy_item</a:t>
            </a:r>
            <a:endParaRPr lang="en-US" sz="1100" dirty="0"/>
          </a:p>
        </p:txBody>
      </p:sp>
      <p:sp>
        <p:nvSpPr>
          <p:cNvPr id="76" name="Text 74"/>
          <p:cNvSpPr txBox="1"/>
          <p:nvPr/>
        </p:nvSpPr>
        <p:spPr>
          <a:xfrm>
            <a:off x="7269480" y="36118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7" name="Text 75"/>
          <p:cNvSpPr txBox="1"/>
          <p:nvPr/>
        </p:nvSpPr>
        <p:spPr>
          <a:xfrm>
            <a:off x="7269480" y="383133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policy_id  FK</a:t>
            </a:r>
            <a:endParaRPr lang="en-US" sz="950" dirty="0"/>
          </a:p>
        </p:txBody>
      </p:sp>
      <p:sp>
        <p:nvSpPr>
          <p:cNvPr id="78" name="Text 76"/>
          <p:cNvSpPr txBox="1"/>
          <p:nvPr/>
        </p:nvSpPr>
        <p:spPr>
          <a:xfrm>
            <a:off x="7269480" y="405079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opt_item_id  FK</a:t>
            </a:r>
            <a:endParaRPr 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7269480" y="42702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is_default</a:t>
            </a:r>
            <a:endParaRPr 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7269480" y="448970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recommended</a:t>
            </a:r>
            <a:endParaRPr lang="en-US" sz="950" dirty="0"/>
          </a:p>
        </p:txBody>
      </p:sp>
      <p:sp>
        <p:nvSpPr>
          <p:cNvPr id="81" name="Text 79"/>
          <p:cNvSpPr txBox="1"/>
          <p:nvPr/>
        </p:nvSpPr>
        <p:spPr>
          <a:xfrm>
            <a:off x="7269480" y="47091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9601200" y="3291840"/>
            <a:ext cx="19202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601200" y="329184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9692640" y="3355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opt_item</a:t>
            </a:r>
            <a:endParaRPr lang="en-US" sz="1100" dirty="0"/>
          </a:p>
        </p:txBody>
      </p:sp>
      <p:sp>
        <p:nvSpPr>
          <p:cNvPr id="85" name="Text 83"/>
          <p:cNvSpPr txBox="1"/>
          <p:nvPr/>
        </p:nvSpPr>
        <p:spPr>
          <a:xfrm>
            <a:off x="9692640" y="36118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9692640" y="383133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opt_group_id  FK</a:t>
            </a:r>
            <a:endParaRPr lang="en-US" sz="950" dirty="0"/>
          </a:p>
        </p:txBody>
      </p:sp>
      <p:sp>
        <p:nvSpPr>
          <p:cNvPr id="87" name="Text 85"/>
          <p:cNvSpPr txBox="1"/>
          <p:nvPr/>
        </p:nvSpPr>
        <p:spPr>
          <a:xfrm>
            <a:off x="9692640" y="40507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88" name="Text 86"/>
          <p:cNvSpPr txBox="1"/>
          <p:nvPr/>
        </p:nvSpPr>
        <p:spPr>
          <a:xfrm>
            <a:off x="9692640" y="42702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89" name="Text 87"/>
          <p:cNvSpPr txBox="1"/>
          <p:nvPr/>
        </p:nvSpPr>
        <p:spPr>
          <a:xfrm>
            <a:off x="9692640" y="44897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add_price</a:t>
            </a:r>
            <a:endParaRPr lang="en-US" sz="950" dirty="0"/>
          </a:p>
        </p:txBody>
      </p:sp>
      <p:sp>
        <p:nvSpPr>
          <p:cNvPr id="90" name="Text 88"/>
          <p:cNvSpPr txBox="1"/>
          <p:nvPr/>
        </p:nvSpPr>
        <p:spPr>
          <a:xfrm>
            <a:off x="9692640" y="47091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201168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38912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85800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229600" y="2688336"/>
            <a:ext cx="0" cy="60350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281160" y="367588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561320" y="2468880"/>
            <a:ext cx="0" cy="82296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291840" y="2688336"/>
            <a:ext cx="0" cy="60350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011680" y="367588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97280" y="4882896"/>
            <a:ext cx="0" cy="47548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97280" y="5358384"/>
            <a:ext cx="9464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561320" y="4882896"/>
            <a:ext cx="0" cy="47548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274320" y="5687568"/>
            <a:ext cx="11643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메뉴는 카테고리 · 기본 재료(menu_ing) · 옵션 정책(menu_opt_policy)으로 구성하며, 옵션 선택 조건(min/max_select)과 제외 가능 재료(can_remove)를 주문 화면에 제공한다.</a:t>
            </a:r>
            <a:endParaRPr lang="en-US" sz="1150" dirty="0"/>
          </a:p>
        </p:txBody>
      </p:sp>
      <p:sp>
        <p:nvSpPr>
          <p:cNvPr id="103" name="Text 101"/>
          <p:cNvSpPr txBox="1"/>
          <p:nvPr/>
        </p:nvSpPr>
        <p:spPr>
          <a:xfrm>
            <a:off x="274320" y="5980176"/>
            <a:ext cx="116430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부가 테이블 — tag · menu_tag · allergen · ing_allergen · menu_nutr · opt_item_comp · menu_opt_override (전체 24개 테이블 중 핵심 9개만 표시)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2743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ERD — 주문 · 결제 · 공통코드 구조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86384"/>
            <a:ext cx="109728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10991088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1146536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1301984" y="329184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8" name="Shape 6"/>
          <p:cNvSpPr/>
          <p:nvPr/>
        </p:nvSpPr>
        <p:spPr>
          <a:xfrm>
            <a:off x="11457432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966960" y="53035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수행 경과 · ERD 2/2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5488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097280"/>
            <a:ext cx="16916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097280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11480" y="11612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code_group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14173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163677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group_code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18562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331720" y="1097280"/>
            <a:ext cx="205740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31720" y="109728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423160" y="11612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common_code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423160" y="141732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163677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code_grp_id  FK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423160" y="185623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423160" y="20756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423160" y="22951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sort_no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251460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1097280"/>
            <a:ext cx="21488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1097280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800600" y="11612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orders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800600" y="14173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163677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order_no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18562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order_type_id  FK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20756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status_id  FK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229514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total_price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800600" y="25146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created_at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78040" y="1097280"/>
            <a:ext cx="2103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78040" y="109728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269480" y="11612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order_item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269480" y="14173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269480" y="16367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order_id  FK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269480" y="1856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7269480" y="20756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269480" y="22951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601200" y="1097280"/>
            <a:ext cx="1920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601200" y="109728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692640" y="11612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menu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9692640" y="14173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9692640" y="16367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9692640" y="18562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331720" y="3017520"/>
            <a:ext cx="205740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31720" y="301752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2423160" y="308152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pay_method_cfg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2423160" y="333756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2423160" y="355701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method_id  FK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2423160" y="377647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2423160" y="39959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709160" y="3017520"/>
            <a:ext cx="21488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09160" y="3017520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4800600" y="308152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payment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4800600" y="33375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4800600" y="355701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order_id  FK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4800600" y="377647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method_id  FK</a:t>
            </a:r>
            <a:endParaRPr lang="en-US" sz="950" dirty="0"/>
          </a:p>
        </p:txBody>
      </p:sp>
      <p:sp>
        <p:nvSpPr>
          <p:cNvPr id="64" name="Text 62"/>
          <p:cNvSpPr txBox="1"/>
          <p:nvPr/>
        </p:nvSpPr>
        <p:spPr>
          <a:xfrm>
            <a:off x="4800600" y="399592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status_id  FK</a:t>
            </a:r>
            <a:endParaRPr lang="en-US" sz="950" dirty="0"/>
          </a:p>
        </p:txBody>
      </p:sp>
      <p:sp>
        <p:nvSpPr>
          <p:cNvPr id="65" name="Text 63"/>
          <p:cNvSpPr txBox="1"/>
          <p:nvPr/>
        </p:nvSpPr>
        <p:spPr>
          <a:xfrm>
            <a:off x="4800600" y="421538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amount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4800600" y="443484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paid_at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178040" y="3017520"/>
            <a:ext cx="2103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178040" y="301752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7269480" y="30815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order_item_option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7269480" y="33375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7269480" y="35570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order_item_id  FK</a:t>
            </a:r>
            <a:endParaRPr lang="en-US" sz="950" dirty="0"/>
          </a:p>
        </p:txBody>
      </p:sp>
      <p:sp>
        <p:nvSpPr>
          <p:cNvPr id="72" name="Text 70"/>
          <p:cNvSpPr txBox="1"/>
          <p:nvPr/>
        </p:nvSpPr>
        <p:spPr>
          <a:xfrm>
            <a:off x="7269480" y="37764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opt_item_id  FK</a:t>
            </a:r>
            <a:endParaRPr lang="en-US" sz="950" dirty="0"/>
          </a:p>
        </p:txBody>
      </p:sp>
      <p:sp>
        <p:nvSpPr>
          <p:cNvPr id="73" name="Text 71"/>
          <p:cNvSpPr txBox="1"/>
          <p:nvPr/>
        </p:nvSpPr>
        <p:spPr>
          <a:xfrm>
            <a:off x="7269480" y="39959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74" name="Text 72"/>
          <p:cNvSpPr txBox="1"/>
          <p:nvPr/>
        </p:nvSpPr>
        <p:spPr>
          <a:xfrm>
            <a:off x="7269480" y="42153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9601200" y="3017520"/>
            <a:ext cx="1920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601200" y="301752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9692640" y="30815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opt_item</a:t>
            </a:r>
            <a:endParaRPr lang="en-US" sz="1100" dirty="0"/>
          </a:p>
        </p:txBody>
      </p:sp>
      <p:sp>
        <p:nvSpPr>
          <p:cNvPr id="78" name="Text 76"/>
          <p:cNvSpPr txBox="1"/>
          <p:nvPr/>
        </p:nvSpPr>
        <p:spPr>
          <a:xfrm>
            <a:off x="9692640" y="33375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9692640" y="35570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9692640" y="37764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add_price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7178040" y="4754880"/>
            <a:ext cx="21031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178040" y="475488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7269480" y="48188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item_exclusion</a:t>
            </a:r>
            <a:endParaRPr lang="en-US" sz="1100" dirty="0"/>
          </a:p>
        </p:txBody>
      </p:sp>
      <p:sp>
        <p:nvSpPr>
          <p:cNvPr id="84" name="Text 82"/>
          <p:cNvSpPr txBox="1"/>
          <p:nvPr/>
        </p:nvSpPr>
        <p:spPr>
          <a:xfrm>
            <a:off x="7269480" y="50749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85" name="Text 83"/>
          <p:cNvSpPr txBox="1"/>
          <p:nvPr/>
        </p:nvSpPr>
        <p:spPr>
          <a:xfrm>
            <a:off x="7269480" y="52943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order_item_id  FK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7269480" y="55138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9601200" y="4754880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601200" y="475488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9692640" y="48188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ing</a:t>
            </a:r>
            <a:endParaRPr lang="en-US" sz="1100" dirty="0"/>
          </a:p>
        </p:txBody>
      </p:sp>
      <p:sp>
        <p:nvSpPr>
          <p:cNvPr id="90" name="Text 88"/>
          <p:cNvSpPr txBox="1"/>
          <p:nvPr/>
        </p:nvSpPr>
        <p:spPr>
          <a:xfrm>
            <a:off x="9692640" y="50749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91" name="Text 89"/>
          <p:cNvSpPr txBox="1"/>
          <p:nvPr/>
        </p:nvSpPr>
        <p:spPr>
          <a:xfrm>
            <a:off x="9692640" y="52943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201168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38912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85800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28116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291840" y="2688336"/>
            <a:ext cx="0" cy="32918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486400" y="2688336"/>
            <a:ext cx="0" cy="32918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229600" y="2468880"/>
            <a:ext cx="0" cy="54864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281160" y="340156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281160" y="51389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967728" y="2103120"/>
            <a:ext cx="21031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967728" y="2103120"/>
            <a:ext cx="0" cy="303580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967728" y="5138928"/>
            <a:ext cx="21031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274320" y="5852160"/>
            <a:ext cx="11643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주문은 메뉴 단위의 주문 항목으로 저장하고, 선택 옵션(order_item_option)과 제외 재료(item_exclusion)를 주문 항목에 연결해 주문 내용을 보존한다.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화면설계서 — 키오스크 주문 흐름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화면설계서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" y="164592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카테고리 선택에서 장바구니까지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8912" y="2029968"/>
            <a:ext cx="82296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8912" y="2267712"/>
            <a:ext cx="3639312" cy="727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고객은 카테고리별 메뉴를 조회하고,</a:t>
            </a:r>
            <a:endParaRPr lang="en-US" sz="12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화면에서 옵션 · 제외 재료 ·</a:t>
            </a:r>
            <a:endParaRPr lang="en-US" sz="12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수량을 선택합니다.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38912" y="3232595"/>
            <a:ext cx="3639312" cy="49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 결과는 장바구니에 반영되어</a:t>
            </a:r>
            <a:endParaRPr lang="en-US" sz="12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금액을 확인할 수 있습니다.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38912" y="4023360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8912" y="40690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목록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" y="4389120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8912" y="44348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상세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8912" y="4754880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38912" y="48006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장바구니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79392" y="1517904"/>
            <a:ext cx="7479792" cy="44805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Shape 23"/>
          <p:cNvSpPr/>
          <p:nvPr/>
        </p:nvSpPr>
        <p:spPr>
          <a:xfrm>
            <a:off x="4709160" y="1956816"/>
            <a:ext cx="2011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09160" y="34747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709160" y="37307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1080 × 1920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720840" y="3721608"/>
            <a:ext cx="292608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9" name="Shape 27"/>
          <p:cNvSpPr/>
          <p:nvPr/>
        </p:nvSpPr>
        <p:spPr>
          <a:xfrm>
            <a:off x="7013448" y="1956816"/>
            <a:ext cx="2011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013448" y="34747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 · 옵션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7013448" y="37307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1080 × 1920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025128" y="3721608"/>
            <a:ext cx="292608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3" name="Shape 31"/>
          <p:cNvSpPr/>
          <p:nvPr/>
        </p:nvSpPr>
        <p:spPr>
          <a:xfrm>
            <a:off x="9317736" y="1956816"/>
            <a:ext cx="2011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317736" y="34747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9317736" y="37307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1080 × 1920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27939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화면 흐름 — 카테고리 선택 → 메뉴 선택 → 옵션 · 제외 재료 · 수량 → 장바구니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상태(기본 · 품절 · 선택 불가)는 Screen Bible 기준으로 정의했습니다.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목록 및 카테고리 선택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" y="1645920"/>
            <a:ext cx="5559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목록 및 카테고리 선택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8912" y="2029968"/>
            <a:ext cx="82296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8912" y="2267712"/>
            <a:ext cx="555955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카테고리별로 메뉴를 조회하고, 각 메뉴의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 · 가격 · 이미지 · 품절 여부를 확인합니다.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" y="3020822"/>
            <a:ext cx="555955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고객은 원하는 메뉴를 선택해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화면으로 이동합니다.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8912" y="4114800"/>
            <a:ext cx="555955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261104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목록은 샐러드 주문 흐름의 시작점이며,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메뉴는 선택하지 못하도록 안내합니다.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9632" y="1517904"/>
            <a:ext cx="5559552" cy="40233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1" name="Shape 19"/>
          <p:cNvSpPr/>
          <p:nvPr/>
        </p:nvSpPr>
        <p:spPr>
          <a:xfrm>
            <a:off x="6812280" y="1737360"/>
            <a:ext cx="2011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1080 × 1920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134856" y="1737360"/>
            <a:ext cx="2011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 전환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1080 × 1920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199632" y="5596128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카테고리 선택 · 품절 표시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조회 API(GET /api/kiosk/categories · menuList)는 구현되어 있고, 실 DB 응답 검증이 남아 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상세 및 옵션 선택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" y="1645920"/>
            <a:ext cx="5559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상세 및 옵션 선택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8912" y="2029968"/>
            <a:ext cx="82296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8912" y="2267712"/>
            <a:ext cx="555955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기본 정보와 가격을 확인한 뒤 옵션 정책에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 필수 · 선택 항목을 고릅니다.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" y="3020822"/>
            <a:ext cx="555955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재료 중 제외 가능한 재료를 선택하고,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수량을 변경할 수 있습니다.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8912" y="4114800"/>
            <a:ext cx="555955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261104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선택 조건 · 품절 여부 · 수량 제한은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생성 전 서버에서 다시 검증합니다.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9632" y="1517904"/>
            <a:ext cx="5559552" cy="40233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1" name="Shape 19"/>
          <p:cNvSpPr/>
          <p:nvPr/>
        </p:nvSpPr>
        <p:spPr>
          <a:xfrm>
            <a:off x="6812280" y="1737360"/>
            <a:ext cx="2011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1080 × 1920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134856" y="1737360"/>
            <a:ext cx="2011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선택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1080 × 1920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199632" y="5596128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 · 옵션 선택 · 제외 재료 · 수량 변경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검증 API(POST /api/kiosk/cart/validate)가 서버에서 총액을 재계산합니다.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장바구니 및 결제 이동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14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" y="1645920"/>
            <a:ext cx="5559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장바구니 및 결제 이동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8912" y="2029968"/>
            <a:ext cx="82296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8912" y="2267712"/>
            <a:ext cx="555955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장바구니에서 선택한 메뉴, 옵션, 제외 재료,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수량, 주문 금액을 확인합니다.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" y="3020822"/>
            <a:ext cx="555955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고객은 주문 내용을 검토한 뒤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화면으로 이동합니다.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8912" y="4114800"/>
            <a:ext cx="555955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261104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완료 처리 범위는 팀 확인 후 확정합니다.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현재는 결제 화면 이동까지 표현합니다.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9632" y="1517904"/>
            <a:ext cx="5559552" cy="40233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1" name="Shape 19"/>
          <p:cNvSpPr/>
          <p:nvPr/>
        </p:nvSpPr>
        <p:spPr>
          <a:xfrm>
            <a:off x="6812280" y="1737360"/>
            <a:ext cx="2011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1080 × 1920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134856" y="1737360"/>
            <a:ext cx="2011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화면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1080 × 1920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199632" y="5596128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· 주문 금액 확인 · 결제 화면 이동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생성 API와 결제 승인 연동은 현재 구현 중이며, 완료 처리 결과는 아직 시연 범위가 아닙니다.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관리자 주문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15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" y="164592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관리자 주문 관리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8912" y="2029968"/>
            <a:ext cx="82296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8912" y="2267712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관리자는 Live 주문과 주문 목록에서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번호, 주문 메뉴, 주문 상태를 확인합니다.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" y="3020822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상세에서는 선택 옵션과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 재료 정보를 확인합니다.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8912" y="4242816"/>
            <a:ext cx="363931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389120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상태는 접수 · 준비 · 완료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흐름에 맞춰 관리합니다.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7939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1" name="Shape 19"/>
          <p:cNvSpPr/>
          <p:nvPr/>
        </p:nvSpPr>
        <p:spPr>
          <a:xfrm>
            <a:off x="4636008" y="1627632"/>
            <a:ext cx="6766560" cy="3803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3600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화면 캡처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63600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1920 × 1080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27939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주문 · 주문 관리 · 주문 상세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조회 · Live · 상태 변경 API 경로는 구현되어 있으며, 통합 테스트가 진행 중입니다.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관리자 메뉴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16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101584" y="164592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관리자 메뉴 관리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01584" y="2029968"/>
            <a:ext cx="82296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01584" y="2267712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관리자는 메뉴 목록 · 상세 · 카테고리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정보를 조회합니다.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101584" y="3020822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메뉴의 기본 정보와 옵션 정책은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주문 화면에 제공되는 데이터의 기준이 됩니다.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01584" y="4242816"/>
            <a:ext cx="363931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02752" y="4389120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 · 수정 · 삭제 가능 범위는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확인 후 제목과 본문을 조정합니다.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" y="1627632"/>
            <a:ext cx="6766560" cy="3803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552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화면 캡처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1920 × 1080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3891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메뉴 상세 · 품절 관리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조회는 API 연동, 등록 · 수정 · 삭제는 mock 제거 작업이 진행 중입니다.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수행 프로세스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95431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78311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8311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요구사항 분석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78311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32791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8" name="Shape 16"/>
          <p:cNvSpPr/>
          <p:nvPr/>
        </p:nvSpPr>
        <p:spPr>
          <a:xfrm>
            <a:off x="3133959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16839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3316839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UI/DB 설계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316839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ERD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71319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3" name="Shape 21"/>
          <p:cNvSpPr/>
          <p:nvPr/>
        </p:nvSpPr>
        <p:spPr>
          <a:xfrm>
            <a:off x="5072487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255367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5255367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키오스크 개발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255367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화면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09847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8" name="Shape 26"/>
          <p:cNvSpPr/>
          <p:nvPr/>
        </p:nvSpPr>
        <p:spPr>
          <a:xfrm>
            <a:off x="7011015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93895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7193895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관리자 개발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193895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화면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748375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3" name="Shape 31"/>
          <p:cNvSpPr/>
          <p:nvPr/>
        </p:nvSpPr>
        <p:spPr>
          <a:xfrm>
            <a:off x="8949543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132423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9132423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백엔드 개발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132423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API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164695" y="3264576"/>
            <a:ext cx="1737360" cy="1188720"/>
          </a:xfrm>
          <a:prstGeom prst="rect">
            <a:avLst/>
          </a:prstGeom>
          <a:solidFill>
            <a:srgbClr val="F5FBE0"/>
          </a:solidFill>
          <a:ln w="19050">
            <a:solidFill>
              <a:srgbClr val="B5E30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347575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2347575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1차 통합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2347575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· 메뉴 API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902055" y="383150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2" name="Shape 40"/>
          <p:cNvSpPr/>
          <p:nvPr/>
        </p:nvSpPr>
        <p:spPr>
          <a:xfrm>
            <a:off x="4103223" y="326457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286103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2000" dirty="0"/>
          </a:p>
        </p:txBody>
      </p:sp>
      <p:sp>
        <p:nvSpPr>
          <p:cNvPr id="44" name="Text 42"/>
          <p:cNvSpPr txBox="1"/>
          <p:nvPr/>
        </p:nvSpPr>
        <p:spPr>
          <a:xfrm>
            <a:off x="4286103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DB 연동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4286103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· MySQL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840583" y="383150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7" name="Shape 45"/>
          <p:cNvSpPr/>
          <p:nvPr/>
        </p:nvSpPr>
        <p:spPr>
          <a:xfrm>
            <a:off x="6041751" y="326457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224631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2000" dirty="0"/>
          </a:p>
        </p:txBody>
      </p:sp>
      <p:sp>
        <p:nvSpPr>
          <p:cNvPr id="49" name="Text 47"/>
          <p:cNvSpPr txBox="1"/>
          <p:nvPr/>
        </p:nvSpPr>
        <p:spPr>
          <a:xfrm>
            <a:off x="6224631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테스트 QA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6224631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Bruno · 브라우저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779111" y="383150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2" name="Shape 50"/>
          <p:cNvSpPr/>
          <p:nvPr/>
        </p:nvSpPr>
        <p:spPr>
          <a:xfrm>
            <a:off x="7980279" y="326457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163159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2000" dirty="0"/>
          </a:p>
        </p:txBody>
      </p:sp>
      <p:sp>
        <p:nvSpPr>
          <p:cNvPr id="54" name="Text 52"/>
          <p:cNvSpPr txBox="1"/>
          <p:nvPr/>
        </p:nvSpPr>
        <p:spPr>
          <a:xfrm>
            <a:off x="8163159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발표 시연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8163159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정리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38912" y="5120640"/>
            <a:ext cx="11313871" cy="566928"/>
          </a:xfrm>
          <a:prstGeom prst="rect">
            <a:avLst/>
          </a:prstGeom>
          <a:solidFill>
            <a:srgbClr val="383D42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438912" y="5285232"/>
            <a:ext cx="113138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요구사항 분석  →  UI/DB 설계  →  키오스크 · 관리자 · 백엔드 개발  →  1차 통합  →  DB 연동  →  테스트 QA  →  발표 시연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피드백 및 반영 내용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1554480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8912" y="19385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07.14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10512" y="1554480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975104" y="16642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994D4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BEFORE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975104" y="1920240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path 형식과 camelCase / snake_case가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통일되어 있지 않다. 전역 상태도 과다하다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02552" y="2011680"/>
            <a:ext cx="274320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9" name="Shape 17"/>
          <p:cNvSpPr/>
          <p:nvPr/>
        </p:nvSpPr>
        <p:spPr>
          <a:xfrm>
            <a:off x="7114032" y="1554480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78624" y="16642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AFTER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278624" y="1920240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경로 · 네이밍 규칙을 명세로 통일하고,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전역 상태를 주문 세션 하나로 축소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" y="2670048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38912" y="305409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07.23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810512" y="2670048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975104" y="277977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994D4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BEFORE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975104" y="3035808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DTO와 Mapper 구조를 정리하고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수직 슬라이스 한 경로로 완성하라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02552" y="3127248"/>
            <a:ext cx="274320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8" name="Shape 26"/>
          <p:cNvSpPr/>
          <p:nvPr/>
        </p:nvSpPr>
        <p:spPr>
          <a:xfrm>
            <a:off x="7114032" y="2670048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78624" y="277977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AFTER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278624" y="3035808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dto/request · dto/response 분리,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인터페이스 Mapper로 전환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38912" y="3785616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38912" y="41696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07.24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810512" y="3785616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975104" y="389534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994D4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BEFORE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975104" y="4151376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문서의 테이블 정의와 실제 MySQL 스키마가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일치하는지 비교가 필요하다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702552" y="4242816"/>
            <a:ext cx="274320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7" name="Shape 35"/>
          <p:cNvSpPr/>
          <p:nvPr/>
        </p:nvSpPr>
        <p:spPr>
          <a:xfrm>
            <a:off x="7114032" y="3785616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278624" y="389534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AFTER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278624" y="4151376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· API 명세를 실제 스키마와 대조해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24개 테이블 · FK 39건 기준으로 정리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8912" y="4901184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38912" y="52852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08.04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810512" y="4901184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975104" y="5010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994D4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BEFORE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975104" y="5266944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장바구니에서 주문 생성 API까지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실연결하고 DB로 검증하라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702552" y="5358384"/>
            <a:ext cx="274320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6" name="Shape 44"/>
          <p:cNvSpPr/>
          <p:nvPr/>
        </p:nvSpPr>
        <p:spPr>
          <a:xfrm>
            <a:off x="7114032" y="4901184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278624" y="5010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AFTER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7278624" y="5266944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검증 API 서버 재계산 구현,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생성 · 결제 승인 연동은 진행 중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438912" y="5998464"/>
            <a:ext cx="113138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— 회의록 2026-W29 · W30 · W32 「강사 피드백」 항목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결과물 첨부 자료 — 화면 결과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19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5" name="Shape 13"/>
          <p:cNvSpPr/>
          <p:nvPr/>
        </p:nvSpPr>
        <p:spPr>
          <a:xfrm>
            <a:off x="978408" y="1554480"/>
            <a:ext cx="15910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8408" y="26974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78408" y="295351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: 16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38912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및 카테고리 선택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00984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0" name="Shape 18"/>
          <p:cNvSpPr/>
          <p:nvPr/>
        </p:nvSpPr>
        <p:spPr>
          <a:xfrm>
            <a:off x="3840480" y="1554480"/>
            <a:ext cx="15910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40480" y="26974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295351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: 16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300984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· 제외 재료 · 수량 선택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63056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Shape 23"/>
          <p:cNvSpPr/>
          <p:nvPr/>
        </p:nvSpPr>
        <p:spPr>
          <a:xfrm>
            <a:off x="6163056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63056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163056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163056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주문 관리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25128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0" name="Shape 28"/>
          <p:cNvSpPr/>
          <p:nvPr/>
        </p:nvSpPr>
        <p:spPr>
          <a:xfrm>
            <a:off x="9025128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025128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025128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025128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메뉴 관리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8912" y="4754880"/>
            <a:ext cx="5559552" cy="1426464"/>
          </a:xfrm>
          <a:prstGeom prst="rect">
            <a:avLst/>
          </a:prstGeom>
          <a:solidFill>
            <a:srgbClr val="383D4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008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대표 시연 흐름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212080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선택 → 옵션 · 제외 재료 · 수량 선택 →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확인 → 주문 생성 → 관리자 주문 확인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797296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[시연 영상 제출 시 파일명 또는 링크 입력]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99632" y="4754880"/>
            <a:ext cx="555955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0080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기타 참고 자료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5212080"/>
            <a:ext cx="5157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 · Screen Bible · API 명세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· WBS · Bruno API 테스트 자료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화면 흐름 · GitHub 저장소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결과물 첨부 자료 — 설계 · 검증 산출물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5" name="Shape 13"/>
          <p:cNvSpPr/>
          <p:nvPr/>
        </p:nvSpPr>
        <p:spPr>
          <a:xfrm>
            <a:off x="978408" y="1554480"/>
            <a:ext cx="15910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8408" y="26974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78408" y="295351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: 16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38912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키오스크 화면 설계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00984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0" name="Shape 18"/>
          <p:cNvSpPr/>
          <p:nvPr/>
        </p:nvSpPr>
        <p:spPr>
          <a:xfrm>
            <a:off x="3300984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00984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300984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300984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데이터 모델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63056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Shape 23"/>
          <p:cNvSpPr/>
          <p:nvPr/>
        </p:nvSpPr>
        <p:spPr>
          <a:xfrm>
            <a:off x="6163056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63056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163056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163056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· 결제 데이터 모델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25128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0" name="Shape 28"/>
          <p:cNvSpPr/>
          <p:nvPr/>
        </p:nvSpPr>
        <p:spPr>
          <a:xfrm>
            <a:off x="9025128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025128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025128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025128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Bruno API · DB 확인 자료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8912" y="4754880"/>
            <a:ext cx="5559552" cy="1426464"/>
          </a:xfrm>
          <a:prstGeom prst="rect">
            <a:avLst/>
          </a:prstGeom>
          <a:solidFill>
            <a:srgbClr val="383D4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008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검증 범위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212080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설계, 데이터 모델, API 테스트 자료를 함께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관리해 구현 화면과 데이터 흐름을 추적했습니다.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797296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[검증 결과 요약 입력]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99632" y="4754880"/>
            <a:ext cx="555955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0080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산출물 목록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5212080"/>
            <a:ext cx="5157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화면 흐름 · Screen Bible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ERD · 주문 · 결제 ERD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Bruno 컬렉션 · MySQL 조회 결과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자체 평가 의견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자체 평가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1554480"/>
            <a:ext cx="3639312" cy="4480560"/>
          </a:xfrm>
          <a:prstGeom prst="rect">
            <a:avLst/>
          </a:prstGeom>
          <a:solidFill>
            <a:srgbClr val="383D4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1737360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현재 단계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048256"/>
            <a:ext cx="3236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실서버 연동</a:t>
            </a:r>
            <a:endParaRPr lang="en-US" sz="2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중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40080" y="3145536"/>
            <a:ext cx="3236976" cy="1828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4015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85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3566160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WBS 항목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2428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1737360" y="4407408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테이블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0840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1737360" y="5248656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저장소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669280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— wbs.md · 아삭_mysql.sql · 저장소 baseline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79392" y="1554480"/>
            <a:ext cx="7479792" cy="1389888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80560" y="1719072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잘한 점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480560" y="2084832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2인 팀이 문서 · Kiosk · Admin · Backend를 저장소로 분리하고, 옵션 정책과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 재료까지 반영한 24개 테이블 데이터 모델을 설계했습니다.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279392" y="3090672"/>
            <a:ext cx="747979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79392" y="3090672"/>
            <a:ext cx="45720" cy="138988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480560" y="3255264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보완할 점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480560" y="3621024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키오스크 주문 생성과 결제 승인 API가 미완성이고, 관리자 화면 다수가 아직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mock 연결 단계입니다. QA 테스트 케이스도 실행 증거가 없어 검증이 남아 있습니다.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279392" y="4626864"/>
            <a:ext cx="747979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79392" y="4626864"/>
            <a:ext cx="45720" cy="1389888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480560" y="4791456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프로젝트를 통해 배운 점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480560" y="5157216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· API · DB를 따로 확인하는 것만으로는 부족했습니다. 강사 피드백대로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Controller → Service → Mapper → DB를 한 경로로 완성하는 순서가 중요했습니다.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4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100584" cy="1444752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" name="Shape 1"/>
          <p:cNvSpPr/>
          <p:nvPr/>
        </p:nvSpPr>
        <p:spPr>
          <a:xfrm>
            <a:off x="1920240" y="4663440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822960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0" y="4480560"/>
            <a:ext cx="100584" cy="1444752"/>
          </a:xfrm>
          <a:prstGeom prst="rect">
            <a:avLst/>
          </a:prstGeom>
          <a:solidFill>
            <a:srgbClr val="B5E30F">
              <a:alpha val="30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0" y="2286000"/>
            <a:ext cx="121916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샐러드 스마트 키오스크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0" y="3108960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선택 → 옵션 · 제외 재료 · 수량 선택 → 장바구니 → 주문 관리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67528" y="3712464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3127</Words>
  <Application>Microsoft Office PowerPoint</Application>
  <PresentationFormat>와이드스크린</PresentationFormat>
  <Paragraphs>642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8" baseType="lpstr">
      <vt:lpstr>Pretendard</vt:lpstr>
      <vt:lpstr>Pretendard SemiBold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ASAK : 샐러드 스마트 키오스크</dc:title>
  <dc:subject>PptxGenJS Presentation</dc:subject>
  <dc:creator>TEAM ASAK</dc:creator>
  <cp:lastModifiedBy>Administrator</cp:lastModifiedBy>
  <cp:revision>3</cp:revision>
  <dcterms:created xsi:type="dcterms:W3CDTF">2026-08-07T09:36:12Z</dcterms:created>
  <dcterms:modified xsi:type="dcterms:W3CDTF">2026-08-07T10:46:09Z</dcterms:modified>
</cp:coreProperties>
</file>
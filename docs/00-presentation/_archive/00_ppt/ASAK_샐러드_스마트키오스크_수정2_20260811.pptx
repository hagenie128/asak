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E30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-54" y="-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5720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표지. ASAK = A Salad A Kiosk. 팀 다비치 · 이하진·김나연 · 멘토 남상규. AI 추천·무인결제 완성 표현 금지.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목차. Why → Who → How → Build → Review 다섯 단계로 발표한다.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개요. 셀프오더 트렌드 중 ‘정확한 커스터마이징’에 집중. AI 추천·성과 수치 금지.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팀. 역할은 화면·API 단위. 통합·발표는 공동.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절차. 문서 선행 후 화면·서버 연결. 실서버 연동·통합 검증은 진행 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수행 경과 요약. 이후 7~20쪽에서 각 항목을 상세히 다룬다.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활용 기술. 표에 적은 기술은 실제 저장소에서 사용 중인 것만 기재한다.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구조. RTOS·임베디드·카드리더기·프린터는 구현 범위가 아니므로 넣지 않았다.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ERD 1/2. 아삭_mysql.sql 정본 기준. 전체 24개 테이블 중 메뉴·옵션 핵심 9개만 표시했고 부가 테이블은 하단에 이름으로 남겼다.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ERD 2/2. 주문 상태·주문 유형·결제 수단·결제 상태는 모두 common_code를 참조하는 공통코드 구조다. code_group → common_code → orders/payment/pay_method_cfg 경로를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화면설계. 단계 분리 + 선택 유지가 UX 핵심.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메뉴 목록 화면. Kiosk 캡처 2장(기본 목록 / 카테고리 전환 또는 품절 상태)을 넣는다.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핵심 차별점. 커스터마이징 UX = 실수 없이 조합 완성. 서버 재검증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시연 범위 B: 결제 화면 이동까지. 승인 완료는 말하지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운영 연동. 키오스크 주문이 Admin까지 와야 루프가 닫힌다.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관리자 메뉴 관리. 조회만 구현했다면 제목을 "메뉴 정보 조회"로 바꾼다.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수행 프로세스. 06 1차 통합을 현재 단계로 강조했다. 실제 진행 단계에 맞춰 강조 위치를 옮긴다.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피드백. 4건 모두 회의록에 날짜와 함께 기록된 실제 강사 피드백이다. 8/4 항목의 주문 생성·결제 연동은 아직 진행 중임을 밝힌다.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결과물 1/2. 캡처 칸 크기는 동일하게 두고 이미지 비율은 유지한다. 늘려 맞추지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결과물 2/2. 설계·검증 산출물. 실제 확보한 자료만 남기고 나머지 칸은 삭제한다.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자체 평가. mock 1차 연결 ≠ DONE. 통합 검증 진행 중을 정직하게.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마무리. ASAK는 옵션이 많은 샐러드 주문을 실수 없이 끝내고 운영 화면까지 연결한다. 질문 받겠습니다.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1880" y="2121408"/>
            <a:ext cx="4974336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611880" y="2121408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586216" y="2121408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611880" y="4315968"/>
            <a:ext cx="4974336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611880" y="4096512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586216" y="4096512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531352" y="411480"/>
            <a:ext cx="100584" cy="1444752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9253728" y="0"/>
            <a:ext cx="100584" cy="1408176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456432" y="4636008"/>
            <a:ext cx="100584" cy="1444752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898648" y="4910328"/>
            <a:ext cx="100584" cy="1444752"/>
          </a:xfrm>
          <a:prstGeom prst="rect">
            <a:avLst/>
          </a:prstGeom>
          <a:solidFill>
            <a:srgbClr val="B5E30F">
              <a:alpha val="30000"/>
            </a:srgbClr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0" y="1700784"/>
            <a:ext cx="12191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그린컴퓨터아카데미 신촌 · 키오스크 풀스택 개발자 양성과정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0" y="2633472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: 샐러드 스마트 키오스크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0" y="3529584"/>
            <a:ext cx="121916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 Salad A Kiosk — 옵션이 많은 샐러드 주문을, 키오스크와 운영 화면으로 연결한다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813048" y="4846320"/>
            <a:ext cx="4572000" cy="694944"/>
          </a:xfrm>
          <a:prstGeom prst="rect">
            <a:avLst/>
          </a:prstGeom>
          <a:solidFill>
            <a:srgbClr val="383D4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813048" y="49560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TEAM 다비치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813048" y="52120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이하진 · 김나연   |   멘토 남상규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0" y="6291072"/>
            <a:ext cx="12191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결과보고서_다비치(ASAK 샐러드 스마트 키오스크)  ·  2026.06.29 ~ 2026.08.07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38912" y="140817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38912" y="1993392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438912" y="215798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215798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개요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98080" y="2212848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— 왜 샐러드 키오스크인가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98448" y="2633472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38912" y="2779776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438912" y="294436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294436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팀 구성 및 역할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2999232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Who — 화면 · API 단위 역할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298448" y="3419856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38912" y="3566160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438912" y="37307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298448" y="3730752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수행 절차 및 방법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0" y="3785616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— 문서 → 코드 → 검증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298448" y="4206240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38912" y="4352544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438912" y="451713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298448" y="451713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수행 경과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4572000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Build — 구조 · 화면 · 결과물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298448" y="4992624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438912" y="5138928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438912" y="530352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298448" y="530352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자체 평가 의견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0" y="5358384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 — 정직한 현재 단계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298448" y="5779008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개요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프로젝트 개요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" y="1463040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옵션이 많은 샐러드 주문을 실수 없이 끝낸다.  ·  2인 팀 · 6주 · 저장소 4개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38912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603504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주제 ·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sz="1500">
                <a:solidFill>
                  <a:srgbClr val="111827"/>
                </a:solidFill>
                <a:latin typeface="Pretendard SemiBold"/>
              </a:rPr>
              <a:t>기획 의도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775204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2775204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2939796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939796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 err="1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특화 ·</a:t>
            </a: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/>
            </a:r>
            <a:r>
              <a:rPr lang="en-US" sz="1500" dirty="0" err="1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/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sz="1500">
                <a:solidFill>
                  <a:srgbClr val="111827"/>
                </a:solidFill>
                <a:latin typeface="Pretendard SemiBold"/>
              </a:rPr>
              <a:t>차별화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2941746" y="3090672"/>
            <a:ext cx="18196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정책·제외 재료·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품절·수량 제한을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주문 흐름과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서버 검증에 반영한다.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/>
            </a:r>
          </a:p>
          <a:p>
            <a:pPr algn="l"/>
            <a:r>
              <a:rPr sz="1150">
                <a:solidFill>
                  <a:srgbClr val="111827"/>
                </a:solidFill>
                <a:latin typeface="Pretendard"/>
              </a:rPr>
              <a:t>결과는 Admin에서</a:t>
            </a:r>
          </a:p>
          <a:p>
            <a:pPr algn="l"/>
            <a:r>
              <a:rPr sz="1150">
                <a:solidFill>
                  <a:srgbClr val="111827"/>
                </a:solidFill>
                <a:latin typeface="Pretendard"/>
              </a:rPr>
              <a:t>확인한다.</a:t>
            </a:r>
          </a:p>
        </p:txBody>
      </p:sp>
      <p:sp>
        <p:nvSpPr>
          <p:cNvPr id="26" name="Shape 24"/>
          <p:cNvSpPr/>
          <p:nvPr/>
        </p:nvSpPr>
        <p:spPr>
          <a:xfrm>
            <a:off x="5111496" y="1883664"/>
            <a:ext cx="2116836" cy="4206240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5111496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5276088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276088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내용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276088" y="296265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Kiosk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276088" y="3145536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 · 목록 · 상세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장바구니 · 결제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276088" y="381304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Admin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276088" y="3995928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주문 · 주문 관리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관리 · 품절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276088" y="460857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Backend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276088" y="4775685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옵션 · 주문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검증 API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447788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7447788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38" name="Text 36"/>
          <p:cNvSpPr txBox="1"/>
          <p:nvPr/>
        </p:nvSpPr>
        <p:spPr>
          <a:xfrm>
            <a:off x="7612380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7612380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 err="1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활용 기술 ·</a:t>
            </a: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/>
            </a:r>
            <a:r>
              <a:rPr lang="ko-KR" alt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/>
            </a: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/>
            </a:r>
            <a:r>
              <a:rPr lang="en-US" sz="1500" dirty="0" err="1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/>
            </a:r>
            <a:endParaRPr lang="en-US" sz="1500" dirty="0"/>
          </a:p>
          <a:p>
            <a:pPr algn="l"/>
            <a:r>
              <a:rPr sz="1500">
                <a:solidFill>
                  <a:srgbClr val="111827"/>
                </a:solidFill>
                <a:latin typeface="Pretendard SemiBold"/>
              </a:rPr>
              <a:t>자료</a:t>
            </a:r>
          </a:p>
        </p:txBody>
      </p:sp>
      <p:sp>
        <p:nvSpPr>
          <p:cNvPr id="40" name="Text 38"/>
          <p:cNvSpPr txBox="1"/>
          <p:nvPr/>
        </p:nvSpPr>
        <p:spPr>
          <a:xfrm>
            <a:off x="7612380" y="296265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프론트엔드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7612380" y="3143690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· React Router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Zustand · Axios · Vite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7612380" y="378561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백엔드 · DB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7612380" y="3959352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Boot · Java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· MySQL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7612380" y="460857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협업 · 문서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7612380" y="4773168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· Bruno · GitHub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Bible · WBS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9784080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9784080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48" name="Text 46"/>
          <p:cNvSpPr txBox="1"/>
          <p:nvPr/>
        </p:nvSpPr>
        <p:spPr>
          <a:xfrm>
            <a:off x="9948672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9948672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활용 방안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기대 효과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9948672" y="3090672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고객: 옵션을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흐름대로 선택한다.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9948672" y="3986784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운영: 주문·메뉴를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화면에서 확인한다.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9948672" y="4882896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목표: 입력 오류를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줄인다.</a:t>
            </a:r>
            <a:endParaRPr lang="en-US" sz="1150" dirty="0"/>
          </a:p>
        </p:txBody>
      </p:sp>
      <p:sp>
        <p:nvSpPr>
          <p:cNvPr id="53" name="Text 22">
            <a:extLst>
              <a:ext uri="{FF2B5EF4-FFF2-40B4-BE49-F238E27FC236}">
                <a16:creationId xmlns:a16="http://schemas.microsoft.com/office/drawing/2014/main" id="{C99A4CBA-9F79-485F-A839-63B139311154}"/>
              </a:ext>
            </a:extLst>
          </p:cNvPr>
          <p:cNvSpPr txBox="1"/>
          <p:nvPr/>
        </p:nvSpPr>
        <p:spPr>
          <a:xfrm>
            <a:off x="587502" y="3094084"/>
            <a:ext cx="18196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샐러드 주문은 메뉴 외에도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옵션·제외·수량이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겹친다.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/>
            </a:r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실수 없이 끝내는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주문 흐름이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필요했다.</a:t>
            </a:r>
            <a:endParaRPr lang="en-US" altLang="ko-KR" sz="115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팀 구성 및 역할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팀 구성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" y="1463040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2인 팀 · 저장소 4개(ASAK · Kiosk · Admin · back) · 역할은 화면·API 단위로 나눈다.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1883664"/>
            <a:ext cx="555955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94944" y="2217039"/>
            <a:ext cx="23774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spc="600" dirty="0" err="1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이하진</a:t>
            </a:r>
            <a:endParaRPr lang="en-US" sz="2600" spc="6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" y="2755773"/>
            <a:ext cx="12359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chemeClr val="accent6">
                    <a:lumMod val="75000"/>
                  </a:schemeClr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Admin · Docs</a:t>
            </a:r>
            <a:r>
              <a:rPr lang="ko-KR" altLang="en-US" sz="1000" dirty="0">
                <a:solidFill>
                  <a:schemeClr val="accent6">
                    <a:lumMod val="75000"/>
                  </a:schemeClr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/>
            </a:r>
            <a:endParaRPr lang="en-US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94944" y="2999232"/>
            <a:ext cx="5047488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694944" y="3211449"/>
            <a:ext cx="50474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화면 · 문서 · Hub 정본 관리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l">
              <a:lnSpc>
                <a:spcPct val="190000"/>
              </a:lnSpc>
              <a:buNone/>
            </a:pPr>
            <a:r>
              <a:rPr sz="1150">
                <a:latin typeface="Pretendard"/>
              </a:rPr>
              <a:t>Figma · Screen Bible · WBS·발표 자료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l">
              <a:lnSpc>
                <a:spcPct val="190000"/>
              </a:lnSpc>
              <a:buNone/>
            </a:pPr>
            <a:r>
              <a:rPr sz="1150">
                <a:latin typeface="Pretendard"/>
              </a:rPr>
              <a:t>Live 주문 · 주문 관리 · 메뉴·품절 화면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l">
              <a:lnSpc>
                <a:spcPct val="190000"/>
              </a:lnSpc>
              <a:buNone/>
            </a:pPr>
            <a:r>
              <a:rPr sz="1150">
                <a:latin typeface="Pretendard"/>
              </a:rPr>
              <a:t>관리자 API 연동 · DB 스키마 반영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l">
              <a:lnSpc>
                <a:spcPct val="190000"/>
              </a:lnSpc>
              <a:buNone/>
            </a:pP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199632" y="1883664"/>
            <a:ext cx="555955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6455664" y="2207514"/>
            <a:ext cx="1187196" cy="425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spc="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김나연</a:t>
            </a:r>
            <a:endParaRPr lang="en-US" sz="2600" spc="600" dirty="0"/>
          </a:p>
        </p:txBody>
      </p:sp>
      <p:sp>
        <p:nvSpPr>
          <p:cNvPr id="29" name="Text 27"/>
          <p:cNvSpPr txBox="1"/>
          <p:nvPr/>
        </p:nvSpPr>
        <p:spPr>
          <a:xfrm>
            <a:off x="6455664" y="2755773"/>
            <a:ext cx="92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1000" dirty="0">
                <a:solidFill>
                  <a:schemeClr val="accent6">
                    <a:lumMod val="75000"/>
                  </a:schemeClr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Kiosk · QA</a:t>
            </a:r>
            <a:r>
              <a:rPr lang="en-US" sz="1000" dirty="0">
                <a:solidFill>
                  <a:schemeClr val="accent6">
                    <a:lumMod val="75000"/>
                  </a:schemeClr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/>
            </a:r>
            <a:endParaRPr lang="en-US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55664" y="2999232"/>
            <a:ext cx="5047488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6449568" y="3182112"/>
            <a:ext cx="50474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 주문 흐름 · 옵션 UI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l">
              <a:lnSpc>
                <a:spcPct val="190000"/>
              </a:lnSpc>
              <a:buNone/>
            </a:pPr>
            <a:r>
              <a:rPr sz="1150">
                <a:latin typeface="Pretendard"/>
              </a:rPr>
              <a:t>필수·선택 옵션 · 제외 · 수량 제한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l">
              <a:lnSpc>
                <a:spcPct val="190000"/>
              </a:lnSpc>
              <a:buNone/>
            </a:pPr>
            <a:r>
              <a:rPr sz="1150">
                <a:latin typeface="Pretendard"/>
              </a:rPr>
              <a:t>장바구니 · 결제·완료·타임아웃 화면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l">
              <a:lnSpc>
                <a:spcPct val="190000"/>
              </a:lnSpc>
              <a:buNone/>
            </a:pPr>
            <a:r>
              <a:rPr sz="1150">
                <a:latin typeface="Pretendard"/>
              </a:rPr>
              <a:t>API 연동·검증 · QA·시연 시나리오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l">
              <a:lnSpc>
                <a:spcPct val="190000"/>
              </a:lnSpc>
              <a:buNone/>
            </a:pP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38912" y="5303520"/>
            <a:ext cx="11313871" cy="566928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640080" y="54498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멘토 남상규  ·  강사 피드백으로 API 계약 · 상태 경계 · 수직 슬라이스 순서를 맞췄다</a:t>
            </a:r>
            <a:r>
              <a:rPr lang="en-US" sz="120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sz="120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수행 절차 및 방법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수행 절차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1" y="1392936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문서(요구·화면·API)를 먼저 맞춘 뒤 화면과 서버를 붙였다.</a:t>
            </a: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sz="130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b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sz="130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sz="130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sz="1300" dirty="0"/>
          </a:p>
          <a:p>
            <a:pPr algn="l"/>
            <a:r>
              <a:rPr sz="1300">
                <a:solidFill>
                  <a:srgbClr val="6B7280"/>
                </a:solidFill>
                <a:latin typeface="Pretendard"/>
              </a:rPr>
              <a:t>7 실서버 연동 · 8 통합 검증은 현재 진행 중</a:t>
            </a:r>
          </a:p>
        </p:txBody>
      </p:sp>
      <p:sp>
        <p:nvSpPr>
          <p:cNvPr id="14" name="Shape 12"/>
          <p:cNvSpPr/>
          <p:nvPr/>
        </p:nvSpPr>
        <p:spPr>
          <a:xfrm>
            <a:off x="822960" y="3236976"/>
            <a:ext cx="1056132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91540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10312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기획 · 요구사항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10312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W27  6/29~7/5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194560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194560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372868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691640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화면 · DB 설계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691640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W28  7/6~7/12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75888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675888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854196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172968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Figma UI 확정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172968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W29  7/13~7/19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157216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157216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335524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654296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Kiosk 화면 구현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654296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W29~W30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638544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638544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816852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135624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Admin 화면 구현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135624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W30  7/20~7/26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119872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119872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298180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616952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API 계약 · 백엔드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7616952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W30~W31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601200" y="306324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6C970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601200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9779508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098280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실서버 연동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9098280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W31~W32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1082528" y="306324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6C970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1082528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11260836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10579608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통합 검증 · 문서화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10579608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W32  8/3~8/7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38912" y="4846320"/>
            <a:ext cx="11313871" cy="512064"/>
          </a:xfrm>
          <a:prstGeom prst="rect">
            <a:avLst/>
          </a:prstGeom>
          <a:solidFill>
            <a:srgbClr val="383D42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731520" y="49926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총 개발기간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5486400" y="4956048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2026.06.29  ~  2026.08.07   (6주 · ISO W27~W32)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수행 경과 요약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06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9064" y="1385316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Stack · Build · Process · Iterate · Deliver — 다섯 축으로 경과를 본다.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38912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603504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활용 기술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구현 방법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Kiosk/Admin +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Spring · MyBatis ·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MySQL API 구조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75204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2775204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2939796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939796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기능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구현 화면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2939796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옵션·제외·수량 ·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장바구니 ·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Admin 주문·메뉴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111496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5111496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5276088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276088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수행 프로세스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276088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요구 → 설계 →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개발 → 통합 →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QA → 시연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447788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7447788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7612380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612380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피드백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반영 내용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612380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흐름·검증·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데이터 구조를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피드백 단위로 보완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784080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9784080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36" name="Text 34"/>
          <p:cNvSpPr txBox="1"/>
          <p:nvPr/>
        </p:nvSpPr>
        <p:spPr>
          <a:xfrm>
            <a:off x="9948672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9948672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결과물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첨부 자료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9948672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· ERD ·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API 테스트 ·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Bible · WBS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활용 기술 및 구현 방법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기술 및 구현 방법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645920"/>
            <a:ext cx="2011680" cy="347472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566928" y="1737360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계층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50592" y="1645920"/>
            <a:ext cx="3291840" cy="347472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2578608" y="1737360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활용 기술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42432" y="1645920"/>
            <a:ext cx="6010351" cy="347472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5870448" y="1737360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구현 내용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912" y="1993392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566928" y="2167128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Kiosk 프론트엔드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450592" y="1993392"/>
            <a:ext cx="329184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2578608" y="2167128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· React Router · Zustand · Axios · Vite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742432" y="1993392"/>
            <a:ext cx="6010351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5870448" y="2167128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세션 · 목록·상세·카트·결제 UI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8912" y="2505456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38912" y="2505456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566928" y="2679192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Admin 프론트엔드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450592" y="2505456"/>
            <a:ext cx="3291840" cy="512064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2578608" y="2679192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· React Router · Zustand · Axios · Vite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742432" y="2505456"/>
            <a:ext cx="6010351" cy="512064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5870448" y="2679192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· 주문 · 메뉴 · 품절·판매 화면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38912" y="3017520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438912" y="3017520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p/>
        </p:txBody>
      </p:sp>
      <p:sp>
        <p:nvSpPr>
          <p:cNvPr id="35" name="Text 33"/>
          <p:cNvSpPr txBox="1"/>
          <p:nvPr/>
        </p:nvSpPr>
        <p:spPr>
          <a:xfrm>
            <a:off x="566928" y="3191256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백엔드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450592" y="3017520"/>
            <a:ext cx="329184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Text 35"/>
          <p:cNvSpPr txBox="1"/>
          <p:nvPr/>
        </p:nvSpPr>
        <p:spPr>
          <a:xfrm>
            <a:off x="2578608" y="3191256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Boot · Java · MyBatis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742432" y="3017520"/>
            <a:ext cx="6010351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" name="Text 37"/>
          <p:cNvSpPr txBox="1"/>
          <p:nvPr/>
        </p:nvSpPr>
        <p:spPr>
          <a:xfrm>
            <a:off x="5870448" y="3191256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메뉴·옵션·주문 검증 · Admin 조회 API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38912" y="3529584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438912" y="3529584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p/>
        </p:txBody>
      </p:sp>
      <p:sp>
        <p:nvSpPr>
          <p:cNvPr id="42" name="Text 40"/>
          <p:cNvSpPr txBox="1"/>
          <p:nvPr/>
        </p:nvSpPr>
        <p:spPr>
          <a:xfrm>
            <a:off x="566928" y="3703320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데이터베이스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2450592" y="3529584"/>
            <a:ext cx="3291840" cy="512064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p/>
        </p:txBody>
      </p:sp>
      <p:sp>
        <p:nvSpPr>
          <p:cNvPr id="44" name="Text 42"/>
          <p:cNvSpPr txBox="1"/>
          <p:nvPr/>
        </p:nvSpPr>
        <p:spPr>
          <a:xfrm>
            <a:off x="2578608" y="3703320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MySQL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742432" y="3529584"/>
            <a:ext cx="6010351" cy="512064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p/>
        </p:txBody>
      </p:sp>
      <p:sp>
        <p:nvSpPr>
          <p:cNvPr id="46" name="Text 44"/>
          <p:cNvSpPr txBox="1"/>
          <p:nvPr/>
        </p:nvSpPr>
        <p:spPr>
          <a:xfrm>
            <a:off x="5870448" y="3703320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24테이블 — 메뉴·옵션·주문·결제 (공통코드)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438912" y="4041648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438912" y="4041648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p/>
        </p:txBody>
      </p:sp>
      <p:sp>
        <p:nvSpPr>
          <p:cNvPr id="49" name="Text 47"/>
          <p:cNvSpPr txBox="1"/>
          <p:nvPr/>
        </p:nvSpPr>
        <p:spPr>
          <a:xfrm>
            <a:off x="566928" y="4215384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협업 · 검증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2450592" y="4041648"/>
            <a:ext cx="329184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" name="Text 49"/>
          <p:cNvSpPr txBox="1"/>
          <p:nvPr/>
        </p:nvSpPr>
        <p:spPr>
          <a:xfrm>
            <a:off x="2578608" y="4215384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 · Figma · Bruno · WBS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5742432" y="4041648"/>
            <a:ext cx="6010351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Text 51"/>
          <p:cNvSpPr txBox="1"/>
          <p:nvPr/>
        </p:nvSpPr>
        <p:spPr>
          <a:xfrm>
            <a:off x="5870448" y="4215384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· 형상 · API 테스트 · 일정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438912" y="4553712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438912" y="4846320"/>
            <a:ext cx="11313871" cy="1097280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 txBox="1"/>
          <p:nvPr/>
        </p:nvSpPr>
        <p:spPr>
          <a:xfrm>
            <a:off x="640080" y="499262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구현 방법 요약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640080" y="53035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Kiosk와 Admin은 역할별 React 앱으로 분리하고, Spring Boot API로 메뉴·옵션·주문을 조회·검증한다.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r>
              <a:rPr sz="1250">
                <a:solidFill>
                  <a:srgbClr val="111827"/>
                </a:solidFill>
                <a:latin typeface="Pretendard"/>
              </a:rPr>
              <a:t>MyBatis는 메뉴 구성과 주문 보존에 필요한 관계를 연결한다.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전체 구조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구조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1737360"/>
            <a:ext cx="3840480" cy="1188720"/>
          </a:xfrm>
          <a:prstGeom prst="rect">
            <a:avLst/>
          </a:prstGeom>
          <a:solidFill>
            <a:srgbClr val="F5FBE0"/>
          </a:solidFill>
          <a:ln w="19050">
            <a:solidFill>
              <a:srgbClr val="B5E30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1024128" y="18836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2433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Kiosk (React)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2249424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 · Menu · Detail · Cart · Payment</a:t>
            </a:r>
            <a:endParaRPr lang="en-US" sz="950" dirty="0"/>
          </a:p>
          <a:p>
            <a:pPr marL="0" indent="0" algn="l">
              <a:lnSpc>
                <a:spcPct val="150000"/>
              </a:lnSpc>
              <a:buNone/>
            </a:pPr>
            <a:r>
              <a:rPr sz="950">
                <a:solidFill>
                  <a:srgbClr val="243300"/>
                </a:solidFill>
                <a:latin typeface="Pretendard"/>
              </a:rPr>
              <a:t>고객 주문 세션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534656" y="1737360"/>
            <a:ext cx="3840480" cy="1188720"/>
          </a:xfrm>
          <a:prstGeom prst="rect">
            <a:avLst/>
          </a:prstGeom>
          <a:solidFill>
            <a:srgbClr val="F5F5F5"/>
          </a:solidFill>
          <a:ln w="19050">
            <a:solidFill>
              <a:srgbClr val="383D4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7735824" y="18836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Admin (React)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735824" y="2249424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· Orders · Menus</a:t>
            </a:r>
            <a:endParaRPr lang="en-US" sz="950" dirty="0"/>
          </a:p>
          <a:p>
            <a:pPr marL="0" indent="0" algn="l">
              <a:lnSpc>
                <a:spcPct val="150000"/>
              </a:lnSpc>
              <a:buNone/>
            </a:pPr>
            <a:r>
              <a:rPr sz="950">
                <a:solidFill>
                  <a:srgbClr val="1A1A1A"/>
                </a:solidFill>
                <a:latin typeface="Pretendard"/>
              </a:rPr>
              <a:t>품절 · 결제수단 · 매출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0" y="2926080"/>
            <a:ext cx="0" cy="310896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0" y="3236976"/>
            <a:ext cx="26974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54896" y="2926080"/>
            <a:ext cx="0" cy="310896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0" y="3236976"/>
            <a:ext cx="268833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40680" y="3108960"/>
            <a:ext cx="13258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40680" y="31546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REST API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99048" y="3364992"/>
            <a:ext cx="0" cy="20116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3566160"/>
            <a:ext cx="5605272" cy="11887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493008" y="3712464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Spring Boot Backend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493008" y="4078224"/>
            <a:ext cx="5212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 Controller · Admin Controller · Service · Validation</a:t>
            </a:r>
            <a:endParaRPr lang="en-US" sz="9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Mapper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99048" y="4754880"/>
            <a:ext cx="0" cy="274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86784" y="5029200"/>
            <a:ext cx="4215384" cy="786384"/>
          </a:xfrm>
          <a:prstGeom prst="rect">
            <a:avLst/>
          </a:prstGeom>
          <a:solidFill>
            <a:srgbClr val="4A7A0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187952" y="51389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MySQL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187952" y="54681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24개 테이블 · menu · ing · opt_policy · orders · payment · common_code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2743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ERD — 메뉴 · 재료 · 옵션 구조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786384"/>
            <a:ext cx="109728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835640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991088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146536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301984" y="329184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457432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9966960" y="530352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수행 경과 · ERD 1/2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75488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6424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09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097280"/>
            <a:ext cx="169164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20040" y="1097280"/>
            <a:ext cx="16916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411480" y="11612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category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" y="141732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163677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" y="185623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sort_no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11480" y="207568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331720" y="1097280"/>
            <a:ext cx="205740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2331720" y="109728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2423160" y="11612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menu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423160" y="141732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2423160" y="163677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cat_id  FK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2423160" y="185623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2423160" y="207568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2423160" y="229514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sold_out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2423160" y="251460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image_url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1097280"/>
            <a:ext cx="2148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4709160" y="1097280"/>
            <a:ext cx="21488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4800600" y="11612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menu_opt_policy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14173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800600" y="163677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menu_id  FK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800600" y="185623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policy_id  FK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800600" y="207568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priority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800600" y="229514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required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178040" y="1097280"/>
            <a:ext cx="210312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7178040" y="109728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p/>
        </p:txBody>
      </p:sp>
      <p:sp>
        <p:nvSpPr>
          <p:cNvPr id="39" name="Text 37"/>
          <p:cNvSpPr txBox="1"/>
          <p:nvPr/>
        </p:nvSpPr>
        <p:spPr>
          <a:xfrm>
            <a:off x="7269480" y="11612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opt_policy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269480" y="14173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7269480" y="16367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opt_group_id  FK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269480" y="1856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policy_key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7269480" y="20756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7269480" y="22951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min_select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7269480" y="2514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max_select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601200" y="109728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9601200" y="109728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p/>
        </p:txBody>
      </p:sp>
      <p:sp>
        <p:nvSpPr>
          <p:cNvPr id="48" name="Text 46"/>
          <p:cNvSpPr txBox="1"/>
          <p:nvPr/>
        </p:nvSpPr>
        <p:spPr>
          <a:xfrm>
            <a:off x="9692640" y="11612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opt_group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9692640" y="14173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9692640" y="16367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group_type_id  FK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9692640" y="18562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9692640" y="207568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min_select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9692640" y="229514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max_select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20040" y="3291840"/>
            <a:ext cx="16916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320040" y="3291840"/>
            <a:ext cx="16916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p/>
        </p:txBody>
      </p:sp>
      <p:sp>
        <p:nvSpPr>
          <p:cNvPr id="56" name="Text 54"/>
          <p:cNvSpPr txBox="1"/>
          <p:nvPr/>
        </p:nvSpPr>
        <p:spPr>
          <a:xfrm>
            <a:off x="411480" y="335584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ing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411480" y="361188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411480" y="383133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411480" y="405079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type_id  FK</a:t>
            </a:r>
            <a:endParaRPr lang="en-US" sz="950" dirty="0"/>
          </a:p>
        </p:txBody>
      </p:sp>
      <p:sp>
        <p:nvSpPr>
          <p:cNvPr id="60" name="Text 58"/>
          <p:cNvSpPr txBox="1"/>
          <p:nvPr/>
        </p:nvSpPr>
        <p:spPr>
          <a:xfrm>
            <a:off x="411480" y="427024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kcal</a:t>
            </a:r>
            <a:endParaRPr lang="en-US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411480" y="448970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protein_g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411480" y="47091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sold_out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2331720" y="3291840"/>
            <a:ext cx="20574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4" name="Shape 62"/>
          <p:cNvSpPr/>
          <p:nvPr/>
        </p:nvSpPr>
        <p:spPr>
          <a:xfrm>
            <a:off x="2331720" y="329184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p/>
        </p:txBody>
      </p:sp>
      <p:sp>
        <p:nvSpPr>
          <p:cNvPr id="65" name="Text 63"/>
          <p:cNvSpPr txBox="1"/>
          <p:nvPr/>
        </p:nvSpPr>
        <p:spPr>
          <a:xfrm>
            <a:off x="2423160" y="335584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menu_ing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2423160" y="361188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67" name="Text 65"/>
          <p:cNvSpPr txBox="1"/>
          <p:nvPr/>
        </p:nvSpPr>
        <p:spPr>
          <a:xfrm>
            <a:off x="2423160" y="383133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menu_id  FK</a:t>
            </a:r>
            <a:endParaRPr lang="en-US" sz="950" dirty="0"/>
          </a:p>
        </p:txBody>
      </p:sp>
      <p:sp>
        <p:nvSpPr>
          <p:cNvPr id="68" name="Text 66"/>
          <p:cNvSpPr txBox="1"/>
          <p:nvPr/>
        </p:nvSpPr>
        <p:spPr>
          <a:xfrm>
            <a:off x="2423160" y="405079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ing_id  FK</a:t>
            </a:r>
            <a:endParaRPr lang="en-US" sz="950" dirty="0"/>
          </a:p>
        </p:txBody>
      </p:sp>
      <p:sp>
        <p:nvSpPr>
          <p:cNvPr id="69" name="Text 67"/>
          <p:cNvSpPr txBox="1"/>
          <p:nvPr/>
        </p:nvSpPr>
        <p:spPr>
          <a:xfrm>
            <a:off x="2423160" y="427024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role_id  FK</a:t>
            </a:r>
            <a:endParaRPr lang="en-US" sz="950" dirty="0"/>
          </a:p>
        </p:txBody>
      </p:sp>
      <p:sp>
        <p:nvSpPr>
          <p:cNvPr id="70" name="Text 68"/>
          <p:cNvSpPr txBox="1"/>
          <p:nvPr/>
        </p:nvSpPr>
        <p:spPr>
          <a:xfrm>
            <a:off x="2423160" y="448970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is_default</a:t>
            </a:r>
            <a:endParaRPr lang="en-US" sz="950" dirty="0"/>
          </a:p>
        </p:txBody>
      </p:sp>
      <p:sp>
        <p:nvSpPr>
          <p:cNvPr id="71" name="Text 69"/>
          <p:cNvSpPr txBox="1"/>
          <p:nvPr/>
        </p:nvSpPr>
        <p:spPr>
          <a:xfrm>
            <a:off x="2423160" y="470916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can_remove</a:t>
            </a:r>
            <a:endParaRPr lang="en-US" sz="950" dirty="0"/>
          </a:p>
        </p:txBody>
      </p:sp>
      <p:sp>
        <p:nvSpPr>
          <p:cNvPr id="72" name="Text 70"/>
          <p:cNvSpPr txBox="1"/>
          <p:nvPr/>
        </p:nvSpPr>
        <p:spPr>
          <a:xfrm>
            <a:off x="2423160" y="492861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quantity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7178040" y="3291840"/>
            <a:ext cx="210312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74" name="Shape 72"/>
          <p:cNvSpPr/>
          <p:nvPr/>
        </p:nvSpPr>
        <p:spPr>
          <a:xfrm>
            <a:off x="7178040" y="329184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p/>
        </p:txBody>
      </p:sp>
      <p:sp>
        <p:nvSpPr>
          <p:cNvPr id="75" name="Text 73"/>
          <p:cNvSpPr txBox="1"/>
          <p:nvPr/>
        </p:nvSpPr>
        <p:spPr>
          <a:xfrm>
            <a:off x="7269480" y="33558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opt_policy_item</a:t>
            </a:r>
            <a:endParaRPr lang="en-US" sz="1100" dirty="0"/>
          </a:p>
        </p:txBody>
      </p:sp>
      <p:sp>
        <p:nvSpPr>
          <p:cNvPr id="76" name="Text 74"/>
          <p:cNvSpPr txBox="1"/>
          <p:nvPr/>
        </p:nvSpPr>
        <p:spPr>
          <a:xfrm>
            <a:off x="7269480" y="36118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77" name="Text 75"/>
          <p:cNvSpPr txBox="1"/>
          <p:nvPr/>
        </p:nvSpPr>
        <p:spPr>
          <a:xfrm>
            <a:off x="7269480" y="383133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policy_id  FK</a:t>
            </a:r>
            <a:endParaRPr lang="en-US" sz="950" dirty="0"/>
          </a:p>
        </p:txBody>
      </p:sp>
      <p:sp>
        <p:nvSpPr>
          <p:cNvPr id="78" name="Text 76"/>
          <p:cNvSpPr txBox="1"/>
          <p:nvPr/>
        </p:nvSpPr>
        <p:spPr>
          <a:xfrm>
            <a:off x="7269480" y="405079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opt_item_id  FK</a:t>
            </a:r>
            <a:endParaRPr lang="en-US" sz="950" dirty="0"/>
          </a:p>
        </p:txBody>
      </p:sp>
      <p:sp>
        <p:nvSpPr>
          <p:cNvPr id="79" name="Text 77"/>
          <p:cNvSpPr txBox="1"/>
          <p:nvPr/>
        </p:nvSpPr>
        <p:spPr>
          <a:xfrm>
            <a:off x="7269480" y="42702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is_default</a:t>
            </a:r>
            <a:endParaRPr lang="en-US" sz="950" dirty="0"/>
          </a:p>
        </p:txBody>
      </p:sp>
      <p:sp>
        <p:nvSpPr>
          <p:cNvPr id="80" name="Text 78"/>
          <p:cNvSpPr txBox="1"/>
          <p:nvPr/>
        </p:nvSpPr>
        <p:spPr>
          <a:xfrm>
            <a:off x="7269480" y="448970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recommended</a:t>
            </a:r>
            <a:endParaRPr lang="en-US" sz="950" dirty="0"/>
          </a:p>
        </p:txBody>
      </p:sp>
      <p:sp>
        <p:nvSpPr>
          <p:cNvPr id="81" name="Text 79"/>
          <p:cNvSpPr txBox="1"/>
          <p:nvPr/>
        </p:nvSpPr>
        <p:spPr>
          <a:xfrm>
            <a:off x="7269480" y="47091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9601200" y="3291840"/>
            <a:ext cx="19202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83" name="Shape 81"/>
          <p:cNvSpPr/>
          <p:nvPr/>
        </p:nvSpPr>
        <p:spPr>
          <a:xfrm>
            <a:off x="9601200" y="329184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p/>
        </p:txBody>
      </p:sp>
      <p:sp>
        <p:nvSpPr>
          <p:cNvPr id="84" name="Text 82"/>
          <p:cNvSpPr txBox="1"/>
          <p:nvPr/>
        </p:nvSpPr>
        <p:spPr>
          <a:xfrm>
            <a:off x="9692640" y="33558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opt_item</a:t>
            </a:r>
            <a:endParaRPr lang="en-US" sz="1100" dirty="0"/>
          </a:p>
        </p:txBody>
      </p:sp>
      <p:sp>
        <p:nvSpPr>
          <p:cNvPr id="85" name="Text 83"/>
          <p:cNvSpPr txBox="1"/>
          <p:nvPr/>
        </p:nvSpPr>
        <p:spPr>
          <a:xfrm>
            <a:off x="9692640" y="36118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9692640" y="383133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opt_group_id  FK</a:t>
            </a:r>
            <a:endParaRPr lang="en-US" sz="950" dirty="0"/>
          </a:p>
        </p:txBody>
      </p:sp>
      <p:sp>
        <p:nvSpPr>
          <p:cNvPr id="87" name="Text 85"/>
          <p:cNvSpPr txBox="1"/>
          <p:nvPr/>
        </p:nvSpPr>
        <p:spPr>
          <a:xfrm>
            <a:off x="9692640" y="40507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ing_id  FK</a:t>
            </a:r>
            <a:endParaRPr lang="en-US" sz="950" dirty="0"/>
          </a:p>
        </p:txBody>
      </p:sp>
      <p:sp>
        <p:nvSpPr>
          <p:cNvPr id="88" name="Text 86"/>
          <p:cNvSpPr txBox="1"/>
          <p:nvPr/>
        </p:nvSpPr>
        <p:spPr>
          <a:xfrm>
            <a:off x="9692640" y="42702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89" name="Text 87"/>
          <p:cNvSpPr txBox="1"/>
          <p:nvPr/>
        </p:nvSpPr>
        <p:spPr>
          <a:xfrm>
            <a:off x="9692640" y="448970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add_price</a:t>
            </a:r>
            <a:endParaRPr lang="en-US" sz="950" dirty="0"/>
          </a:p>
        </p:txBody>
      </p:sp>
      <p:sp>
        <p:nvSpPr>
          <p:cNvPr id="90" name="Text 88"/>
          <p:cNvSpPr txBox="1"/>
          <p:nvPr/>
        </p:nvSpPr>
        <p:spPr>
          <a:xfrm>
            <a:off x="9692640" y="47091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sold_out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201168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p/>
        </p:txBody>
      </p:sp>
      <p:sp>
        <p:nvSpPr>
          <p:cNvPr id="92" name="Shape 90"/>
          <p:cNvSpPr/>
          <p:nvPr/>
        </p:nvSpPr>
        <p:spPr>
          <a:xfrm>
            <a:off x="438912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p/>
        </p:txBody>
      </p:sp>
      <p:sp>
        <p:nvSpPr>
          <p:cNvPr id="93" name="Shape 91"/>
          <p:cNvSpPr/>
          <p:nvPr/>
        </p:nvSpPr>
        <p:spPr>
          <a:xfrm>
            <a:off x="685800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p/>
        </p:txBody>
      </p:sp>
      <p:sp>
        <p:nvSpPr>
          <p:cNvPr id="94" name="Shape 92"/>
          <p:cNvSpPr/>
          <p:nvPr/>
        </p:nvSpPr>
        <p:spPr>
          <a:xfrm>
            <a:off x="8229600" y="2688336"/>
            <a:ext cx="0" cy="60350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p/>
        </p:txBody>
      </p:sp>
      <p:sp>
        <p:nvSpPr>
          <p:cNvPr id="95" name="Shape 93"/>
          <p:cNvSpPr/>
          <p:nvPr/>
        </p:nvSpPr>
        <p:spPr>
          <a:xfrm>
            <a:off x="9281160" y="367588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p/>
        </p:txBody>
      </p:sp>
      <p:sp>
        <p:nvSpPr>
          <p:cNvPr id="96" name="Shape 94"/>
          <p:cNvSpPr/>
          <p:nvPr/>
        </p:nvSpPr>
        <p:spPr>
          <a:xfrm>
            <a:off x="10561320" y="2468880"/>
            <a:ext cx="0" cy="82296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p/>
        </p:txBody>
      </p:sp>
      <p:sp>
        <p:nvSpPr>
          <p:cNvPr id="97" name="Shape 95"/>
          <p:cNvSpPr/>
          <p:nvPr/>
        </p:nvSpPr>
        <p:spPr>
          <a:xfrm>
            <a:off x="3291840" y="2688336"/>
            <a:ext cx="0" cy="60350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p/>
        </p:txBody>
      </p:sp>
      <p:sp>
        <p:nvSpPr>
          <p:cNvPr id="98" name="Shape 96"/>
          <p:cNvSpPr/>
          <p:nvPr/>
        </p:nvSpPr>
        <p:spPr>
          <a:xfrm>
            <a:off x="2011680" y="367588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p/>
        </p:txBody>
      </p:sp>
      <p:sp>
        <p:nvSpPr>
          <p:cNvPr id="99" name="Shape 97"/>
          <p:cNvSpPr/>
          <p:nvPr/>
        </p:nvSpPr>
        <p:spPr>
          <a:xfrm>
            <a:off x="1097280" y="4882896"/>
            <a:ext cx="0" cy="47548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p/>
        </p:txBody>
      </p:sp>
      <p:sp>
        <p:nvSpPr>
          <p:cNvPr id="100" name="Shape 98"/>
          <p:cNvSpPr/>
          <p:nvPr/>
        </p:nvSpPr>
        <p:spPr>
          <a:xfrm>
            <a:off x="1097280" y="5358384"/>
            <a:ext cx="9464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p/>
        </p:txBody>
      </p:sp>
      <p:sp>
        <p:nvSpPr>
          <p:cNvPr id="101" name="Shape 99"/>
          <p:cNvSpPr/>
          <p:nvPr/>
        </p:nvSpPr>
        <p:spPr>
          <a:xfrm>
            <a:off x="10561320" y="4882896"/>
            <a:ext cx="0" cy="47548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p/>
        </p:txBody>
      </p:sp>
      <p:sp>
        <p:nvSpPr>
          <p:cNvPr id="102" name="Text 100"/>
          <p:cNvSpPr txBox="1"/>
          <p:nvPr/>
        </p:nvSpPr>
        <p:spPr>
          <a:xfrm>
            <a:off x="274320" y="5687568"/>
            <a:ext cx="11643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= 카테고리 + 기본 재료 + 옵션 정책.  min/max 선택과 can_remove가 주문 화면의 규칙이 된다.</a:t>
            </a:r>
            <a:endParaRPr lang="en-US" sz="1150" dirty="0"/>
          </a:p>
        </p:txBody>
      </p:sp>
      <p:sp>
        <p:nvSpPr>
          <p:cNvPr id="103" name="Text 101"/>
          <p:cNvSpPr txBox="1"/>
          <p:nvPr/>
        </p:nvSpPr>
        <p:spPr>
          <a:xfrm>
            <a:off x="274320" y="5980176"/>
            <a:ext cx="116430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부가 테이블 — tag · menu_tag · allergen · ing_allergen · menu_nutr · opt_item_comp · menu_opt_override (전체 24개 테이블 중 핵심 9개만 표시)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2743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ERD — 주문 · 결제 · 공통코드 구조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786384"/>
            <a:ext cx="109728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835640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991088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146536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301984" y="329184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457432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9966960" y="530352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수행 경과 · ERD 2/2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75488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6424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097280"/>
            <a:ext cx="16916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20040" y="1097280"/>
            <a:ext cx="16916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411480" y="11612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code_group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" y="141732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163677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group_code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" y="185623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331720" y="1097280"/>
            <a:ext cx="205740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2331720" y="109728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2423160" y="11612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common_code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423160" y="141732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2423160" y="163677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code_grp_id  FK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2423160" y="185623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2423160" y="207568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2423160" y="229514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sort_no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2423160" y="251460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1097280"/>
            <a:ext cx="21488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4709160" y="1097280"/>
            <a:ext cx="21488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4800600" y="11612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orders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800600" y="14173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163677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order_no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800600" y="185623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order_type_id  FK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800600" y="207568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status_id  FK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800600" y="229514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total_price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800600" y="251460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created_at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178040" y="1097280"/>
            <a:ext cx="2103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7178040" y="109728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p/>
        </p:txBody>
      </p:sp>
      <p:sp>
        <p:nvSpPr>
          <p:cNvPr id="39" name="Text 37"/>
          <p:cNvSpPr txBox="1"/>
          <p:nvPr/>
        </p:nvSpPr>
        <p:spPr>
          <a:xfrm>
            <a:off x="7269480" y="11612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order_item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269480" y="14173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7269480" y="16367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order_id  FK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269480" y="1856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menu_id  FK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7269480" y="20756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quantity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7269480" y="22951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601200" y="1097280"/>
            <a:ext cx="1920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9601200" y="109728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p/>
        </p:txBody>
      </p:sp>
      <p:sp>
        <p:nvSpPr>
          <p:cNvPr id="47" name="Text 45"/>
          <p:cNvSpPr txBox="1"/>
          <p:nvPr/>
        </p:nvSpPr>
        <p:spPr>
          <a:xfrm>
            <a:off x="9692640" y="11612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menu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9692640" y="14173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9692640" y="16367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9692640" y="18562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331720" y="3017520"/>
            <a:ext cx="205740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2331720" y="301752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p/>
        </p:txBody>
      </p:sp>
      <p:sp>
        <p:nvSpPr>
          <p:cNvPr id="53" name="Text 51"/>
          <p:cNvSpPr txBox="1"/>
          <p:nvPr/>
        </p:nvSpPr>
        <p:spPr>
          <a:xfrm>
            <a:off x="2423160" y="308152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pay_method_cfg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2423160" y="333756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2423160" y="355701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method_id  FK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2423160" y="377647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2423160" y="399592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709160" y="3017520"/>
            <a:ext cx="21488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4709160" y="3017520"/>
            <a:ext cx="21488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p/>
        </p:txBody>
      </p:sp>
      <p:sp>
        <p:nvSpPr>
          <p:cNvPr id="60" name="Text 58"/>
          <p:cNvSpPr txBox="1"/>
          <p:nvPr/>
        </p:nvSpPr>
        <p:spPr>
          <a:xfrm>
            <a:off x="4800600" y="308152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payment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4800600" y="333756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4800600" y="355701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order_id  FK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4800600" y="377647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method_id  FK</a:t>
            </a:r>
            <a:endParaRPr lang="en-US" sz="950" dirty="0"/>
          </a:p>
        </p:txBody>
      </p:sp>
      <p:sp>
        <p:nvSpPr>
          <p:cNvPr id="64" name="Text 62"/>
          <p:cNvSpPr txBox="1"/>
          <p:nvPr/>
        </p:nvSpPr>
        <p:spPr>
          <a:xfrm>
            <a:off x="4800600" y="399592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status_id  FK</a:t>
            </a:r>
            <a:endParaRPr lang="en-US" sz="950" dirty="0"/>
          </a:p>
        </p:txBody>
      </p:sp>
      <p:sp>
        <p:nvSpPr>
          <p:cNvPr id="65" name="Text 63"/>
          <p:cNvSpPr txBox="1"/>
          <p:nvPr/>
        </p:nvSpPr>
        <p:spPr>
          <a:xfrm>
            <a:off x="4800600" y="421538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amount</a:t>
            </a:r>
            <a:endParaRPr lang="en-US" sz="950" dirty="0"/>
          </a:p>
        </p:txBody>
      </p:sp>
      <p:sp>
        <p:nvSpPr>
          <p:cNvPr id="66" name="Text 64"/>
          <p:cNvSpPr txBox="1"/>
          <p:nvPr/>
        </p:nvSpPr>
        <p:spPr>
          <a:xfrm>
            <a:off x="4800600" y="443484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paid_at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178040" y="3017520"/>
            <a:ext cx="2103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8" name="Shape 66"/>
          <p:cNvSpPr/>
          <p:nvPr/>
        </p:nvSpPr>
        <p:spPr>
          <a:xfrm>
            <a:off x="7178040" y="301752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p/>
        </p:txBody>
      </p:sp>
      <p:sp>
        <p:nvSpPr>
          <p:cNvPr id="69" name="Text 67"/>
          <p:cNvSpPr txBox="1"/>
          <p:nvPr/>
        </p:nvSpPr>
        <p:spPr>
          <a:xfrm>
            <a:off x="7269480" y="30815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order_item_option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7269480" y="33375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71" name="Text 69"/>
          <p:cNvSpPr txBox="1"/>
          <p:nvPr/>
        </p:nvSpPr>
        <p:spPr>
          <a:xfrm>
            <a:off x="7269480" y="35570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order_item_id  FK</a:t>
            </a:r>
            <a:endParaRPr lang="en-US" sz="950" dirty="0"/>
          </a:p>
        </p:txBody>
      </p:sp>
      <p:sp>
        <p:nvSpPr>
          <p:cNvPr id="72" name="Text 70"/>
          <p:cNvSpPr txBox="1"/>
          <p:nvPr/>
        </p:nvSpPr>
        <p:spPr>
          <a:xfrm>
            <a:off x="7269480" y="37764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opt_item_id  FK</a:t>
            </a:r>
            <a:endParaRPr lang="en-US" sz="950" dirty="0"/>
          </a:p>
        </p:txBody>
      </p:sp>
      <p:sp>
        <p:nvSpPr>
          <p:cNvPr id="73" name="Text 71"/>
          <p:cNvSpPr txBox="1"/>
          <p:nvPr/>
        </p:nvSpPr>
        <p:spPr>
          <a:xfrm>
            <a:off x="7269480" y="39959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quantity</a:t>
            </a:r>
            <a:endParaRPr lang="en-US" sz="950" dirty="0"/>
          </a:p>
        </p:txBody>
      </p:sp>
      <p:sp>
        <p:nvSpPr>
          <p:cNvPr id="74" name="Text 72"/>
          <p:cNvSpPr txBox="1"/>
          <p:nvPr/>
        </p:nvSpPr>
        <p:spPr>
          <a:xfrm>
            <a:off x="7269480" y="42153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9601200" y="3017520"/>
            <a:ext cx="1920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76" name="Shape 74"/>
          <p:cNvSpPr/>
          <p:nvPr/>
        </p:nvSpPr>
        <p:spPr>
          <a:xfrm>
            <a:off x="9601200" y="301752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p/>
        </p:txBody>
      </p:sp>
      <p:sp>
        <p:nvSpPr>
          <p:cNvPr id="77" name="Text 75"/>
          <p:cNvSpPr txBox="1"/>
          <p:nvPr/>
        </p:nvSpPr>
        <p:spPr>
          <a:xfrm>
            <a:off x="9692640" y="30815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opt_item</a:t>
            </a:r>
            <a:endParaRPr lang="en-US" sz="1100" dirty="0"/>
          </a:p>
        </p:txBody>
      </p:sp>
      <p:sp>
        <p:nvSpPr>
          <p:cNvPr id="78" name="Text 76"/>
          <p:cNvSpPr txBox="1"/>
          <p:nvPr/>
        </p:nvSpPr>
        <p:spPr>
          <a:xfrm>
            <a:off x="9692640" y="33375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79" name="Text 77"/>
          <p:cNvSpPr txBox="1"/>
          <p:nvPr/>
        </p:nvSpPr>
        <p:spPr>
          <a:xfrm>
            <a:off x="9692640" y="355701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80" name="Text 78"/>
          <p:cNvSpPr txBox="1"/>
          <p:nvPr/>
        </p:nvSpPr>
        <p:spPr>
          <a:xfrm>
            <a:off x="9692640" y="37764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add_price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7178040" y="4754880"/>
            <a:ext cx="21031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82" name="Shape 80"/>
          <p:cNvSpPr/>
          <p:nvPr/>
        </p:nvSpPr>
        <p:spPr>
          <a:xfrm>
            <a:off x="7178040" y="475488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p/>
        </p:txBody>
      </p:sp>
      <p:sp>
        <p:nvSpPr>
          <p:cNvPr id="83" name="Text 81"/>
          <p:cNvSpPr txBox="1"/>
          <p:nvPr/>
        </p:nvSpPr>
        <p:spPr>
          <a:xfrm>
            <a:off x="7269480" y="48188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item_exclusion</a:t>
            </a:r>
            <a:endParaRPr lang="en-US" sz="1100" dirty="0"/>
          </a:p>
        </p:txBody>
      </p:sp>
      <p:sp>
        <p:nvSpPr>
          <p:cNvPr id="84" name="Text 82"/>
          <p:cNvSpPr txBox="1"/>
          <p:nvPr/>
        </p:nvSpPr>
        <p:spPr>
          <a:xfrm>
            <a:off x="7269480" y="50749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85" name="Text 83"/>
          <p:cNvSpPr txBox="1"/>
          <p:nvPr/>
        </p:nvSpPr>
        <p:spPr>
          <a:xfrm>
            <a:off x="7269480" y="52943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order_item_id  FK</a:t>
            </a:r>
            <a:endParaRPr 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7269480" y="55138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ing_id  FK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9601200" y="4754880"/>
            <a:ext cx="1920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88" name="Shape 86"/>
          <p:cNvSpPr/>
          <p:nvPr/>
        </p:nvSpPr>
        <p:spPr>
          <a:xfrm>
            <a:off x="9601200" y="475488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p/>
        </p:txBody>
      </p:sp>
      <p:sp>
        <p:nvSpPr>
          <p:cNvPr id="89" name="Text 87"/>
          <p:cNvSpPr txBox="1"/>
          <p:nvPr/>
        </p:nvSpPr>
        <p:spPr>
          <a:xfrm>
            <a:off x="9692640" y="48188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ing</a:t>
            </a:r>
            <a:endParaRPr lang="en-US" sz="1100" dirty="0"/>
          </a:p>
        </p:txBody>
      </p:sp>
      <p:sp>
        <p:nvSpPr>
          <p:cNvPr id="90" name="Text 88"/>
          <p:cNvSpPr txBox="1"/>
          <p:nvPr/>
        </p:nvSpPr>
        <p:spPr>
          <a:xfrm>
            <a:off x="9692640" y="50749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91" name="Text 89"/>
          <p:cNvSpPr txBox="1"/>
          <p:nvPr/>
        </p:nvSpPr>
        <p:spPr>
          <a:xfrm>
            <a:off x="9692640" y="52943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201168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p/>
        </p:txBody>
      </p:sp>
      <p:sp>
        <p:nvSpPr>
          <p:cNvPr id="93" name="Shape 91"/>
          <p:cNvSpPr/>
          <p:nvPr/>
        </p:nvSpPr>
        <p:spPr>
          <a:xfrm>
            <a:off x="438912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p/>
        </p:txBody>
      </p:sp>
      <p:sp>
        <p:nvSpPr>
          <p:cNvPr id="94" name="Shape 92"/>
          <p:cNvSpPr/>
          <p:nvPr/>
        </p:nvSpPr>
        <p:spPr>
          <a:xfrm>
            <a:off x="685800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p/>
        </p:txBody>
      </p:sp>
      <p:sp>
        <p:nvSpPr>
          <p:cNvPr id="95" name="Shape 93"/>
          <p:cNvSpPr/>
          <p:nvPr/>
        </p:nvSpPr>
        <p:spPr>
          <a:xfrm>
            <a:off x="928116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p/>
        </p:txBody>
      </p:sp>
      <p:sp>
        <p:nvSpPr>
          <p:cNvPr id="96" name="Shape 94"/>
          <p:cNvSpPr/>
          <p:nvPr/>
        </p:nvSpPr>
        <p:spPr>
          <a:xfrm>
            <a:off x="3291840" y="2688336"/>
            <a:ext cx="0" cy="32918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p/>
        </p:txBody>
      </p:sp>
      <p:sp>
        <p:nvSpPr>
          <p:cNvPr id="97" name="Shape 95"/>
          <p:cNvSpPr/>
          <p:nvPr/>
        </p:nvSpPr>
        <p:spPr>
          <a:xfrm>
            <a:off x="5486400" y="2688336"/>
            <a:ext cx="0" cy="32918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p/>
        </p:txBody>
      </p:sp>
      <p:sp>
        <p:nvSpPr>
          <p:cNvPr id="98" name="Shape 96"/>
          <p:cNvSpPr/>
          <p:nvPr/>
        </p:nvSpPr>
        <p:spPr>
          <a:xfrm>
            <a:off x="8229600" y="2468880"/>
            <a:ext cx="0" cy="54864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p/>
        </p:txBody>
      </p:sp>
      <p:sp>
        <p:nvSpPr>
          <p:cNvPr id="99" name="Shape 97"/>
          <p:cNvSpPr/>
          <p:nvPr/>
        </p:nvSpPr>
        <p:spPr>
          <a:xfrm>
            <a:off x="9281160" y="340156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p/>
        </p:txBody>
      </p:sp>
      <p:sp>
        <p:nvSpPr>
          <p:cNvPr id="100" name="Shape 98"/>
          <p:cNvSpPr/>
          <p:nvPr/>
        </p:nvSpPr>
        <p:spPr>
          <a:xfrm>
            <a:off x="9281160" y="51389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p/>
        </p:txBody>
      </p:sp>
      <p:sp>
        <p:nvSpPr>
          <p:cNvPr id="101" name="Shape 99"/>
          <p:cNvSpPr/>
          <p:nvPr/>
        </p:nvSpPr>
        <p:spPr>
          <a:xfrm>
            <a:off x="6967728" y="2103120"/>
            <a:ext cx="210312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p/>
        </p:txBody>
      </p:sp>
      <p:sp>
        <p:nvSpPr>
          <p:cNvPr id="102" name="Shape 100"/>
          <p:cNvSpPr/>
          <p:nvPr/>
        </p:nvSpPr>
        <p:spPr>
          <a:xfrm>
            <a:off x="6967728" y="2103120"/>
            <a:ext cx="0" cy="303580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p/>
        </p:txBody>
      </p:sp>
      <p:sp>
        <p:nvSpPr>
          <p:cNvPr id="103" name="Shape 101"/>
          <p:cNvSpPr/>
          <p:nvPr/>
        </p:nvSpPr>
        <p:spPr>
          <a:xfrm>
            <a:off x="6967728" y="5138928"/>
            <a:ext cx="210312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p/>
        </p:txBody>
      </p:sp>
      <p:sp>
        <p:nvSpPr>
          <p:cNvPr id="104" name="Text 102"/>
          <p:cNvSpPr txBox="1"/>
          <p:nvPr/>
        </p:nvSpPr>
        <p:spPr>
          <a:xfrm>
            <a:off x="274320" y="5852160"/>
            <a:ext cx="11643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항목에 옵션·제외 재료를 붙여 ‘그때 그 조합’을 그대로 보존한다.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화면설계서 — 키오스크 주문 흐름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화면설계서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" y="164592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키오스크 주문 한 줄 지도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8912" y="2029968"/>
            <a:ext cx="82296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438912" y="2267712"/>
            <a:ext cx="3639312" cy="727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 → 메뉴 →</a:t>
            </a:r>
            <a:endParaRPr lang="en-US" sz="1250" dirty="0"/>
          </a:p>
          <a:p>
            <a:pPr marL="0" indent="0" algn="l">
              <a:lnSpc>
                <a:spcPct val="145000"/>
              </a:lnSpc>
              <a:buNone/>
            </a:pPr>
            <a:r>
              <a:rPr sz="1250">
                <a:solidFill>
                  <a:srgbClr val="111827"/>
                </a:solidFill>
                <a:latin typeface="Pretendard"/>
              </a:rPr>
              <a:t>옵션·제외·수량 →</a:t>
            </a:r>
            <a:endParaRPr lang="en-US" sz="1250" dirty="0"/>
          </a:p>
          <a:p>
            <a:pPr marL="0" indent="0" algn="l">
              <a:lnSpc>
                <a:spcPct val="145000"/>
              </a:lnSpc>
              <a:buNone/>
            </a:pPr>
            <a:r>
              <a:rPr sz="1250">
                <a:solidFill>
                  <a:srgbClr val="111827"/>
                </a:solidFill>
                <a:latin typeface="Pretendard"/>
              </a:rPr>
              <a:t>장바구니 → 결제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38912" y="3232595"/>
            <a:ext cx="3639312" cy="49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단계를 나누되, 뒤로 가도</a:t>
            </a:r>
            <a:endParaRPr lang="en-US" sz="1250" dirty="0"/>
          </a:p>
          <a:p>
            <a:pPr marL="0" indent="0" algn="l">
              <a:lnSpc>
                <a:spcPct val="145000"/>
              </a:lnSpc>
              <a:buNone/>
            </a:pPr>
            <a:r>
              <a:rPr sz="1250">
                <a:solidFill>
                  <a:srgbClr val="111827"/>
                </a:solidFill>
                <a:latin typeface="Pretendard"/>
              </a:rPr>
              <a:t>선택은 유지한다.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38912" y="4023360"/>
            <a:ext cx="1188720" cy="256032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438912" y="40690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메뉴 목록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" y="4389120"/>
            <a:ext cx="1188720" cy="256032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438912" y="44348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메뉴 상세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8912" y="4754880"/>
            <a:ext cx="1188720" cy="256032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438912" y="48006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장바구니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79392" y="1517904"/>
            <a:ext cx="7479792" cy="44805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709160" y="1956816"/>
            <a:ext cx="2011680" cy="358444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720840" y="3721608"/>
            <a:ext cx="29260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7013448" y="1956816"/>
            <a:ext cx="2011680" cy="358444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9025128" y="3721608"/>
            <a:ext cx="29260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9317736" y="1956816"/>
            <a:ext cx="2011680" cy="3584448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 txBox="1"/>
          <p:nvPr/>
        </p:nvSpPr>
        <p:spPr>
          <a:xfrm>
            <a:off x="427939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화면 흐름 — 카테고리 선택 → 메뉴 선택 → 옵션 · 제외 재료 · 수량 → 장바구니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p/>
        </p:txBody>
      </p:sp>
      <p:sp>
        <p:nvSpPr>
          <p:cNvPr id="38" name="Text 36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칩 기준: 카테고리 · 옵션 정책 · 제외 재료 · 금액 확인  ·  Screen Bible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메뉴 목록 및 카테고리 선택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" y="1645920"/>
            <a:ext cx="5559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메뉴 목록 및 카테고리 선택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8912" y="2029968"/>
            <a:ext cx="82296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438912" y="2267712"/>
            <a:ext cx="555955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카테고리별 메뉴를 조회하고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>
                <a:solidFill>
                  <a:srgbClr val="111827"/>
                </a:solidFill>
                <a:latin typeface="Pretendard"/>
              </a:rPr>
              <a:t>이름 · 가격 · 이미지 · 품절을</a:t>
            </a:r>
            <a:endParaRPr lang="en-US" sz="1300" dirty="0"/>
          </a:p>
          <a:p>
            <a:pPr algn="l"/>
            <a:r>
              <a:rPr sz="1300">
                <a:solidFill>
                  <a:srgbClr val="111827"/>
                </a:solidFill>
                <a:latin typeface="Pretendard"/>
              </a:rPr>
              <a:t>한눈에 확인합니다.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438912" y="3020822"/>
            <a:ext cx="555955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원하는 메뉴를 선택해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>
                <a:solidFill>
                  <a:srgbClr val="111827"/>
                </a:solidFill>
                <a:latin typeface="Pretendard"/>
              </a:rPr>
              <a:t>상세로 이동합니다.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8912" y="4114800"/>
            <a:ext cx="5559552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640080" y="4261104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 메뉴는 선택 전에 막는다 — 주문 실패를 앞당기지 않는다.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99632" y="1517904"/>
            <a:ext cx="5559552" cy="40233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1" name="Shape 19"/>
          <p:cNvSpPr/>
          <p:nvPr/>
        </p:nvSpPr>
        <p:spPr>
          <a:xfrm>
            <a:off x="6812280" y="1737360"/>
            <a:ext cx="201168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12280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1080 × 1920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134856" y="1737360"/>
            <a:ext cx="201168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34856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 전환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134856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1080 × 1920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199632" y="5596128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· 카테고리 선택 · 품절 표시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조회 API(GET /api/kiosk/categories · menuList)는 구현되어 있고, 실 DB 응답 검증이 남아 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메뉴 상세 및 옵션 선택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" y="1645920"/>
            <a:ext cx="5559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메뉴 상세 및 옵션 선택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8912" y="2029968"/>
            <a:ext cx="82296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438912" y="2267712"/>
            <a:ext cx="555955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 · 선택 옵션을 정책(min/max)에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>
                <a:solidFill>
                  <a:srgbClr val="111827"/>
                </a:solidFill>
                <a:latin typeface="Pretendard"/>
              </a:rPr>
              <a:t>맞게 고릅니다.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" y="3020822"/>
            <a:ext cx="555955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제외 가능한 재료만 빼고,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>
                <a:solidFill>
                  <a:srgbClr val="111827"/>
                </a:solidFill>
                <a:latin typeface="Pretendard"/>
              </a:rPr>
              <a:t>수량을 조정합니다.</a:t>
            </a:r>
            <a:endParaRPr lang="en-US" sz="1300" dirty="0"/>
          </a:p>
          <a:p>
            <a:pPr algn="l"/>
            <a:r>
              <a:rPr sz="1300">
                <a:solidFill>
                  <a:srgbClr val="111827"/>
                </a:solidFill>
                <a:latin typeface="Pretendard"/>
              </a:rPr>
              <a:t>가격 변화는 선택과 함께 확인합니다.</a:t>
            </a:r>
          </a:p>
        </p:txBody>
      </p:sp>
      <p:sp>
        <p:nvSpPr>
          <p:cNvPr id="18" name="Shape 16"/>
          <p:cNvSpPr/>
          <p:nvPr/>
        </p:nvSpPr>
        <p:spPr>
          <a:xfrm>
            <a:off x="438912" y="4114800"/>
            <a:ext cx="5559552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640080" y="4261104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규칙 = 서버 재검증. 옵션·품절·수량을 주문 전에 다시 본다.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99632" y="1517904"/>
            <a:ext cx="5559552" cy="40233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1" name="Shape 19"/>
          <p:cNvSpPr/>
          <p:nvPr/>
        </p:nvSpPr>
        <p:spPr>
          <a:xfrm>
            <a:off x="6812280" y="1737360"/>
            <a:ext cx="201168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12280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상세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1080 × 1920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134856" y="1737360"/>
            <a:ext cx="201168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34856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선택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134856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1080 × 1920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199632" y="5596128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상세 · 옵션 선택 · 제외 재료 · 수량 변경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검증 API(POST /api/kiosk/cart/validate)가 서버에서 총액을 재계산합니다.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장바구니 및 결제 이동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14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" y="1645920"/>
            <a:ext cx="5559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장바구니 및 결제 이동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8912" y="2029968"/>
            <a:ext cx="82296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438912" y="2267712"/>
            <a:ext cx="555955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선택한 메뉴 · 옵션 · 제외 · 수량 ·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>
                <a:solidFill>
                  <a:srgbClr val="111827"/>
                </a:solidFill>
                <a:latin typeface="Pretendard"/>
              </a:rPr>
              <a:t>금액을 확인합니다.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" y="3020822"/>
            <a:ext cx="555955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내용을 검토한 뒤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>
                <a:solidFill>
                  <a:srgbClr val="111827"/>
                </a:solidFill>
                <a:latin typeface="Pretendard"/>
              </a:rPr>
              <a:t>결제 화면으로 이동합니다.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8912" y="4114800"/>
            <a:ext cx="5559552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640080" y="4261104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장바구니는 마지막 검산. 실패해도 선택은 유지한다. (시연: 결제 화면 이동까지)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99632" y="1517904"/>
            <a:ext cx="5559552" cy="40233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1" name="Shape 19"/>
          <p:cNvSpPr/>
          <p:nvPr/>
        </p:nvSpPr>
        <p:spPr>
          <a:xfrm>
            <a:off x="6812280" y="1737360"/>
            <a:ext cx="201168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12280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1080 × 1920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134856" y="1737360"/>
            <a:ext cx="201168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34856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화면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134856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1080 × 1920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199632" y="5596128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· 주문 금액 확인 · 결제 화면 이동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생성 API와 결제 승인 연동은 현재 구현 중이며, 완료 처리 결과는 아직 시연 범위가 아닙니다.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관리자 주문 관리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15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" y="164592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관리자 주문 관리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8912" y="2029968"/>
            <a:ext cx="82296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438912" y="2267712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보드와 주문 목록에서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>
                <a:solidFill>
                  <a:srgbClr val="111827"/>
                </a:solidFill>
                <a:latin typeface="Pretendard"/>
              </a:rPr>
              <a:t>번호 · 메뉴 · 상태를 확인합니다.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" y="3020822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상세에서 옵션 · 제외 재료까지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>
                <a:solidFill>
                  <a:srgbClr val="111827"/>
                </a:solidFill>
                <a:latin typeface="Pretendard"/>
              </a:rPr>
              <a:t>봅니다.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8912" y="4242816"/>
            <a:ext cx="3639312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640080" y="4389120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주문 → 운영 화면. 키오스크는 시작, Admin은 처리의 시작.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79392" y="1517904"/>
            <a:ext cx="7479792" cy="40233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1" name="Shape 19"/>
          <p:cNvSpPr/>
          <p:nvPr/>
        </p:nvSpPr>
        <p:spPr>
          <a:xfrm>
            <a:off x="4636008" y="1627632"/>
            <a:ext cx="6766560" cy="3803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36008" y="325526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화면 캡처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636008" y="35112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1920 × 1080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27939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주문 · 주문 관리 · 주문 상세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조회 · Live · 상태 변경 API 경로는 구현되어 있으며, 통합 테스트가 진행 중입니다.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관리자 메뉴 관리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16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101584" y="164592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관리자 메뉴 관리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01584" y="2029968"/>
            <a:ext cx="82296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8101584" y="2267712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· 상세 · 카테고리를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>
                <a:solidFill>
                  <a:srgbClr val="111827"/>
                </a:solidFill>
                <a:latin typeface="Pretendard"/>
              </a:rPr>
              <a:t>조회합니다.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101584" y="3020822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정책은 고객 주문 화면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>
                <a:solidFill>
                  <a:srgbClr val="111827"/>
                </a:solidFill>
                <a:latin typeface="Pretendard"/>
              </a:rPr>
              <a:t>데이터의 기준이 됩니다.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01584" y="4242816"/>
            <a:ext cx="3639312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8302752" y="4389120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 데이터가 흔들리면 Kiosk도 흔들린다. (CRUD 범위는 구현 현황에 맞춤)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912" y="1517904"/>
            <a:ext cx="7479792" cy="40233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1" name="Shape 19"/>
          <p:cNvSpPr/>
          <p:nvPr/>
        </p:nvSpPr>
        <p:spPr>
          <a:xfrm>
            <a:off x="795528" y="1627632"/>
            <a:ext cx="6766560" cy="3803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5528" y="325526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화면 캡처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95528" y="35112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1920 × 1080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3891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· 메뉴 상세 · 품절 관리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조회는 API 연동, 등록 · 수정 · 삭제는 mock 제거 작업이 진행 중입니다.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수행 프로세스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95431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1378311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8311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요구사항 분석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78311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Bible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32791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133959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3316839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3316839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UI/DB 설계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316839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· ERD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71319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5072487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5255367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5255367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키오스크 개발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255367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화면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09847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7011015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7193895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7193895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관리자 개발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193895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화면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748375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8949543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 txBox="1"/>
          <p:nvPr/>
        </p:nvSpPr>
        <p:spPr>
          <a:xfrm>
            <a:off x="9132423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9132423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백엔드 개발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132423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API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164695" y="3264576"/>
            <a:ext cx="1737360" cy="1188720"/>
          </a:xfrm>
          <a:prstGeom prst="rect">
            <a:avLst/>
          </a:prstGeom>
          <a:solidFill>
            <a:srgbClr val="F5FBE0"/>
          </a:solidFill>
          <a:ln w="19050">
            <a:solidFill>
              <a:srgbClr val="B5E30F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 txBox="1"/>
          <p:nvPr/>
        </p:nvSpPr>
        <p:spPr>
          <a:xfrm>
            <a:off x="2347575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2347575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1차 통합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2347575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· 메뉴 API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902055" y="383150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4103223" y="326457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 txBox="1"/>
          <p:nvPr/>
        </p:nvSpPr>
        <p:spPr>
          <a:xfrm>
            <a:off x="4286103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2000" dirty="0"/>
          </a:p>
        </p:txBody>
      </p:sp>
      <p:sp>
        <p:nvSpPr>
          <p:cNvPr id="44" name="Text 42"/>
          <p:cNvSpPr txBox="1"/>
          <p:nvPr/>
        </p:nvSpPr>
        <p:spPr>
          <a:xfrm>
            <a:off x="4286103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DB 연동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4286103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· MySQL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840583" y="383150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6041751" y="326457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 txBox="1"/>
          <p:nvPr/>
        </p:nvSpPr>
        <p:spPr>
          <a:xfrm>
            <a:off x="6224631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2000" dirty="0"/>
          </a:p>
        </p:txBody>
      </p:sp>
      <p:sp>
        <p:nvSpPr>
          <p:cNvPr id="49" name="Text 47"/>
          <p:cNvSpPr txBox="1"/>
          <p:nvPr/>
        </p:nvSpPr>
        <p:spPr>
          <a:xfrm>
            <a:off x="6224631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테스트 QA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6224631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Bruno · 브라우저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779111" y="383150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7980279" y="326457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 txBox="1"/>
          <p:nvPr/>
        </p:nvSpPr>
        <p:spPr>
          <a:xfrm>
            <a:off x="8163159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2000" dirty="0"/>
          </a:p>
        </p:txBody>
      </p:sp>
      <p:sp>
        <p:nvSpPr>
          <p:cNvPr id="54" name="Text 52"/>
          <p:cNvSpPr txBox="1"/>
          <p:nvPr/>
        </p:nvSpPr>
        <p:spPr>
          <a:xfrm>
            <a:off x="8163159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발표 시연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8163159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정리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38912" y="5120640"/>
            <a:ext cx="11313871" cy="566928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p/>
        </p:txBody>
      </p:sp>
      <p:sp>
        <p:nvSpPr>
          <p:cNvPr id="57" name="Text 55"/>
          <p:cNvSpPr txBox="1"/>
          <p:nvPr/>
        </p:nvSpPr>
        <p:spPr>
          <a:xfrm>
            <a:off x="438912" y="5285232"/>
            <a:ext cx="113138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요구 → 설계 → 개발 → 통합 → DB → QA → 시연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피드백 및 반영 내용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18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1554480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38912" y="19385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07.14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10512" y="1554480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975104" y="16642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994D4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BEFORE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975104" y="1920240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path 형식과 camelCase / snake_case가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통일되어 있지 않다. 전역 상태도 과다하다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02552" y="2011680"/>
            <a:ext cx="274320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9" name="Shape 17"/>
          <p:cNvSpPr/>
          <p:nvPr/>
        </p:nvSpPr>
        <p:spPr>
          <a:xfrm>
            <a:off x="7114032" y="1554480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78624" y="16642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AFTER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278624" y="1920240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경로 · 네이밍 규칙을 명세로 통일하고,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전역 상태를 주문 세션 하나로 축소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" y="2670048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38912" y="305409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07.23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810512" y="2670048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975104" y="277977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994D4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BEFORE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975104" y="3035808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DTO와 Mapper 구조를 정리하고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수직 슬라이스 한 경로로 완성하라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02552" y="3127248"/>
            <a:ext cx="274320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8" name="Shape 26"/>
          <p:cNvSpPr/>
          <p:nvPr/>
        </p:nvSpPr>
        <p:spPr>
          <a:xfrm>
            <a:off x="7114032" y="2670048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78624" y="277977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AFTER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278624" y="3035808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dto/request · dto/response 분리,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인터페이스 Mapper로 전환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38912" y="3785616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38912" y="416966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07.24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810512" y="3785616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975104" y="389534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994D4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BEFORE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975104" y="4151376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문서의 테이블 정의와 실제 MySQL 스키마가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일치하는지 비교가 필요하다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702552" y="4242816"/>
            <a:ext cx="274320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7" name="Shape 35"/>
          <p:cNvSpPr/>
          <p:nvPr/>
        </p:nvSpPr>
        <p:spPr>
          <a:xfrm>
            <a:off x="7114032" y="3785616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278624" y="389534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AFTER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278624" y="4151376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 · API 명세를 실제 스키마와 대조해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24개 테이블 · FK 39건 기준으로 정리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38912" y="4901184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38912" y="52852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08.04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810512" y="4901184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975104" y="501091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994D4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BEFORE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1975104" y="5266944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장바구니에서 주문 생성 API까지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실연결하고 DB로 검증하라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702552" y="5358384"/>
            <a:ext cx="274320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6" name="Shape 44"/>
          <p:cNvSpPr/>
          <p:nvPr/>
        </p:nvSpPr>
        <p:spPr>
          <a:xfrm>
            <a:off x="7114032" y="4901184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278624" y="501091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AFTER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7278624" y="5266944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검증 API 서버 재계산 구현,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생성 · 결제 승인 연동은 진행 중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438912" y="5998464"/>
            <a:ext cx="113138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— 회의록 2026-W29 · W30 · W32 「강사 피드백」 항목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결과물 첨부 자료 — 화면 결과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첨부 자료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19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78408" y="1554480"/>
            <a:ext cx="159105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978408" y="269748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978408" y="295351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: 16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38912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및 카테고리 선택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00984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3840480" y="1554480"/>
            <a:ext cx="159105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3840480" y="269748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840480" y="295351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: 16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300984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· 제외 재료 · 수량 선택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63056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163056" y="2221992"/>
            <a:ext cx="267004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6163056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163056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163056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주문 관리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025128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9025128" y="2221992"/>
            <a:ext cx="267004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9025128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025128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9025128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메뉴 관리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8912" y="4754880"/>
            <a:ext cx="5559552" cy="1426464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p/>
        </p:txBody>
      </p:sp>
      <p:sp>
        <p:nvSpPr>
          <p:cNvPr id="35" name="Text 33"/>
          <p:cNvSpPr txBox="1"/>
          <p:nvPr/>
        </p:nvSpPr>
        <p:spPr>
          <a:xfrm>
            <a:off x="64008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대표 시연 흐름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212080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→ 옵션·제외·수량 → 장바구니 → (주문) → Admin 확인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5797296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[시연 영상 제출 시 파일명 또는 링크 입력]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99632" y="4754880"/>
            <a:ext cx="555955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0080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기타 참고 자료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0" y="5212080"/>
            <a:ext cx="5157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Bible · Screen Bible · API 명세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 · WBS · Bruno API 테스트 자료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화면 흐름 · GitHub 저장소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결과물 첨부 자료 — 설계 · 검증 산출물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첨부 자료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78408" y="1554480"/>
            <a:ext cx="159105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978408" y="269748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978408" y="295351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: 16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38912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키오스크 화면 설계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00984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3300984" y="2221992"/>
            <a:ext cx="267004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3300984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300984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300984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옵션 데이터 모델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63056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163056" y="2221992"/>
            <a:ext cx="267004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6163056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163056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163056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· 결제 데이터 모델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025128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9025128" y="2221992"/>
            <a:ext cx="267004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9025128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025128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9025128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Bruno API · DB 확인 자료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8912" y="4754880"/>
            <a:ext cx="5559552" cy="1426464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p/>
        </p:txBody>
      </p:sp>
      <p:sp>
        <p:nvSpPr>
          <p:cNvPr id="35" name="Text 33"/>
          <p:cNvSpPr txBox="1"/>
          <p:nvPr/>
        </p:nvSpPr>
        <p:spPr>
          <a:xfrm>
            <a:off x="64008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검증 범위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212080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· 데이터 · 테스트 자료를 같이 남겨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sz="1200">
                <a:solidFill>
                  <a:srgbClr val="FFFFFF"/>
                </a:solidFill>
                <a:latin typeface="Pretendard"/>
              </a:rPr>
              <a:t>화면과 흐름을 추적했다.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5797296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[검증 결과 요약 입력]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99632" y="4754880"/>
            <a:ext cx="555955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0080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산출물 목록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0" y="5212080"/>
            <a:ext cx="5157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화면 흐름 · Screen Bible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옵션 ERD · 주문 · 결제 ERD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Bruno 컬렉션 · MySQL 조회 결과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자체 평가 의견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자체 평가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1554480"/>
            <a:ext cx="3639312" cy="4480560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40080" y="1737360"/>
            <a:ext cx="3236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현재 단계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048256"/>
            <a:ext cx="3236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 검증</a:t>
            </a:r>
            <a:endParaRPr lang="en-US" sz="2600" dirty="0"/>
          </a:p>
          <a:p>
            <a:pPr marL="0" indent="0" algn="l">
              <a:lnSpc>
                <a:spcPct val="120000"/>
              </a:lnSpc>
              <a:buNone/>
            </a:pPr>
            <a:r>
              <a:rPr sz="2600" b="1">
                <a:solidFill>
                  <a:srgbClr val="FFFFFF"/>
                </a:solidFill>
                <a:latin typeface="Pretendard"/>
              </a:rPr>
              <a:t>진행 중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40080" y="3145536"/>
            <a:ext cx="3236976" cy="18288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85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3566160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WBS 항목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24281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1737360" y="4407408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테이블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0840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1737360" y="5248656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저장소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669280"/>
            <a:ext cx="3236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— wbs.md · 아삭_mysql.sql · 저장소 baseline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79392" y="1554480"/>
            <a:ext cx="7479792" cy="1389888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4480560" y="1719072"/>
            <a:ext cx="7077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잘한 점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480560" y="2084832"/>
            <a:ext cx="7132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문서·Kiosk·Admin·Backend를 저장소로 나누고, 옵션·제외까지 담은 데이터 모델을 설계했다.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279392" y="3090672"/>
            <a:ext cx="747979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279392" y="3090672"/>
            <a:ext cx="45720" cy="138988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4480560" y="3255264"/>
            <a:ext cx="7077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보완할 점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480560" y="3621024"/>
            <a:ext cx="7132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생성·결제 승인 E2E와 Admin mock 제거·실연동을 끝까지 검증해야 한다.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279392" y="4626864"/>
            <a:ext cx="747979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4279392" y="4626864"/>
            <a:ext cx="45720" cy="1389888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4480560" y="4791456"/>
            <a:ext cx="7077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프로젝트를 통해 배운 점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480560" y="5157216"/>
            <a:ext cx="7132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화면·API·DB는 각각 통과해도, 같은 주문번호로 한 줄로 이을 때 진짜 검증이 된다.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43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100584" cy="1444752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" name="Shape 1"/>
          <p:cNvSpPr/>
          <p:nvPr/>
        </p:nvSpPr>
        <p:spPr>
          <a:xfrm>
            <a:off x="1920240" y="4663440"/>
            <a:ext cx="100584" cy="1444752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822960"/>
            <a:ext cx="100584" cy="1444752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0" y="4480560"/>
            <a:ext cx="100584" cy="1444752"/>
          </a:xfrm>
          <a:prstGeom prst="rect">
            <a:avLst/>
          </a:prstGeom>
          <a:solidFill>
            <a:srgbClr val="B5E30F">
              <a:alpha val="30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0" y="2286000"/>
            <a:ext cx="121916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샐러드 스마트 키오스크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0" y="3108960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선택 → 옵션 · 제외 재료 · 수량 선택 → 장바구니 → 주문 관리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67528" y="3712464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3091</Words>
  <Application>Microsoft Office PowerPoint</Application>
  <PresentationFormat>와이드스크린</PresentationFormat>
  <Paragraphs>627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8" baseType="lpstr">
      <vt:lpstr>Pretendard</vt:lpstr>
      <vt:lpstr>Pretendard SemiBold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ASAK : 샐러드 스마트 키오스크</dc:title>
  <dc:subject>PptxGenJS Presentation</dc:subject>
  <dc:creator>TEAM ASAK</dc:creator>
  <cp:lastModifiedBy>Administrator</cp:lastModifiedBy>
  <cp:revision>9</cp:revision>
  <dcterms:created xsi:type="dcterms:W3CDTF">2026-08-07T09:36:12Z</dcterms:created>
  <dcterms:modified xsi:type="dcterms:W3CDTF">2026-08-11T05:38:15Z</dcterms:modified>
</cp:coreProperties>
</file>
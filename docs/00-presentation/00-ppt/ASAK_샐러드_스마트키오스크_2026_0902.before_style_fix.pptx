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embedTrueTypeFonts="1" autoCompressPictures="0">
  <ns0:sldMasterIdLst>
    <ns0:sldMasterId id="2147483648" ns1:id="rId1"/>
  </ns0:sldMasterIdLst>
  <ns0:notesMasterIdLst>
    <ns0:notesMasterId ns1:id="rId26"/>
  </ns0:notes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84" ns1:id="rId37"/>
    <ns0:sldId id="292" ns1:id="rId45"/>
    <ns0:sldId id="288" ns1:id="rId41"/>
    <ns0:sldId id="285" ns1:id="rId38"/>
    <ns0:sldId id="286" ns1:id="rId39"/>
    <ns0:sldId id="270" ns1:id="rId16"/>
    <ns0:sldId id="289" ns1:id="rId42"/>
    <ns0:sldId id="290" ns1:id="rId43"/>
    <ns0:sldId id="291" ns1:id="rId44"/>
    <ns0:sldId id="256" ns1:id="rId20"/>
    <ns0:sldId id="273" ns1:id="rId21"/>
    <ns0:sldId id="274" ns1:id="rId22"/>
    <ns0:sldId id="275" ns1:id="rId23"/>
    <ns0:sldId id="276" ns1:id="rId24"/>
    <ns0:sldId id="277" ns1:id="rId25"/>
  </ns0:sldIdLst>
  <ns0:sldSz cx="12192000" cy="6858000"/>
  <ns0:notesSz cx="6858000" cy="12192000"/>
  <ns0:embeddedFontLst>
    <ns0:embeddedFont>
      <ns0:font typeface="Pretendard" panose="02000503000000020004" pitchFamily="50" charset="-127"/>
      <ns0:regular ns1:id="rId27"/>
      <ns0:bold ns1:id="rId28"/>
    </ns0:embeddedFont>
  </ns0:embeddedFontLst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B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6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6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14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8.xml"/><Relationship Id="rId41" Type="http://schemas.openxmlformats.org/officeDocument/2006/relationships/slide" Target="slides/slide16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화면·서버를 연결한다. 8/3~8/14 실 API·DB 연동, 8/17~8/21 RTOS, 8/24 이후 통합 테스트·문서화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활용 기술. 실제 package.json 기준. 외부 API는 Cloudinary 이미지 API, Figma API/MCP 연동을 별도 표기하고, 결제는 실 PG가 아닌 가상 결제 REST API임을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구조. React Kiosk/Admin → Spring Boot REST API → MySQL. KSD 실 API·DB 연동 이후 8/17~8/21 RTOS Simulator를 영수증/장치 이벤트 중심으로 연결할 예정이며, 현재 완료 기능처럼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수행 프로세스. 06 1차 통합 → 07 DB 연동 → 08 RTOS 연동 → 09 테스트 QA → 10 발표 시연 순서. RTOS는 실 API·DB 연동 이후 단계로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0.jpg"/><Relationship Id="rId10" Type="http://schemas.openxmlformats.org/officeDocument/2006/relationships/image" Target="../media/image22.jpg"/><Relationship Id="rId11" Type="http://schemas.openxmlformats.org/officeDocument/2006/relationships/image" Target="../media/image2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2.jpg"/><Relationship Id="rId5" Type="http://schemas.openxmlformats.org/officeDocument/2006/relationships/image" Target="../media/image2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3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20.jpg"/><Relationship Id="rId8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</a:t>
            </a:r>
            <a:r>
              <a:rPr lang="ko-KR" alt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커스터마이징을 더 정확하고 편리한 주문 경험으로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시작한 이유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및 담당 기능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설계부터 구현까지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 및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개선 방향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옵션 정책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상태와 수량 제한을 주문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화면뿐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아니라 서버 검증도 동일하게 적용했습니다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 화면에서 확인할 수 있도록 구성했습니다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15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고객은 복잡한 옵션을 순서대로 쉽게 선택하고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관리자는 주문과 메뉴 상태를 하나의 운영 화면에서 확인할 수 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이를 통해 주문 과정에서 발생할 수 있는 입력 오류를 줄이고자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샐러드는 메뉴 선택 이후에도 옵션 추가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제외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조절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등여러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 과정이 필요합니다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ASAK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는 이러한 복잡한 주문 과정을 단계별로 구성해사용자의 주문 실수를 줄이는 것을 목표로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 팀으로 구성하여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중심으로 역할을 분담하고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연동과 통합 테스트는 함께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678418" cy="2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Documentation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Admin </a:t>
            </a:r>
            <a:r>
              <a:rPr lang="ko-KR" altLang="en-US" sz="1150" dirty="0">
                <a:latin typeface="Pretendard"/>
              </a:rPr>
              <a:t>화면 기획 및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Live </a:t>
            </a:r>
            <a:r>
              <a:rPr lang="ko-KR" altLang="en-US" sz="1150" dirty="0">
                <a:latin typeface="Pretendard"/>
              </a:rPr>
              <a:t>주문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주문 관리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메뉴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품절 관리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관리자 </a:t>
            </a: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</a:t>
            </a:r>
            <a:r>
              <a:rPr lang="en-US" altLang="ko-KR" sz="1150" dirty="0">
                <a:latin typeface="Pretendard"/>
              </a:rPr>
              <a:t>DB </a:t>
            </a:r>
            <a:r>
              <a:rPr lang="ko-KR" altLang="en-US" sz="1150" dirty="0">
                <a:latin typeface="Pretendard"/>
              </a:rPr>
              <a:t>구조 반영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Figma · Screen Bible · WBS · </a:t>
            </a:r>
            <a:r>
              <a:rPr lang="ko-KR" altLang="en-US" sz="1150" dirty="0">
                <a:latin typeface="Pretendard"/>
              </a:rPr>
              <a:t>발표 자료 관리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Kiosk </a:t>
            </a:r>
            <a:r>
              <a:rPr lang="ko-KR" altLang="en-US" sz="1150" dirty="0">
                <a:latin typeface="Pretendard"/>
              </a:rPr>
              <a:t>주문 프로세스 및 옵션 </a:t>
            </a:r>
            <a:r>
              <a:rPr lang="en-US" altLang="ko-KR" sz="1150" dirty="0">
                <a:latin typeface="Pretendard"/>
              </a:rPr>
              <a:t>UI </a:t>
            </a:r>
            <a:r>
              <a:rPr lang="ko-KR" altLang="en-US" sz="1150" dirty="0">
                <a:latin typeface="Pretendard"/>
              </a:rPr>
              <a:t>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필수</a:t>
            </a:r>
            <a:r>
              <a:rPr lang="en-US" altLang="ko-KR" sz="1150" dirty="0">
                <a:latin typeface="Pretendard"/>
              </a:rPr>
              <a:t>/</a:t>
            </a:r>
            <a:r>
              <a:rPr lang="ko-KR" altLang="en-US" sz="1150" dirty="0">
                <a:latin typeface="Pretendard"/>
              </a:rPr>
              <a:t>선택 옵션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재료 제외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수량 제한 처리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장바구니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결제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완료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타임아웃 화면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테스트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시연 시나리오 검증</a:t>
            </a:r>
          </a:p>
        </p:txBody>
      </p:sp>
      <p:sp>
        <p:nvSpPr>
          <p:cNvPr id="32" name="Text 100">
            <a:extLst>
              <a:ext uri="{FF2B5EF4-FFF2-40B4-BE49-F238E27FC236}">
                <a16:creationId xmlns:a16="http://schemas.microsoft.com/office/drawing/2014/main" id="{A4971B6E-3F02-4912-8117-768CDFB8E474}"/>
              </a:ext>
            </a:extLst>
          </p:cNvPr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역할을 분담하되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및 최종 검증은 공동으로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요구사항과 문서를 먼저 정의한 뒤 </a:t>
            </a:r>
            <a:endParaRPr lang="en-US" altLang="ko-KR" sz="1300" dirty="0">
              <a:solidFill>
                <a:srgbClr val="6B7280"/>
              </a:solidFill>
              <a:latin typeface="Pretendard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화면 구현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API/DB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RTOS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통합 테스트 순으로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300" dirty="0">
              <a:solidFill>
                <a:srgbClr val="6B7280"/>
              </a:solidFill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과정과 결과를 기술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프로세스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산출물의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 관점에서 정리했습니다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/>
              </a:rPr>
              <a:t>React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기반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Kiosk/Admin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과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Spring Boot · </a:t>
            </a:r>
            <a:r>
              <a:rPr lang="en-US" sz="1150" dirty="0" err="1">
                <a:solidFill>
                  <a:srgbClr val="111827"/>
                </a:solidFill>
                <a:latin typeface="Pretendard"/>
              </a:rPr>
              <a:t>MyBatis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 · MySQL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을 활용한 서비스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옵션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재료 제외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수량 선택부터 장바구니와 관리자 주문 관리까지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요구사항 분석 → 설계 → 개발 → 연동 →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화면 흐름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데이터 구조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서버 검증을 반복적으로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구현 화면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ERD · API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Bible · WBS</a:t>
            </a:r>
            <a:endParaRPr lang="en-US" sz="1150" dirty="0">
              <a:solidFill>
                <a:srgbClr val="111827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2400" b="1" dirty="0">
                <a:solidFill>
                  <a:srgbClr val="111827"/>
                </a:solidFill>
                <a:latin typeface="Pretendard"/>
              </a:rPr>
              <a:t>개발 환경 및 기술 스택</a:t>
            </a:r>
            <a:endParaRPr lang="ko-KR" alt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Kiosk · Admin · Backend</a:t>
            </a:r>
            <a:r>
              <a:rPr lang="ko-KR" altLang="en-US" sz="1100" dirty="0">
                <a:solidFill>
                  <a:srgbClr val="6B7280"/>
                </a:solidFill>
                <a:latin typeface="Pretendard"/>
              </a:rPr>
              <a:t>를 기준으로 실제 프로젝트에 적용한 기술입니다</a:t>
            </a: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세션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옵션 조회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장바구니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 화면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이미지 연동</a:t>
            </a:r>
            <a:endParaRPr lang="ko-KR" alt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실시간 주문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품절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매출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결제수단</a:t>
            </a:r>
            <a:endParaRPr lang="ko-KR" alt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REST API · Kiosk/Admin API 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비즈니스 로직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데이터 검증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 err="1">
                <a:solidFill>
                  <a:srgbClr val="28322D"/>
                </a:solidFill>
                <a:latin typeface="Pretendard"/>
              </a:rPr>
              <a:t>Cloudinary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이미지 업로드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제공 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· MySQL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데이터 관리</a:t>
            </a:r>
            <a:endParaRPr lang="ko-KR" alt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형상관리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화면 설계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API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일정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문서 관리</a:t>
            </a:r>
            <a:endParaRPr lang="ko-KR" alt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  <a:endParaRPr lang="en-US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 • Figma API/MCP :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디자인과 구현 화면 비교 및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UI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개선</a:t>
            </a:r>
            <a:endParaRPr lang="en-US" altLang="ko-KR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결제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PG: </a:t>
            </a:r>
            <a:r>
              <a:rPr lang="ko-KR" altLang="en-US"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현재는 가상 결제 시뮬레이션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altLang="ko-KR" sz="950" dirty="0">
              <a:solidFill>
                <a:srgbClr val="2433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프로세스 담당</a:t>
            </a:r>
            <a:endParaRPr lang="ko-KR" alt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주문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관리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</a:t>
            </a:r>
            <a:endParaRPr lang="en-US" altLang="ko-KR" sz="950" dirty="0">
              <a:solidFill>
                <a:srgbClr val="1A1A1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관리</a:t>
            </a:r>
            <a:endParaRPr lang="ko-KR" alt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Kiosk/Admin REST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로직 </a:t>
            </a:r>
            <a:r>
              <a:rPr lang="en-US" altLang="ko-KR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</a:t>
            </a:r>
            <a:r>
              <a:rPr lang="en-US" sz="9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메뉴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옵션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주문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결제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공통코드 데이터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1386598" cy="133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869" dirty="0">
                <a:solidFill>
                  <a:srgbClr val="6B7280"/>
                </a:solidFill>
                <a:latin typeface="Pretendard"/>
              </a:rPr>
              <a:t>영수증 출력 및 장치 이벤트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100">
            <a:extLst>
              <a:ext uri="{FF2B5EF4-FFF2-40B4-BE49-F238E27FC236}">
                <a16:creationId xmlns:a16="http://schemas.microsoft.com/office/drawing/2014/main" id="{6FE2EA24-5AE8-4837-8DC3-3900CC6A3833}"/>
              </a:ext>
            </a:extLst>
          </p:cNvPr>
          <p:cNvSpPr txBox="1"/>
          <p:nvPr/>
        </p:nvSpPr>
        <p:spPr>
          <a:xfrm>
            <a:off x="274320" y="596041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RTOS Simulator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영수증 출력과 장치 이벤트를 중심으로 연동을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99616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49961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5636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039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499616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49961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563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819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20391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258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478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697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9169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99616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499616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5636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8196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0391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585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4780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49961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49961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563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819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2039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697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499616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49961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563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819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697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94176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69417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14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4233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453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672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892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51114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694176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69417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758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40142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4233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672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892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51114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5330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69417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69417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758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453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672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694176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69417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758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40142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233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4531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672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892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111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871216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760720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테이블 중 메뉴와 옵션 흐름을 설명하는 핵심 테이블만 표시했습니다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8CB08805-8C0B-41C3-B2BF-C23315CC1788}"/>
              </a:ext>
            </a:extLst>
          </p:cNvPr>
          <p:cNvSpPr txBox="1"/>
          <p:nvPr/>
        </p:nvSpPr>
        <p:spPr>
          <a:xfrm>
            <a:off x="438912" y="10339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유형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상태는 공통코드 테이블을 통해 일관되게 관리하도록 구성했습니다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선택 → 메뉴 선택 →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설정 → 장바구니 → 결제</a:t>
            </a:r>
            <a:endParaRPr lang="ko-KR" alt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주문 과정을 단계별로 나누어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선택해야 할 항목에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집중할 수 있도록 구성했습니다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단계로 이동하더라도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선택 값은 유지됩니다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7956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선택 구조와 선택 값 유지가 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UX</a:t>
            </a: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핵심입니다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44568" y="11653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44568" y="1211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0756" y="11729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810756" y="12186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1140" y="1161288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21140" y="1207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5656" y="1517904"/>
            <a:ext cx="2011680" cy="3584448"/>
          </a:xfrm>
          <a:prstGeom prst="rect">
            <a:avLst/>
          </a:prstGeom>
        </p:spPr>
      </p:pic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1517904"/>
            <a:ext cx="2011680" cy="3584448"/>
          </a:xfrm>
          <a:prstGeom prst="rect">
            <a:avLst/>
          </a:prstGeom>
        </p:spPr>
      </p:pic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4232" y="1517904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메뉴명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선택하면 상세 주문 화면으로 이동합니다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품절된 메뉴는 선택할 수 없도록 처리하여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과정에서 발생할 수 있는 오류를 사전에 방지했습니다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정책에 따라 필수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옵션을 구분해 제공합니다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선택적으로 제거할 수 있으며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수량과 옵션에 따른 가격 변화도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81048" y="3502152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장바구니 이동 전 서버에서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옵션 정책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상태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수량을 다시 검증합니다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/api/kiosk/cart/validate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통해 서버 기준으로 주문 가능 여부와 금액을 다시 계산합니다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t>메뉴 및 옵션 품절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메뉴와 옵션의 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t>주문 화면에서 각각 구분하여 표시합니다.</a:t>
            </a:r>
          </a:p>
          <a:p/>
          <a:p>
            <a:r>
              <a:t>품절된 메뉴는 주문을 제한하고,</a:t>
            </a:r>
          </a:p>
          <a:p>
            <a:r>
              <a:t>일부 옵션만 품절된 경우에는</a:t>
            </a:r>
          </a:p>
          <a:p>
            <a:r>
              <a:t>해당 옵션만 선택할 수 없도록 처리했습니다.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품절 범위에 따라 주문 가능 여부를 다르게 제어하여 불필요한 주문 실패를 방지했습니다.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t>메뉴 전체 품절 · 개별 옵션 품절 상태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t>결제 프로세스 및 결제수단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주문 내역을 최종 확인한 뒤</a:t>
            </a:r>
            <a:endParaRPr lang="en-US" sz="1300" dirty="0"/>
          </a:p>
          <a:p>
            <a:r>
              <a:t>결제수단을 선택하고 결제를 진행합니다.</a:t>
            </a:r>
          </a:p>
          <a:p/>
          <a:p>
            <a:r>
              <a:t>결제 진행 상태와 완료 결과를</a:t>
            </a:r>
          </a:p>
          <a:p>
            <a:r>
              <a:t>단계별 화면으로 구분하여</a:t>
            </a:r>
          </a:p>
          <a:p>
            <a:r>
              <a:t>사용자가 현재 상태를 확인할 수 있도록 구성했습니다.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주문 확인 → 결제수단 선택 → 결제 진행 → 결제 완료의 흐름을 단계별로 구성했습니다.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t>주문 내역 확인 · 결제수단 선택 · 결제 진행 · 결제 완료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t>현재 결제는 실제 PG가 아닌 가상 결제 프로세스로 구현했습니다.</a:t>
            </a:r>
            <a:endParaRPr lang="en-US" sz="1200" dirty="0"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80160"/>
            <a:ext cx="2700000" cy="38000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000" y="1280160"/>
            <a:ext cx="2700000" cy="38000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088" y="1280160"/>
            <a:ext cx="2700000" cy="38000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176" y="1280160"/>
            <a:ext cx="27000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t>예외 상황 및 사용자 상태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키오스크 사용 중 발생할 수 있는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t>입력 누락 · 장바구니 상태 · 사용자 미응답 상황을</a:t>
            </a:r>
          </a:p>
          <a:p>
            <a:r>
              <a:t>각각 구분하여 안내합니다.</a:t>
            </a:r>
          </a:p>
          <a:p/>
          <a:p>
            <a:r>
              <a:t>단순 오류 메시지가 아니라</a:t>
            </a:r>
          </a:p>
          <a:p>
            <a:r>
              <a:t>사용자가 다음 행동을 알 수 있도록</a:t>
            </a:r>
          </a:p>
          <a:p>
            <a:r>
              <a:t>상황별 안내 팝업을 구성했습니다.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사용자의 실수를 사전에 방지하고, 중단된 주문 흐름을 자연스럽게 이어갈 수 있도록 처리했습니다.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t>타임아웃 · 장바구니 비우기 · 빈 장바구니 · 결제수단 미선택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112" y="1180000"/>
            <a:ext cx="2900000" cy="2100000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000" y="1180000"/>
            <a:ext cx="2900000" cy="2100000"/>
          </a:xfrm>
          <a:prstGeom prst="rect">
            <a:avLst/>
          </a:prstGeom>
        </p:spPr>
      </p:pic>
      <p:pic>
        <p:nvPicPr>
          <p:cNvPr id="44" name="Picture 4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3112" y="3500000"/>
            <a:ext cx="2900000" cy="2100000"/>
          </a:xfrm>
          <a:prstGeom prst="rect">
            <a:avLst/>
          </a:prstGeom>
        </p:spPr>
      </p:pic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0000" y="3500000"/>
            <a:ext cx="290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t>주문 완료 및 영수증 출력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결제가 완료되면 주문 완료 상태를 안내하고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t>영수증 출력 과정을 사용자에게 표시합니다.</a:t>
            </a:r>
          </a:p>
          <a:p/>
          <a:p>
            <a:r>
              <a:t>주문 종료 이후에도</a:t>
            </a:r>
          </a:p>
          <a:p>
            <a:r>
              <a:t>출력 상태를 확인할 수 있도록</a:t>
            </a:r>
          </a:p>
          <a:p>
            <a:r>
              <a:t>상태 안내 UI를 구성했습니다.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t>결제 완료 → 주문 완료 안내 → 영수증 출력까지 주문 종료 흐름을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t>결제 완료 · 영수증 출력 상태 안내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640080" y="585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RTOS Simulator와 연동하여 영수증 출력 이벤트를 처리하고, 출력 상태를 Kiosk 화면에 반영했습니다.</a:t>
            </a:r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화면과 주문 목록에서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주문번호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메뉴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상태를 확인하고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고객이 선택한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함께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28472" y="363016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상태를 한눈에 파악하고 관리할 수 있도록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중심의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구성했습니다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생성된 주문 정보를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조회하고 관리하는 흐름을 구현했습니다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t>관리자 품절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t>Admin 품절 관리 → 서버 데이터 반영 → </a:t>
            </a:r>
          </a:p>
          <a:p>
            <a:r>
              <a:t>Kiosk 주문 제한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t>메뉴 · 재료 품절 조회 및 상태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t>관리자 매출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t>주문 데이터가 단순히 저장되는 데 그치지 않고 운영에 필요한 정보로 활용될 수 있도록 관리자 화면에 시각화 했습니다.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t>매출 현황 · 기간별 통계 · 주문 추이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요구사항 정의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UI/DB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설계 → 기능 개발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API/DB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통합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RTOS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연동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시연</a:t>
            </a:r>
            <a:endParaRPr lang="ko-KR" alt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데이터 네이밍 규칙이 일관되지 않고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 사용 범위가 넓음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데이터 네이밍 규칙을 통일하고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중심으로 단순화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 ·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혼재되어 기능 단위 흐름 파악이 어려움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Request/Response DTO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분리하고 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정리하여 기능별 흐름 명확화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간 일치 여부 확인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명세를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스키마와 대조하여 데이터 구조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장바구니부터 주문 생성까지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· 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검증 필요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구현해 서버에서 주문 조건과 금액을 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메뉴 선택 → 옵션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재료 제외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수량 설정 → 장바구니 → 주문 생성 → </a:t>
            </a:r>
            <a:endParaRPr lang="en-US" altLang="ko-KR" sz="1200" dirty="0">
              <a:solidFill>
                <a:srgbClr val="FFFFFF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Admin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주문 확인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및 검증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GitHub</a:t>
            </a:r>
            <a:endParaRPr lang="en-US" sz="1200" dirty="0"/>
          </a:p>
        </p:txBody>
      </p: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6" name="Picture 4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7" name="Picture 4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설계부터 데이터 구조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결과까지 함께 문서화하여</a:t>
            </a:r>
            <a:endParaRPr lang="en-US" altLang="ko-KR" sz="1200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 과정과 변경 사항을 추적할 수 있도록 관리했습니다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산출물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 Bible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 결과</a:t>
            </a:r>
            <a:endParaRPr lang="en-US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461" y="2363238"/>
            <a:ext cx="2065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9 / 10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1984248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Kiosk · Admin · Backend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를 분리해 개발하고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메뉴 옵션과 제외 재료까지 표현할 수 있는 데이터 구조를 설계했습니다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또한 문서와 실제 구현 간 차이를 지속적으로 확인하며 프로젝트를 진행했습니다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개별 기능 구현에서 끝나지 않고 주문 생성부터 결제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관리자 확인까지의 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전체 흐름을 보다 안정적으로 검증하는 과정이 필요합니다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0566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화면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API · DB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가 각각 정상 동작하는 것만으로는 충분하지 않았습니다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하나의 주문이 처음부터 끝까지 동일한 데이터로 연결되는지를 확인하는 것이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통합 테스트의 핵심이라는 점을 배웠습니다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DF1FA-54FA-411A-9147-E714F941840F}"/>
              </a:ext>
            </a:extLst>
          </p:cNvPr>
          <p:cNvSpPr txBox="1"/>
          <p:nvPr/>
        </p:nvSpPr>
        <p:spPr>
          <a:xfrm>
            <a:off x="644092" y="1767239"/>
            <a:ext cx="1839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B5E30F"/>
                </a:solidFill>
              </a:rPr>
              <a:t>현재 단계</a:t>
            </a:r>
            <a:br>
              <a:rPr lang="en-US" altLang="ko-KR" sz="1400" b="1" dirty="0">
                <a:solidFill>
                  <a:srgbClr val="B5E30F"/>
                </a:solidFill>
              </a:rPr>
            </a:br>
            <a:r>
              <a:rPr lang="ko-KR" altLang="en-US" sz="1400" b="1" dirty="0">
                <a:solidFill>
                  <a:srgbClr val="B5E30F"/>
                </a:solidFill>
              </a:rPr>
              <a:t>완성도 자체 평가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A Salad A Kiosk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주문도 실수 없이 선택하고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화면까지 이어질 수 있도록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3055</Words>
  <Application>Microsoft Office PowerPoint</Application>
  <PresentationFormat>와이드스크린</PresentationFormat>
  <Paragraphs>607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35</cp:revision>
  <dcterms:created xsi:type="dcterms:W3CDTF">2026-08-07T09:36:12Z</dcterms:created>
  <dcterms:modified xsi:type="dcterms:W3CDTF">2026-09-02T05:28:10Z</dcterms:modified>
</cp:coreProperties>
</file>
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embeddedFontLst>
    <p:embeddedFont>
      <p:font typeface="Pretendard" panose="02000503000000020004" pitchFamily="2" charset="-127"/>
      <p:regular r:id="rId25"/>
      <p:bold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E30F"/>
    <a:srgbClr val="FBBF2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7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720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표지. ASAK = A Salad A Kiosk. 팀 다비치 · 이하진·김나연. AI 추천·무인결제 완성 표현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목차. Why → Who → How → Build → Review 다섯 단계로 발표한다.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개요. 셀프오더 트렌드 중 ‘정확한 커스터마이징’에 집중. AI 추천·성과 수치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팀. 역할은 화면·API 단위. 통합·발표는 공동.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절차. 문서 선행 후 화면·서버를 연결한다. 8/3~8/14 실 API·DB 연동, 8/17~8/21 RTOS, 8/24 이후 통합 테스트·문서화 순서.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수행 경과 요약. 이후 7~20쪽에서 각 항목을 상세히 다룬다.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활용 기술. 실제 package.json 기준. 외부 API는 Cloudinary 이미지 API, Figma API/MCP 연동을 별도 표기하고, 결제는 실 PG가 아닌 가상 결제 REST API임을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전체 구조. React Kiosk/Admin → Spring Boot REST API → MySQL. KSD 실 API·DB 연동 이후 8/17~8/21 RTOS Simulator를 영수증/장치 이벤트 중심으로 연결할 예정이며, 현재 완료 기능처럼 표현하지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1/2. 아삭_mysql.sql 정본 기준. 전체 24개 테이블 중 메뉴·옵션 핵심 9개만 표시했고 부가 테이블은 하단에 이름으로 남겼다.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2/2. 주문 상태·주문 유형·결제 수단·결제 상태는 모두 common_code를 참조하는 공통코드 구조다. code_group → common_code → orders/payment/pay_method_cfg 경로를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화면설계. 단계 분리 + 선택 유지가 UX 핵심.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 목록 화면. Kiosk 캡처 2장(기본 목록 / 카테고리 전환 또는 품절 상태)을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핵심 차별점. 커스터마이징 UX = 실수 없이 조합 완성. 서버 재검증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시연 범위 B: 결제 화면 이동까지. 승인 완료는 말하지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운영 연동. 키오스크 주문이 Admin까지 와야 루프가 닫힌다.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관리자 메뉴 관리. 조회만 구현했다면 제목을 "메뉴 정보 조회"로 바꾼다.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수행 프로세스. 06 1차 통합 → 07 DB 연동 → 08 RTOS 연동 → 09 테스트 QA → 10 발표 시연 순서. RTOS는 실 API·DB 연동 이후 단계로 표시한다.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피드백. 4건 모두 회의록에 날짜와 함께 기록된 실제 강사 피드백이다. 8/4 항목의 주문 생성·결제 연동은 아직 진행 중임을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1/2. 캡처 칸 크기는 동일하게 두고 이미지 비율은 유지한다. 늘려 맞추지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2/2. 설계·검증 산출물. 실제 확보한 자료만 남기고 나머지 칸은 삭제한다.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자체 평가. mock 1차 연결 ≠ DONE. 통합 검증 진행 중을 정직하게.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마무리. ASAK는 옵션이 많은 샐러드 주문을 실수 없이 끝내고 운영 화면까지 연결한다.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retendard"/>
          <a:ea typeface="Pretendard"/>
          <a:cs typeface="Pretendard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212140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11880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8586216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11880" y="431596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11880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586216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31352" y="41148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253728" y="0"/>
            <a:ext cx="100584" cy="1408176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456432" y="4636008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898648" y="4910328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0" y="1700784"/>
            <a:ext cx="12191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그린컴퓨터아카데미 신촌 · 키오스크 풀스택 개발자 양성과정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0" y="2633472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: 샐러드 스마트 키오스크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0" y="3529584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Salad A Kiosk — 옵션이 많은 샐러드 주문을, 키오스크와 운영 화면으로 연결한다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813048" y="4846320"/>
            <a:ext cx="4572000" cy="69494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3813048" y="4956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다비치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13048" y="52120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050">
                <a:solidFill>
                  <a:srgbClr val="FFFFFF"/>
                </a:solidFill>
                <a:latin typeface="Pretendard"/>
              </a:rPr>
              <a:t>이하진 · 김나연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0" y="6291072"/>
            <a:ext cx="12191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다비치</a:t>
            </a: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(ASAK </a:t>
            </a:r>
            <a:r>
              <a:rPr lang="en-US" sz="9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샐러드스마트</a:t>
            </a: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키오스크)  ·  2026.06.29 ~ 2026.09.02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38912" y="140817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38912" y="1993392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38912" y="21579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215798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2212848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— 왜 샐러드 키오스크인가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98448" y="2633472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38912" y="2779776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438912" y="29443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29443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팀 구성 및 역할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999232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Who — 화면 · API 단위 역할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98448" y="3419856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38912" y="3566160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38912" y="37307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373075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절차 및 방법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3785616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— 문서 → 코드 → 검증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98448" y="4206240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38912" y="4352544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438912" y="45171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451713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4572000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— 구조 · 화면 · 결과물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98448" y="4992624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38912" y="5138928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438912" y="53035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298448" y="53035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 평가 의견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5358384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 — 정직한 현재 단계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298448" y="5779008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개요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프로젝트 개요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옵션이 많은 샐러드 주문을 실수 없이 끝낸다.  ·  2인 팀 · 6주 · 저장소 4개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·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sz="1500" b="1">
                <a:solidFill>
                  <a:srgbClr val="111827"/>
                </a:solidFill>
                <a:latin typeface="Pretendard"/>
              </a:rPr>
              <a:t>기획 의도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75204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특화 ·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sz="1500" b="1">
                <a:solidFill>
                  <a:srgbClr val="111827"/>
                </a:solidFill>
                <a:latin typeface="Pretendard"/>
              </a:rPr>
              <a:t>차별화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941746" y="3090672"/>
            <a:ext cx="1819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정책·제외 재료·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품절·수량 제한을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주문 흐름과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서버 검증에 반영한다.</a:t>
            </a:r>
          </a:p>
          <a:p>
            <a:pPr marL="0" indent="0" algn="l">
              <a:lnSpc>
                <a:spcPts val="1600"/>
              </a:lnSpc>
              <a:buNone/>
            </a:pPr>
            <a:endParaRPr sz="1150">
              <a:solidFill>
                <a:srgbClr val="111827"/>
              </a:solidFill>
              <a:latin typeface="Pretendard"/>
            </a:endParaRPr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결과는 Admin에서</a:t>
            </a:r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확인한다.</a:t>
            </a:r>
          </a:p>
        </p:txBody>
      </p:sp>
      <p:sp>
        <p:nvSpPr>
          <p:cNvPr id="26" name="Shape 24"/>
          <p:cNvSpPr/>
          <p:nvPr/>
        </p:nvSpPr>
        <p:spPr>
          <a:xfrm>
            <a:off x="5111496" y="1883664"/>
            <a:ext cx="2116836" cy="420624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내용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276088" y="296265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276088" y="3145536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 · 목록 · 상세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장바구니 · 결제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276088" y="381304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276088" y="399592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관리 · 품절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276088" y="460857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Backend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276088" y="4775685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· 주문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검증 API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447788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 ·</a:t>
            </a:r>
            <a:endParaRPr lang="en-US" sz="1500" dirty="0"/>
          </a:p>
          <a:p>
            <a:pPr algn="l"/>
            <a:r>
              <a:rPr sz="1500" b="1">
                <a:solidFill>
                  <a:srgbClr val="111827"/>
                </a:solidFill>
                <a:latin typeface="Pretendard"/>
              </a:rPr>
              <a:t>자료</a:t>
            </a:r>
          </a:p>
        </p:txBody>
      </p:sp>
      <p:sp>
        <p:nvSpPr>
          <p:cNvPr id="40" name="Text 38"/>
          <p:cNvSpPr txBox="1"/>
          <p:nvPr/>
        </p:nvSpPr>
        <p:spPr>
          <a:xfrm>
            <a:off x="7612380" y="296265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프론트엔드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612380" y="3143690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Zustand · Axios · Vite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7612380" y="378561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 · DB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7612380" y="3959352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· Java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· MySQL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7612380" y="460857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협업 · 문서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7612380" y="477316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Bruno · GitHub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WBS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784080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방안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효과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9948672" y="3090672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고객: 옵션을</a:t>
            </a:r>
            <a:endParaRPr lang="en-US" sz="1150" dirty="0"/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흐름대로 선택한다.</a:t>
            </a:r>
          </a:p>
        </p:txBody>
      </p:sp>
      <p:sp>
        <p:nvSpPr>
          <p:cNvPr id="51" name="Text 49"/>
          <p:cNvSpPr txBox="1"/>
          <p:nvPr/>
        </p:nvSpPr>
        <p:spPr>
          <a:xfrm>
            <a:off x="9948672" y="3986784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운영: 주문·메뉴를</a:t>
            </a:r>
            <a:endParaRPr lang="en-US" sz="1150" dirty="0"/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화면에서 확인한다.</a:t>
            </a:r>
          </a:p>
        </p:txBody>
      </p:sp>
      <p:sp>
        <p:nvSpPr>
          <p:cNvPr id="52" name="Text 50"/>
          <p:cNvSpPr txBox="1"/>
          <p:nvPr/>
        </p:nvSpPr>
        <p:spPr>
          <a:xfrm>
            <a:off x="9948672" y="4882896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입력 오류를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줄인다.</a:t>
            </a:r>
            <a:endParaRPr lang="en-US" sz="1150" dirty="0"/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C99A4CBA-9F79-485F-A839-63B139311154}"/>
              </a:ext>
            </a:extLst>
          </p:cNvPr>
          <p:cNvSpPr txBox="1"/>
          <p:nvPr/>
        </p:nvSpPr>
        <p:spPr>
          <a:xfrm>
            <a:off x="587502" y="3094084"/>
            <a:ext cx="1819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샐러드 주문은 메뉴 외에도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옵션·제외·수량이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겹친다.</a:t>
            </a:r>
          </a:p>
          <a:p>
            <a:pPr marL="0" indent="0" algn="l">
              <a:lnSpc>
                <a:spcPts val="1600"/>
              </a:lnSpc>
              <a:buNone/>
            </a:pPr>
            <a:endParaRPr sz="115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실수 없이 끝내는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주문 흐름이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필요했다.</a:t>
            </a:r>
            <a:endParaRPr lang="en-US" altLang="ko-KR" sz="11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팀 구성 및 역할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팀 구성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팀 · 저장소 4개(ASAK · Kiosk · Admin · back) · 역할은 화면·API 단위로 나눈다.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94944" y="2217039"/>
            <a:ext cx="2377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spc="6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이하진</a:t>
            </a:r>
            <a:endParaRPr lang="en-US" sz="2600" spc="600" dirty="0"/>
          </a:p>
        </p:txBody>
      </p:sp>
      <p:sp>
        <p:nvSpPr>
          <p:cNvPr id="20" name="Text 18"/>
          <p:cNvSpPr txBox="1"/>
          <p:nvPr/>
        </p:nvSpPr>
        <p:spPr>
          <a:xfrm>
            <a:off x="588264" y="2755773"/>
            <a:ext cx="12359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· Docs</a:t>
            </a:r>
            <a:endParaRPr 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9494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94944" y="3211449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sz="1150">
                <a:latin typeface="Pretendard"/>
              </a:rPr>
              <a:t>Admin 화면 · 문서 · Hub 정본 관리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l"/>
            <a:r>
              <a:rPr sz="1150">
                <a:latin typeface="Pretendard"/>
              </a:rPr>
              <a:t>Figma · Screen Bible · WBS·발표 자료</a:t>
            </a:r>
          </a:p>
          <a:p>
            <a:pPr algn="l"/>
            <a:r>
              <a:rPr sz="1150">
                <a:latin typeface="Pretendard"/>
              </a:rPr>
              <a:t>Live 주문 · 주문 관리 · 메뉴·품절 화면</a:t>
            </a:r>
          </a:p>
          <a:p>
            <a:pPr algn="l"/>
            <a:r>
              <a:rPr sz="1150">
                <a:latin typeface="Pretendard"/>
              </a:rPr>
              <a:t>관리자 API 연동 · DB 스키마 반영</a:t>
            </a:r>
          </a:p>
        </p:txBody>
      </p:sp>
      <p:sp>
        <p:nvSpPr>
          <p:cNvPr id="23" name="Shape 21"/>
          <p:cNvSpPr/>
          <p:nvPr/>
        </p:nvSpPr>
        <p:spPr>
          <a:xfrm>
            <a:off x="619963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55664" y="2207514"/>
            <a:ext cx="1187196" cy="425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spc="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김나연</a:t>
            </a:r>
            <a:endParaRPr lang="en-US" sz="2600" spc="600" dirty="0"/>
          </a:p>
        </p:txBody>
      </p:sp>
      <p:sp>
        <p:nvSpPr>
          <p:cNvPr id="29" name="Text 27"/>
          <p:cNvSpPr txBox="1"/>
          <p:nvPr/>
        </p:nvSpPr>
        <p:spPr>
          <a:xfrm>
            <a:off x="6455664" y="2755773"/>
            <a:ext cx="92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· QA</a:t>
            </a:r>
            <a:endParaRPr 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5566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6449568" y="3182112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sz="1150">
                <a:latin typeface="Pretendard"/>
              </a:rPr>
              <a:t>Kiosk 주문 흐름 · 옵션 UI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l"/>
            <a:r>
              <a:rPr sz="1150">
                <a:latin typeface="Pretendard"/>
              </a:rPr>
              <a:t>필수·선택 옵션 · 제외 · 수량 제한</a:t>
            </a:r>
          </a:p>
          <a:p>
            <a:pPr algn="l"/>
            <a:r>
              <a:rPr sz="1150">
                <a:latin typeface="Pretendard"/>
              </a:rPr>
              <a:t>장바구니 · 결제·완료·타임아웃 화면</a:t>
            </a:r>
          </a:p>
          <a:p>
            <a:pPr algn="l"/>
            <a:r>
              <a:rPr sz="1150">
                <a:latin typeface="Pretendard"/>
              </a:rPr>
              <a:t>API 연동·검증 · QA·시연 시나리오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절차 및 방법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수행 절차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1" y="139293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>
                <a:solidFill>
                  <a:srgbClr val="6B7280"/>
                </a:solidFill>
                <a:latin typeface="Pretendard"/>
              </a:rPr>
              <a:t>문서 선행 → 화면·서버 연결 → 실 API·DB 연동 → RTOS 연동 → 통합 검증</a:t>
            </a:r>
            <a:endParaRPr lang="en-US" sz="1300" dirty="0"/>
          </a:p>
          <a:p>
            <a:pPr algn="l"/>
            <a:r>
              <a:rPr sz="1300">
                <a:solidFill>
                  <a:srgbClr val="6B7280"/>
                </a:solidFill>
                <a:latin typeface="Pretendard"/>
              </a:rPr>
              <a:t>RTOS는 KSD 실연동 이후 8/17~8/21 진행</a:t>
            </a:r>
          </a:p>
        </p:txBody>
      </p:sp>
      <p:sp>
        <p:nvSpPr>
          <p:cNvPr id="14" name="Shape 12"/>
          <p:cNvSpPr/>
          <p:nvPr/>
        </p:nvSpPr>
        <p:spPr>
          <a:xfrm>
            <a:off x="822960" y="3236976"/>
            <a:ext cx="10561320" cy="182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1323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71323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1540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210312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기획 · 요구사항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6/29~7/12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94560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19456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372868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1691640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100" b="1">
                <a:solidFill>
                  <a:srgbClr val="111827"/>
                </a:solidFill>
                <a:latin typeface="Pretendard"/>
              </a:rPr>
              <a:t>UI · DB · Figma 설계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7/6~7/19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75888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367588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54196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3172968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Kiosk 화면 구현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172968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7/13~7/22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57216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5157216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35524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4654296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Admin 화면 구현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654296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7/20~8/7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38544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6638544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816852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6135624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API 계약 · 백엔드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135624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7/23~7/31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11987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811987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298180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7616952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100" b="1">
                <a:solidFill>
                  <a:srgbClr val="111827"/>
                </a:solidFill>
                <a:latin typeface="Pretendard"/>
              </a:rPr>
              <a:t>실 API · DB 연동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616952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8/3~8/14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960120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779508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098280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RTOS 연동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9098280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8/17~8/21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1082528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 txBox="1"/>
          <p:nvPr/>
        </p:nvSpPr>
        <p:spPr>
          <a:xfrm>
            <a:off x="1108252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11260836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10579608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100" b="1">
                <a:solidFill>
                  <a:srgbClr val="111827"/>
                </a:solidFill>
                <a:latin typeface="Pretendard"/>
              </a:rPr>
              <a:t>통합 테스트 · 문서화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579608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8/24~9/1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38912" y="4846320"/>
            <a:ext cx="11313871" cy="5120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731520" y="4992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개발기간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0" y="495604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2026.06.29  ~  2026.09.02   (9주 · ISO W27~W36)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 요약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9064" y="138531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Stack · Build · Process · Iterate · Deliver — 다섯 축으로 경과를 본다.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방법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React Kiosk/Admin +</a:t>
            </a:r>
            <a:endParaRPr lang="en-US" sz="1150" dirty="0"/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Spring · MyBatis ·</a:t>
            </a:r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MySQL API 구조</a:t>
            </a:r>
          </a:p>
        </p:txBody>
      </p:sp>
      <p:sp>
        <p:nvSpPr>
          <p:cNvPr id="19" name="Shape 17"/>
          <p:cNvSpPr/>
          <p:nvPr/>
        </p:nvSpPr>
        <p:spPr>
          <a:xfrm>
            <a:off x="2775204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화면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옵션·제외·수량 ·</a:t>
            </a:r>
            <a:endParaRPr lang="en-US" sz="1150" dirty="0"/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장바구니 ·</a:t>
            </a:r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Admin 주문·메뉴</a:t>
            </a:r>
          </a:p>
        </p:txBody>
      </p:sp>
      <p:sp>
        <p:nvSpPr>
          <p:cNvPr id="24" name="Shape 22"/>
          <p:cNvSpPr/>
          <p:nvPr/>
        </p:nvSpPr>
        <p:spPr>
          <a:xfrm>
            <a:off x="5111496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 프로세스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276088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sz="1250">
                <a:solidFill>
                  <a:srgbClr val="111827"/>
                </a:solidFill>
                <a:latin typeface="Pretendard"/>
              </a:rPr>
              <a:t>요구 → 설계 →</a:t>
            </a:r>
            <a:endParaRPr lang="en-US" sz="1150" dirty="0"/>
          </a:p>
          <a:p>
            <a:pPr algn="l"/>
            <a:r>
              <a:rPr sz="1250">
                <a:solidFill>
                  <a:srgbClr val="111827"/>
                </a:solidFill>
                <a:latin typeface="Pretendard"/>
              </a:rPr>
              <a:t>개발 → 통합 →</a:t>
            </a:r>
          </a:p>
          <a:p>
            <a:pPr algn="l"/>
            <a:r>
              <a:rPr sz="1250">
                <a:solidFill>
                  <a:srgbClr val="111827"/>
                </a:solidFill>
                <a:latin typeface="Pretendard"/>
              </a:rPr>
              <a:t>RTOS → QA → 시연</a:t>
            </a:r>
          </a:p>
        </p:txBody>
      </p:sp>
      <p:sp>
        <p:nvSpPr>
          <p:cNvPr id="29" name="Shape 27"/>
          <p:cNvSpPr/>
          <p:nvPr/>
        </p:nvSpPr>
        <p:spPr>
          <a:xfrm>
            <a:off x="7447788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 내용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612380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화면 흐름·검증·</a:t>
            </a:r>
            <a:endParaRPr lang="en-US" sz="1150" dirty="0"/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데이터 구조를</a:t>
            </a:r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피드백 단위로 보완</a:t>
            </a:r>
          </a:p>
        </p:txBody>
      </p:sp>
      <p:sp>
        <p:nvSpPr>
          <p:cNvPr id="34" name="Shape 32"/>
          <p:cNvSpPr/>
          <p:nvPr/>
        </p:nvSpPr>
        <p:spPr>
          <a:xfrm>
            <a:off x="9784080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첨부 자료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948672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화면 · ERD ·</a:t>
            </a:r>
            <a:endParaRPr lang="en-US" sz="1150" dirty="0"/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API 테스트 ·</a:t>
            </a:r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Bible · WBS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sz="2400" b="1">
                <a:solidFill>
                  <a:srgbClr val="111827"/>
                </a:solidFill>
                <a:latin typeface="Pretendard"/>
              </a:rPr>
              <a:t>개발 환경 · 기술 스택 · API / 툴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100">
                <a:solidFill>
                  <a:srgbClr val="6B7280"/>
                </a:solidFill>
                <a:latin typeface="Pretendard"/>
              </a:rPr>
              <a:t>Notion · 실제 Kiosk/Admin 저장소 기준으로 현재 사용 중인 구성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645920"/>
            <a:ext cx="2011680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566928" y="173736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50592" y="1645920"/>
            <a:ext cx="3291840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2578608" y="173736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42432" y="1645920"/>
            <a:ext cx="6010351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5870448" y="173736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내용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" y="1993392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66928" y="216712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프론트엔드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450592" y="1993392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2578608" y="2167128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React 19 · Router 7 · Zustand 5 · Axios · Vite 8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742432" y="1993392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5870448" y="2167128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주문 세션 · 메뉴/옵션 · 카트 · 결제 · Cloudinary 이미지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8912" y="2505456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38912" y="2505456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566928" y="267919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프론트엔드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450592" y="2505456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2578608" y="2679192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React 19 · Router 7 · Zustand 5 · Axios · Vite 8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742432" y="2505456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5870448" y="2679192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Live · 주문 · 메뉴 CRUD · 품절 · 매출 · 결제수단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8912" y="3017520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438912" y="3017520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566928" y="3191256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450592" y="3017520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2578608" y="3191256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Spring Boot 4.0.7 · Java 25 · MyBatis · Gradle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742432" y="3017520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5870448" y="3191256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REST API · Kiosk/Admin Controller · Service · Validation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38912" y="3529584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438912" y="3529584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566928" y="370332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28322D"/>
                </a:solidFill>
                <a:latin typeface="Pretendard"/>
              </a:rPr>
              <a:t>외부 API · 이미지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450592" y="3529584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2578608" y="370332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28322D"/>
                </a:solidFill>
                <a:latin typeface="Pretendard"/>
              </a:rPr>
              <a:t>Cloudinary Upload/Delivery API · MySQL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742432" y="3529584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5870448" y="370332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28322D"/>
                </a:solidFill>
                <a:latin typeface="Pretendard"/>
              </a:rPr>
              <a:t>메뉴 이미지 업로드/URL 제공 · 메뉴·옵션·주문 데이터 관리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38912" y="4041648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438912" y="4041648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7"/>
          <p:cNvSpPr txBox="1"/>
          <p:nvPr/>
        </p:nvSpPr>
        <p:spPr>
          <a:xfrm>
            <a:off x="566928" y="421538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150" b="1">
                <a:solidFill>
                  <a:srgbClr val="4A7A00"/>
                </a:solidFill>
                <a:latin typeface="Pretendard"/>
              </a:rPr>
              <a:t>개발 · 협업 툴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2450592" y="4041648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Text 49"/>
          <p:cNvSpPr txBox="1"/>
          <p:nvPr/>
        </p:nvSpPr>
        <p:spPr>
          <a:xfrm>
            <a:off x="2578608" y="421538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GitHub · Notion · Figma · Bruno · DevCopilot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742432" y="4041648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5870448" y="4215384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형상관리 · 설계 · API 테스트 · WBS · 워크로그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38912" y="4553712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438912" y="4846320"/>
            <a:ext cx="11313871" cy="109728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1171422" y="4982856"/>
            <a:ext cx="1771200" cy="210000"/>
          </a:xfrm>
          <a:prstGeom prst="roundRect">
            <a:avLst/>
          </a:prstGeom>
          <a:solidFill>
            <a:srgbClr val="F5FBE0"/>
          </a:solidFill>
          <a:ln w="15240">
            <a:solidFill>
              <a:srgbClr val="B5E3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 err="1">
                <a:solidFill>
                  <a:srgbClr val="243300"/>
                </a:solidFill>
                <a:latin typeface="Pretendard"/>
              </a:rPr>
              <a:t>내부</a:t>
            </a:r>
            <a:r>
              <a:rPr sz="1200" b="1" dirty="0">
                <a:solidFill>
                  <a:srgbClr val="243300"/>
                </a:solidFill>
                <a:latin typeface="Pretendard"/>
              </a:rPr>
              <a:t> REST API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969504" y="4979822"/>
            <a:ext cx="1771088" cy="210000"/>
          </a:xfrm>
          <a:prstGeom prst="roundRect">
            <a:avLst/>
          </a:prstGeom>
          <a:solidFill>
            <a:srgbClr val="F5FBE0"/>
          </a:solidFill>
          <a:ln w="15240">
            <a:solidFill>
              <a:srgbClr val="B5E3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 err="1">
                <a:solidFill>
                  <a:srgbClr val="243300"/>
                </a:solidFill>
                <a:latin typeface="Pretendard"/>
              </a:rPr>
              <a:t>외부</a:t>
            </a:r>
            <a:r>
              <a:rPr sz="1200" b="1" dirty="0">
                <a:solidFill>
                  <a:srgbClr val="243300"/>
                </a:solidFill>
                <a:latin typeface="Pretendard"/>
              </a:rPr>
              <a:t> API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71421" y="5266320"/>
            <a:ext cx="5366935" cy="6472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Kiosk: GET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api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/kiosk/categories ·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menuList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·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menuDetail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/{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menuId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}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Kiosk: POST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api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/kiosk/cart/validate · /orders · /payments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Admin: /orders · /menus ·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soldOut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· /sales · /payment-methods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69504" y="5261466"/>
            <a:ext cx="5366935" cy="6472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Cloudinary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: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이미지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업로드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· URL Delivery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Figma API / MCP: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화면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기준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확인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· UI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동기화</a:t>
            </a:r>
            <a:endParaRPr sz="1019" dirty="0">
              <a:solidFill>
                <a:srgbClr val="465014"/>
              </a:solidFill>
              <a:latin typeface="Pretendard"/>
            </a:endParaRP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결제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PG: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미연동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,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현재는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가상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결제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시뮬레이션</a:t>
            </a:r>
            <a:endParaRPr sz="1019" dirty="0">
              <a:solidFill>
                <a:srgbClr val="465014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전체 구조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구조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1737360"/>
            <a:ext cx="384048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1024128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(React)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 · Menu · Detail · Cart · Payment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sz="950">
                <a:solidFill>
                  <a:srgbClr val="243300"/>
                </a:solidFill>
                <a:latin typeface="Pretendard"/>
              </a:rPr>
              <a:t>고객 주문 세션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34656" y="1737360"/>
            <a:ext cx="3840480" cy="1188720"/>
          </a:xfrm>
          <a:prstGeom prst="rect">
            <a:avLst/>
          </a:prstGeom>
          <a:solidFill>
            <a:srgbClr val="F5F5F5"/>
          </a:solidFill>
          <a:ln w="19050">
            <a:solidFill>
              <a:srgbClr val="383D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7735824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(React)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35824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· Orders · Menus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sz="950">
                <a:solidFill>
                  <a:srgbClr val="1A1A1A"/>
                </a:solidFill>
                <a:latin typeface="Pretendard"/>
              </a:rPr>
              <a:t>품절 · 결제수단 · 매출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0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743200" y="3236976"/>
            <a:ext cx="26974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454896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766560" y="3236976"/>
            <a:ext cx="268833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440680" y="3108960"/>
            <a:ext cx="13258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5440680" y="31546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REST API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99048" y="3364992"/>
            <a:ext cx="0" cy="20116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3291840" y="3566160"/>
            <a:ext cx="5605272" cy="11887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3493008" y="371246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Backend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493008" y="4078224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Controller · Admin Controller · Service · Validation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Mapper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99048" y="4754880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3986784" y="5029200"/>
            <a:ext cx="4215384" cy="786384"/>
          </a:xfrm>
          <a:prstGeom prst="rect">
            <a:avLst/>
          </a:prstGeom>
          <a:solidFill>
            <a:srgbClr val="4A7A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4187952" y="51389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MySQL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187952" y="54681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FFFFFF"/>
                </a:solidFill>
                <a:latin typeface="Pretendard"/>
              </a:rPr>
              <a:t>메뉴 · 옵션 · 주문 · 결제 · 공통코드</a:t>
            </a:r>
            <a:endParaRPr lang="en-US" sz="950" dirty="0"/>
          </a:p>
        </p:txBody>
      </p:sp>
      <p:sp>
        <p:nvSpPr>
          <p:cNvPr id="34" name="Rectangle 33"/>
          <p:cNvSpPr/>
          <p:nvPr/>
        </p:nvSpPr>
        <p:spPr>
          <a:xfrm>
            <a:off x="8549640" y="5010912"/>
            <a:ext cx="2788920" cy="822960"/>
          </a:xfrm>
          <a:prstGeom prst="rect">
            <a:avLst/>
          </a:prstGeom>
          <a:solidFill>
            <a:srgbClr val="F5FBE0"/>
          </a:solidFill>
          <a:ln w="15240">
            <a:solidFill>
              <a:srgbClr val="B5E3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32520" y="5102352"/>
            <a:ext cx="242316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43300"/>
                </a:solidFill>
                <a:latin typeface="Pretendard"/>
              </a:rPr>
              <a:t>RTOS Simulator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5367528"/>
            <a:ext cx="242316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>
                <a:solidFill>
                  <a:srgbClr val="6B7280"/>
                </a:solidFill>
                <a:latin typeface="Pretendard"/>
              </a:rPr>
              <a:t>8/17~8/21 예정 · 영수증/장치 이벤트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87968" y="4187952"/>
            <a:ext cx="18288" cy="53035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878825" y="4369354"/>
            <a:ext cx="1042415" cy="182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912383" y="4369354"/>
            <a:ext cx="18000" cy="64155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— 메뉴 · 재료 · 옵션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1/2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169164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0040" y="109728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11480" y="1161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417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16367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8562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11480" y="20756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31720" y="1097280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331720" y="109728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2423160" y="11612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417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16367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cat_id  FK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075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2951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2423160" y="25146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image_url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1097280"/>
            <a:ext cx="2148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709160" y="109728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4800600" y="1161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menu_opt_policy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16367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18562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075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priority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295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required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097280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178040" y="10972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7269480" y="1161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opt_policy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417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policy_key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075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295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7269480" y="2514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601200" y="109728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9601200" y="10972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692640" y="1161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417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1636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group_type_id  FK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9692640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9692640" y="20756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9692640" y="22951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3291840"/>
            <a:ext cx="16916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320040" y="329184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411480" y="33558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411480" y="36118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411480" y="383133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411480" y="40507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type_id  FK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411480" y="427024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kcal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411480" y="448970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protein_g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11480" y="47091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331720" y="3291840"/>
            <a:ext cx="20574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2331720" y="329184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" name="Text 63"/>
          <p:cNvSpPr txBox="1"/>
          <p:nvPr/>
        </p:nvSpPr>
        <p:spPr>
          <a:xfrm>
            <a:off x="2423160" y="33558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menu_ing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2423160" y="36118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2423160" y="383133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2423160" y="405079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2423160" y="42702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role_id  FK</a:t>
            </a:r>
            <a:endParaRPr lang="en-US" sz="950" dirty="0"/>
          </a:p>
        </p:txBody>
      </p:sp>
      <p:sp>
        <p:nvSpPr>
          <p:cNvPr id="70" name="Text 68"/>
          <p:cNvSpPr txBox="1"/>
          <p:nvPr/>
        </p:nvSpPr>
        <p:spPr>
          <a:xfrm>
            <a:off x="2423160" y="44897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2423160" y="47091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can_remove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2423160" y="49286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178040" y="3291840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7178040" y="329184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" name="Text 73"/>
          <p:cNvSpPr txBox="1"/>
          <p:nvPr/>
        </p:nvSpPr>
        <p:spPr>
          <a:xfrm>
            <a:off x="7269480" y="33558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opt_policy_item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7269480" y="36118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7269480" y="38313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78" name="Text 76"/>
          <p:cNvSpPr txBox="1"/>
          <p:nvPr/>
        </p:nvSpPr>
        <p:spPr>
          <a:xfrm>
            <a:off x="7269480" y="40507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7269480" y="42702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7269480" y="44897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7269480" y="47091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9601200" y="3291840"/>
            <a:ext cx="19202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Shape 81"/>
          <p:cNvSpPr/>
          <p:nvPr/>
        </p:nvSpPr>
        <p:spPr>
          <a:xfrm>
            <a:off x="9601200" y="329184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4" name="Text 82"/>
          <p:cNvSpPr txBox="1"/>
          <p:nvPr/>
        </p:nvSpPr>
        <p:spPr>
          <a:xfrm>
            <a:off x="9692640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85" name="Text 83"/>
          <p:cNvSpPr txBox="1"/>
          <p:nvPr/>
        </p:nvSpPr>
        <p:spPr>
          <a:xfrm>
            <a:off x="9692640" y="3611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9692640" y="38313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87" name="Text 85"/>
          <p:cNvSpPr txBox="1"/>
          <p:nvPr/>
        </p:nvSpPr>
        <p:spPr>
          <a:xfrm>
            <a:off x="9692640" y="40507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8" name="Text 86"/>
          <p:cNvSpPr txBox="1"/>
          <p:nvPr/>
        </p:nvSpPr>
        <p:spPr>
          <a:xfrm>
            <a:off x="9692640" y="42702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9" name="Text 87"/>
          <p:cNvSpPr txBox="1"/>
          <p:nvPr/>
        </p:nvSpPr>
        <p:spPr>
          <a:xfrm>
            <a:off x="9692640" y="44897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4709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201168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Shape 90"/>
          <p:cNvSpPr/>
          <p:nvPr/>
        </p:nvSpPr>
        <p:spPr>
          <a:xfrm>
            <a:off x="438912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Shape 91"/>
          <p:cNvSpPr/>
          <p:nvPr/>
        </p:nvSpPr>
        <p:spPr>
          <a:xfrm>
            <a:off x="685800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8229600" y="2688336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Shape 93"/>
          <p:cNvSpPr/>
          <p:nvPr/>
        </p:nvSpPr>
        <p:spPr>
          <a:xfrm>
            <a:off x="9281160" y="367588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10561320" y="2468880"/>
            <a:ext cx="0" cy="8229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Shape 95"/>
          <p:cNvSpPr/>
          <p:nvPr/>
        </p:nvSpPr>
        <p:spPr>
          <a:xfrm>
            <a:off x="3291840" y="2688336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Shape 96"/>
          <p:cNvSpPr/>
          <p:nvPr/>
        </p:nvSpPr>
        <p:spPr>
          <a:xfrm>
            <a:off x="2011680" y="367588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Shape 97"/>
          <p:cNvSpPr/>
          <p:nvPr/>
        </p:nvSpPr>
        <p:spPr>
          <a:xfrm>
            <a:off x="1097280" y="4882896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98"/>
          <p:cNvSpPr/>
          <p:nvPr/>
        </p:nvSpPr>
        <p:spPr>
          <a:xfrm>
            <a:off x="1097280" y="5358384"/>
            <a:ext cx="9464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hape 99"/>
          <p:cNvSpPr/>
          <p:nvPr/>
        </p:nvSpPr>
        <p:spPr>
          <a:xfrm>
            <a:off x="10561320" y="4882896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Text 100"/>
          <p:cNvSpPr txBox="1"/>
          <p:nvPr/>
        </p:nvSpPr>
        <p:spPr>
          <a:xfrm>
            <a:off x="274320" y="5687568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= 카테고리 + 기본 재료 + 옵션 정책.  min/max 선택과 can_remove가 주문 화면의 규칙이 된다.</a:t>
            </a:r>
            <a:endParaRPr lang="en-US" sz="1150" dirty="0"/>
          </a:p>
        </p:txBody>
      </p:sp>
      <p:sp>
        <p:nvSpPr>
          <p:cNvPr id="103" name="Text 101"/>
          <p:cNvSpPr txBox="1"/>
          <p:nvPr/>
        </p:nvSpPr>
        <p:spPr>
          <a:xfrm>
            <a:off x="274320" y="5980176"/>
            <a:ext cx="116430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부가 테이블 — tag · menu_tag · allergen · ing_allergen · menu_nutr · opt_item_comp · menu_opt_override (전체 24개 테이블 중 핵심 9개만 표시)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— 주문 · 결제 · 공통코드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2/2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16916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0040" y="109728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11480" y="1161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code_group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417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16367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group_code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8562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31720" y="1097280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331720" y="109728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423160" y="11612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common_code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1417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6367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code_grp_id  FK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2075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2951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5146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109728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709160" y="109728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4800600" y="1161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80060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6367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order_no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18562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order_type_id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2075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295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total_price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5146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09728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178040" y="10972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7269480" y="1161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417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075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295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109728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9601200" y="10972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9692640" y="1161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692640" y="1417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636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331720" y="3017520"/>
            <a:ext cx="20574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2331720" y="301752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2423160" y="30815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pay_method_cfg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2423160" y="33375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2423160" y="35570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2423160" y="37764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2423160" y="39959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09160" y="301752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4709160" y="301752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Text 58"/>
          <p:cNvSpPr txBox="1"/>
          <p:nvPr/>
        </p:nvSpPr>
        <p:spPr>
          <a:xfrm>
            <a:off x="4800600" y="30815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payment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4800600" y="33375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800600" y="355701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4800600" y="37764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4800600" y="39959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4800600" y="421538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amount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4800600" y="443484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paid_at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178040" y="301752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7178040" y="301752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" name="Text 67"/>
          <p:cNvSpPr txBox="1"/>
          <p:nvPr/>
        </p:nvSpPr>
        <p:spPr>
          <a:xfrm>
            <a:off x="7269480" y="30815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order_item_option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7269480" y="33375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7269480" y="35570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7269480" y="3776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7269480" y="39959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4" name="Text 72"/>
          <p:cNvSpPr txBox="1"/>
          <p:nvPr/>
        </p:nvSpPr>
        <p:spPr>
          <a:xfrm>
            <a:off x="7269480" y="42153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601200" y="301752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9601200" y="301752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7" name="Text 75"/>
          <p:cNvSpPr txBox="1"/>
          <p:nvPr/>
        </p:nvSpPr>
        <p:spPr>
          <a:xfrm>
            <a:off x="9692640" y="30815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9692640" y="33375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9692640" y="3557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9692640" y="37764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178040" y="4754880"/>
            <a:ext cx="21031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Shape 80"/>
          <p:cNvSpPr/>
          <p:nvPr/>
        </p:nvSpPr>
        <p:spPr>
          <a:xfrm>
            <a:off x="7178040" y="47548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3" name="Text 81"/>
          <p:cNvSpPr txBox="1"/>
          <p:nvPr/>
        </p:nvSpPr>
        <p:spPr>
          <a:xfrm>
            <a:off x="7269480" y="48188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item_exclusion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7269480" y="5074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5" name="Text 83"/>
          <p:cNvSpPr txBox="1"/>
          <p:nvPr/>
        </p:nvSpPr>
        <p:spPr>
          <a:xfrm>
            <a:off x="7269480" y="52943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7269480" y="55138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9601200" y="475488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Shape 86"/>
          <p:cNvSpPr/>
          <p:nvPr/>
        </p:nvSpPr>
        <p:spPr>
          <a:xfrm>
            <a:off x="9601200" y="47548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9" name="Text 87"/>
          <p:cNvSpPr txBox="1"/>
          <p:nvPr/>
        </p:nvSpPr>
        <p:spPr>
          <a:xfrm>
            <a:off x="9692640" y="48188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</a:t>
            </a:r>
            <a:endParaRPr lang="en-US" sz="110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50749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91" name="Text 89"/>
          <p:cNvSpPr txBox="1"/>
          <p:nvPr/>
        </p:nvSpPr>
        <p:spPr>
          <a:xfrm>
            <a:off x="9692640" y="52943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201168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Shape 91"/>
          <p:cNvSpPr/>
          <p:nvPr/>
        </p:nvSpPr>
        <p:spPr>
          <a:xfrm>
            <a:off x="438912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685800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Shape 93"/>
          <p:cNvSpPr/>
          <p:nvPr/>
        </p:nvSpPr>
        <p:spPr>
          <a:xfrm>
            <a:off x="928116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329184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Shape 95"/>
          <p:cNvSpPr/>
          <p:nvPr/>
        </p:nvSpPr>
        <p:spPr>
          <a:xfrm>
            <a:off x="548640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Shape 96"/>
          <p:cNvSpPr/>
          <p:nvPr/>
        </p:nvSpPr>
        <p:spPr>
          <a:xfrm>
            <a:off x="8229600" y="2468880"/>
            <a:ext cx="0" cy="5486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Shape 97"/>
          <p:cNvSpPr/>
          <p:nvPr/>
        </p:nvSpPr>
        <p:spPr>
          <a:xfrm>
            <a:off x="9281160" y="340156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98"/>
          <p:cNvSpPr/>
          <p:nvPr/>
        </p:nvSpPr>
        <p:spPr>
          <a:xfrm>
            <a:off x="9281160" y="51389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hape 99"/>
          <p:cNvSpPr/>
          <p:nvPr/>
        </p:nvSpPr>
        <p:spPr>
          <a:xfrm>
            <a:off x="6967728" y="2103120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Shape 100"/>
          <p:cNvSpPr/>
          <p:nvPr/>
        </p:nvSpPr>
        <p:spPr>
          <a:xfrm>
            <a:off x="6967728" y="2103120"/>
            <a:ext cx="0" cy="303580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Shape 101"/>
          <p:cNvSpPr/>
          <p:nvPr/>
        </p:nvSpPr>
        <p:spPr>
          <a:xfrm>
            <a:off x="6967728" y="5138928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Text 102"/>
          <p:cNvSpPr txBox="1"/>
          <p:nvPr/>
        </p:nvSpPr>
        <p:spPr>
          <a:xfrm>
            <a:off x="274320" y="5852160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항목에 옵션·제외 재료를 붙여 ‘그때 그 조합’을 그대로 보존한다.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화면설계서 — 키오스크 주문 흐름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10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주문 한 줄 지도</a:t>
            </a:r>
            <a:endParaRPr lang="ko-KR" altLang="en-US" sz="1100" dirty="0" err="1">
              <a:solidFill>
                <a:srgbClr val="6B728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39312" cy="727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→ 메뉴 →</a:t>
            </a:r>
            <a:endParaRPr lang="en-US" sz="1250" dirty="0"/>
          </a:p>
          <a:p>
            <a:pPr marL="0" indent="0" algn="l">
              <a:lnSpc>
                <a:spcPct val="145000"/>
              </a:lnSpc>
              <a:buNone/>
            </a:pPr>
            <a:r>
              <a:rPr sz="1250" dirty="0" err="1">
                <a:solidFill>
                  <a:srgbClr val="111827"/>
                </a:solidFill>
                <a:latin typeface="Pretendard"/>
              </a:rPr>
              <a:t>옵션·제외·수량</a:t>
            </a:r>
            <a:r>
              <a:rPr sz="1250" dirty="0">
                <a:solidFill>
                  <a:srgbClr val="111827"/>
                </a:solidFill>
                <a:latin typeface="Pretendard"/>
              </a:rPr>
              <a:t> →</a:t>
            </a:r>
            <a:endParaRPr lang="en-US" sz="1250" dirty="0"/>
          </a:p>
          <a:p>
            <a:pPr marL="0" indent="0" algn="l">
              <a:lnSpc>
                <a:spcPct val="145000"/>
              </a:lnSpc>
              <a:buNone/>
            </a:pPr>
            <a:r>
              <a:rPr sz="1250" dirty="0" err="1">
                <a:solidFill>
                  <a:srgbClr val="111827"/>
                </a:solidFill>
                <a:latin typeface="Pretendard"/>
              </a:rPr>
              <a:t>장바구니</a:t>
            </a:r>
            <a:r>
              <a:rPr sz="1250" dirty="0">
                <a:solidFill>
                  <a:srgbClr val="111827"/>
                </a:solidFill>
                <a:latin typeface="Pretendard"/>
              </a:rPr>
              <a:t> → </a:t>
            </a:r>
            <a:r>
              <a:rPr sz="1250" dirty="0" err="1">
                <a:solidFill>
                  <a:srgbClr val="111827"/>
                </a:solidFill>
                <a:latin typeface="Pretendard"/>
              </a:rPr>
              <a:t>결제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482787"/>
            <a:ext cx="3639312" cy="49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단계를 나누되, 뒤로 가도</a:t>
            </a:r>
            <a:endParaRPr lang="en-US" sz="1250" dirty="0"/>
          </a:p>
          <a:p>
            <a:pPr marL="0" indent="0" algn="l">
              <a:lnSpc>
                <a:spcPct val="145000"/>
              </a:lnSpc>
              <a:buNone/>
            </a:pPr>
            <a:r>
              <a:rPr sz="1250">
                <a:solidFill>
                  <a:srgbClr val="111827"/>
                </a:solidFill>
                <a:latin typeface="Pretendard"/>
              </a:rPr>
              <a:t>선택은 유지한다.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273552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40080" y="33192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639312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40080" y="36850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4005072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40080" y="40507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75888" y="1078992"/>
            <a:ext cx="7479792" cy="44805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105656" y="1517904"/>
            <a:ext cx="2011680" cy="358444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409944" y="1517904"/>
            <a:ext cx="2011680" cy="358444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8714232" y="1517904"/>
            <a:ext cx="2011680" cy="358444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3675888" y="5157216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— 카테고리 선택 → 메뉴 선택 → 옵션 · 제외 재료 · 수량 → 장바구니</a:t>
            </a:r>
            <a:endParaRPr lang="en-US" sz="950" dirty="0"/>
          </a:p>
        </p:txBody>
      </p:sp>
      <p:pic>
        <p:nvPicPr>
          <p:cNvPr id="39" name="Picture 38" descr="kiosk-02-menuL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5656" y="1517904"/>
            <a:ext cx="2011680" cy="3584448"/>
          </a:xfrm>
          <a:prstGeom prst="rect">
            <a:avLst/>
          </a:prstGeom>
        </p:spPr>
      </p:pic>
      <p:pic>
        <p:nvPicPr>
          <p:cNvPr id="40" name="Picture 39" descr="kiosk-03-menuDetai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9944" y="1517904"/>
            <a:ext cx="2011680" cy="3584448"/>
          </a:xfrm>
          <a:prstGeom prst="rect">
            <a:avLst/>
          </a:prstGeom>
        </p:spPr>
      </p:pic>
      <p:pic>
        <p:nvPicPr>
          <p:cNvPr id="41" name="Picture 40" descr="kiosk-04-c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4232" y="1517904"/>
            <a:ext cx="2011680" cy="35844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및 카테고리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카테고리별 메뉴를 조회하고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이름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·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가격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·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이미지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·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품절을</a:t>
            </a:r>
            <a:endParaRPr lang="en-US" sz="1300" dirty="0"/>
          </a:p>
          <a:p>
            <a:pPr algn="l"/>
            <a:r>
              <a:rPr sz="1300" dirty="0" err="1">
                <a:solidFill>
                  <a:srgbClr val="111827"/>
                </a:solidFill>
                <a:latin typeface="Pretendard"/>
              </a:rPr>
              <a:t>한눈에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확인합니다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640080" y="227101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원하는 메뉴를 선택해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상세로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이동합니다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41248" y="3511296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sz="1200">
                <a:solidFill>
                  <a:srgbClr val="111827"/>
                </a:solidFill>
                <a:latin typeface="Pretendard"/>
              </a:rPr>
              <a:t>품절 메뉴는 선택을 막아</a:t>
            </a:r>
            <a:endParaRPr lang="en-US" altLang="ko-KR" sz="12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algn="l"/>
            <a:r>
              <a:rPr sz="1200">
                <a:solidFill>
                  <a:srgbClr val="111827"/>
                </a:solidFill>
                <a:latin typeface="Pretendard"/>
              </a:rPr>
              <a:t>주문 실패를 앞당기지 않는다.</a:t>
            </a:r>
          </a:p>
        </p:txBody>
      </p:sp>
      <p:sp>
        <p:nvSpPr>
          <p:cNvPr id="20" name="Shape 18"/>
          <p:cNvSpPr/>
          <p:nvPr/>
        </p:nvSpPr>
        <p:spPr>
          <a:xfrm>
            <a:off x="5063112" y="1078992"/>
            <a:ext cx="6120000" cy="432100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41264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카테고리 선택 · 품절 표시</a:t>
            </a:r>
            <a:endParaRPr lang="en-US" sz="950" dirty="0"/>
          </a:p>
        </p:txBody>
      </p:sp>
      <p:pic>
        <p:nvPicPr>
          <p:cNvPr id="30" name="Picture 29" descr="kiosk-02-menu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1" y="1233811"/>
            <a:ext cx="2263073" cy="4032385"/>
          </a:xfrm>
          <a:prstGeom prst="rect">
            <a:avLst/>
          </a:prstGeom>
        </p:spPr>
      </p:pic>
      <p:pic>
        <p:nvPicPr>
          <p:cNvPr id="31" name="Picture 30" descr="kiosk-02-menu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593" y="1233812"/>
            <a:ext cx="2287735" cy="4076328"/>
          </a:xfrm>
          <a:prstGeom prst="rect">
            <a:avLst/>
          </a:prstGeom>
        </p:spPr>
      </p:pic>
      <p:sp>
        <p:nvSpPr>
          <p:cNvPr id="34" name="Text 21">
            <a:extLst>
              <a:ext uri="{FF2B5EF4-FFF2-40B4-BE49-F238E27FC236}">
                <a16:creationId xmlns:a16="http://schemas.microsoft.com/office/drawing/2014/main" id="{DDAD0AAD-5EAF-4854-95A1-BA945A6AA1A9}"/>
              </a:ext>
            </a:extLst>
          </p:cNvPr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B9CDF489-D7E7-49D7-B44F-134ED594117F}"/>
              </a:ext>
            </a:extLst>
          </p:cNvPr>
          <p:cNvSpPr txBox="1"/>
          <p:nvPr/>
        </p:nvSpPr>
        <p:spPr>
          <a:xfrm>
            <a:off x="7288906" y="2712207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94201579-71C7-4A8D-A676-4AED98A08611}"/>
              </a:ext>
            </a:extLst>
          </p:cNvPr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555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및 옵션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595966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· 선택 옵션을 정책(min/max)에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맞게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고릅니다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271014"/>
            <a:ext cx="3595966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가능한 재료만 빼고,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수량을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조정합니다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  <a:p>
            <a:pPr algn="l"/>
            <a:r>
              <a:rPr sz="1300" dirty="0" err="1">
                <a:solidFill>
                  <a:srgbClr val="111827"/>
                </a:solidFill>
                <a:latin typeface="Pretendard"/>
              </a:rPr>
              <a:t>가격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변화는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선택과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함께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확인합니다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41248" y="3606038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sz="1200">
                <a:solidFill>
                  <a:srgbClr val="111827"/>
                </a:solidFill>
                <a:latin typeface="Pretendard"/>
              </a:rPr>
              <a:t>서버 재검증. 옵션·품절·수량을 주문 전에 다시 확인.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40000" y="1080000"/>
            <a:ext cx="6120000" cy="43200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157124" y="3232570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50530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· 옵션 선택 · 제외 재료 · 수량 변경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검증 API(POST /api/kiosk/cart/validate)가 서버에서 총액을 재계산합니다.</a:t>
            </a:r>
            <a:endParaRPr lang="en-US" sz="1200" dirty="0"/>
          </a:p>
        </p:txBody>
      </p:sp>
      <p:pic>
        <p:nvPicPr>
          <p:cNvPr id="30" name="Picture 29" descr="kiosk-03-menu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2616" y="1233812"/>
            <a:ext cx="2263073" cy="4032385"/>
          </a:xfrm>
          <a:prstGeom prst="rect">
            <a:avLst/>
          </a:prstGeom>
        </p:spPr>
      </p:pic>
      <p:pic>
        <p:nvPicPr>
          <p:cNvPr id="31" name="Picture 30" descr="kiosk-03-menu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215" y="1233812"/>
            <a:ext cx="2263073" cy="40323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및 결제 이동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362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0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선택한 메뉴 · 옵션 · 제외 · 수량 ·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금액을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확인합니다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271014"/>
            <a:ext cx="3621360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내용을 검토한 뒤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결제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화면으로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이동합니다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1" y="3364992"/>
            <a:ext cx="3621360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24470" y="3494518"/>
            <a:ext cx="32524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sz="1200">
                <a:solidFill>
                  <a:srgbClr val="111827"/>
                </a:solidFill>
                <a:latin typeface="Pretendard"/>
              </a:rPr>
              <a:t>장바구니는 마지막 검산. </a:t>
            </a:r>
          </a:p>
          <a:p>
            <a:pPr algn="l"/>
            <a:r>
              <a:rPr sz="1200">
                <a:solidFill>
                  <a:srgbClr val="111827"/>
                </a:solidFill>
                <a:latin typeface="Pretendard"/>
              </a:rPr>
              <a:t>실패해도 선택은 유지한다. (시연: 결제 화면 이동까지)</a:t>
            </a:r>
          </a:p>
        </p:txBody>
      </p:sp>
      <p:sp>
        <p:nvSpPr>
          <p:cNvPr id="20" name="Shape 18"/>
          <p:cNvSpPr/>
          <p:nvPr/>
        </p:nvSpPr>
        <p:spPr>
          <a:xfrm>
            <a:off x="5040000" y="1078992"/>
            <a:ext cx="6120000" cy="43200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5852925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852925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175501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175501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48593" y="555381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· 주문 금액 확인 · 결제 화면 이동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API와 결제 승인 연동은 현재 구현 중이며, 완료 처리 결과는 아직 시연 범위가 아닙니다.</a:t>
            </a:r>
            <a:endParaRPr lang="en-US" sz="1200" dirty="0"/>
          </a:p>
        </p:txBody>
      </p:sp>
      <p:pic>
        <p:nvPicPr>
          <p:cNvPr id="30" name="Picture 29" descr="kiosk-04-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189" y="1233812"/>
            <a:ext cx="2231136" cy="3975479"/>
          </a:xfrm>
          <a:prstGeom prst="rect">
            <a:avLst/>
          </a:prstGeom>
        </p:spPr>
      </p:pic>
      <p:pic>
        <p:nvPicPr>
          <p:cNvPr id="31" name="Picture 30" descr="kiosk-05-pay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0184" y="1233812"/>
            <a:ext cx="2231136" cy="397547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주문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</a:t>
            </a:r>
            <a:r>
              <a:rPr 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보드와</a:t>
            </a: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</a:t>
            </a: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목록에서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번호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·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메뉴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·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상태를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확인합니다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27101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상세에서 옵션 · 제외 재료까지 </a:t>
            </a:r>
            <a:r>
              <a:rPr lang="ko-KR" altLang="en-US" sz="130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더블체크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493008"/>
            <a:ext cx="2941320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64108" y="3727958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주문건별로 쉽게 보고 관리할 수 있는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7939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636008" y="1627632"/>
            <a:ext cx="6766560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463600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27939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 · 주문 상세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조회 · Live · 상태 변경 API 경로는 구현되어 있으며, 통합 테스트가 진행 중입니다.</a:t>
            </a:r>
            <a:endParaRPr lang="en-US" sz="1200" dirty="0"/>
          </a:p>
        </p:txBody>
      </p:sp>
      <p:pic>
        <p:nvPicPr>
          <p:cNvPr id="27" name="Picture 26" descr="admin-01-liveOr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627632"/>
            <a:ext cx="6766560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메뉴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101584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상세 · 카테고리를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조회합니다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101584" y="227101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정책은 고객 주문 화면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>
                <a:solidFill>
                  <a:srgbClr val="111827"/>
                </a:solidFill>
                <a:latin typeface="Pretendard"/>
              </a:rPr>
              <a:t>데이터의 기준이 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01584" y="3493008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302752" y="3639312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sz="1200">
                <a:solidFill>
                  <a:srgbClr val="111827"/>
                </a:solidFill>
                <a:latin typeface="Pretendard"/>
              </a:rPr>
              <a:t>기준 데이터가 흔들리면 Kiosk도 흔들린다. </a:t>
            </a:r>
          </a:p>
          <a:p>
            <a:pPr algn="l"/>
            <a:r>
              <a:rPr sz="1200">
                <a:solidFill>
                  <a:srgbClr val="111827"/>
                </a:solidFill>
                <a:latin typeface="Pretendard"/>
              </a:rPr>
              <a:t>(CRUD 범위는 구현 현황에 맞춤)</a:t>
            </a:r>
          </a:p>
        </p:txBody>
      </p:sp>
      <p:sp>
        <p:nvSpPr>
          <p:cNvPr id="20" name="Shape 18"/>
          <p:cNvSpPr/>
          <p:nvPr/>
        </p:nvSpPr>
        <p:spPr>
          <a:xfrm>
            <a:off x="43891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9552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메뉴 상세 · 품절 관리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조회는 API 연동, 등록 · 수정 · 삭제는 mock 제거 작업이 진행 중입니다.</a:t>
            </a:r>
            <a:endParaRPr lang="en-US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791B0B7-905B-4546-A526-2B5FF23C89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04"/>
          <a:stretch/>
        </p:blipFill>
        <p:spPr>
          <a:xfrm>
            <a:off x="795528" y="1591499"/>
            <a:ext cx="6766560" cy="37847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 프로세스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95431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1378311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8311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요구사항 분석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8311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32791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133959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3316839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316839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UI/DB 설계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316839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ERD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71319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072487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5255367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255367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개발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55367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09847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011015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7193895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193895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개발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193895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48375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8949543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9132423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9132423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 개발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132423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API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197864" y="3264576"/>
            <a:ext cx="173736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1380744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06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380744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1차 통합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380744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주문 · 메뉴 API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935224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3136392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3319272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07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3319272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DB 연동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3319272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MyBatis · MySQL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73752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5074920" y="3264576"/>
            <a:ext cx="1737360" cy="118872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5257800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08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5257800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RTOS 연동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5257800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Simulator · 장치 이벤트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12280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7013448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7196328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09</a:t>
            </a:r>
            <a:endParaRPr lang="en-US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7196328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테스트 QA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7196328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Bruno · 브라우저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38912" y="5120640"/>
            <a:ext cx="11313871" cy="566928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Text 55"/>
          <p:cNvSpPr txBox="1"/>
          <p:nvPr/>
        </p:nvSpPr>
        <p:spPr>
          <a:xfrm>
            <a:off x="438912" y="5285232"/>
            <a:ext cx="11313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250">
                <a:solidFill>
                  <a:srgbClr val="FFFFFF"/>
                </a:solidFill>
                <a:latin typeface="Pretendard"/>
              </a:rPr>
              <a:t>요구 → 설계 → 개발 → 1차 통합 → DB → RTOS → QA → 시연</a:t>
            </a:r>
            <a:endParaRPr lang="en-US" sz="1250" dirty="0"/>
          </a:p>
        </p:txBody>
      </p:sp>
      <p:sp>
        <p:nvSpPr>
          <p:cNvPr id="58" name="Rectangle 57"/>
          <p:cNvSpPr/>
          <p:nvPr/>
        </p:nvSpPr>
        <p:spPr>
          <a:xfrm>
            <a:off x="8951976" y="3264408"/>
            <a:ext cx="173736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750808" y="3831336"/>
            <a:ext cx="201168" cy="54864"/>
          </a:xfrm>
          <a:prstGeom prst="rect">
            <a:avLst/>
          </a:prstGeom>
          <a:solidFill>
            <a:srgbClr val="B5E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34856" y="3410712"/>
            <a:ext cx="11887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4A7A00"/>
                </a:solidFill>
                <a:latin typeface="Pretendard"/>
              </a:rPr>
              <a:t>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34856" y="3849624"/>
            <a:ext cx="13716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Pretendard"/>
              </a:rPr>
              <a:t>발표 시연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34856" y="41239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Pretendard"/>
              </a:rPr>
              <a:t>자료 정리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및 반영 내용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438912" y="19385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07.14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10512" y="1554480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197510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97510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path 형식과 camelCase / snake_case가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통일되어 있지 않다. 전역 상태도 과다하다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02552" y="2011680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114032" y="1554480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727862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27862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경로 · 네이밍 규칙을 명세로 통일하고,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전역 상태를 주문 세션 하나로 축소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" y="2670048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438912" y="30540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07.23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10512" y="2670048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197510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97510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DTO와 Mapper 구조를 정리하고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수직 슬라이스 한 경로로 완성하라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02552" y="3127248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114032" y="2670048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727862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7862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dto/request · dto/response 분리,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인터페이스 Mapper로 전환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8912" y="3785616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438912" y="41696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07.24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10512" y="3785616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197510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97510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문서의 테이블 정의와 실제 MySQL 스키마가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일치하는지 비교가 필요하다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02552" y="4242816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114032" y="3785616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727862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27862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API 명세를 실제 스키마와 대조해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24개 테이블 · FK 39건 기준으로 정리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8912" y="4901184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438912" y="52852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08.04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810512" y="4901184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197510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97510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장바구니에서 주문 생성 API까지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실연결하고 DB로 검증하라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702552" y="5358384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7114032" y="4901184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727862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27862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검증 API 서버 재계산 구현,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· 결제 승인 연동은 진행 중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 — 화면 결과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978408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978408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78408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및 카테고리 선택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840480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3840480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· 제외 재료 · 수량 선택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163056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주문 관리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25128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025128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메뉴 관리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시연 흐름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sz="1200">
                <a:solidFill>
                  <a:srgbClr val="FFFFFF"/>
                </a:solidFill>
                <a:latin typeface="Pretendard"/>
              </a:rPr>
              <a:t>메뉴 → 옵션·제외·수량 → 장바구니 → (주문) → Admin 확인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기타 참고 자료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Screen Bible · API 명세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WBS · Bruno API 테스트 자료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· GitHub 저장소</a:t>
            </a:r>
            <a:endParaRPr lang="en-US" sz="1200" dirty="0"/>
          </a:p>
        </p:txBody>
      </p:sp>
      <p:pic>
        <p:nvPicPr>
          <p:cNvPr id="41" name="Picture 40" descr="kiosk-02-menu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554480"/>
            <a:ext cx="1591056" cy="2834640"/>
          </a:xfrm>
          <a:prstGeom prst="rect">
            <a:avLst/>
          </a:prstGeom>
        </p:spPr>
      </p:pic>
      <p:pic>
        <p:nvPicPr>
          <p:cNvPr id="42" name="Picture 41" descr="kiosk-03-menu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1554480"/>
            <a:ext cx="1591056" cy="2834640"/>
          </a:xfrm>
          <a:prstGeom prst="rect">
            <a:avLst/>
          </a:prstGeom>
        </p:spPr>
      </p:pic>
      <p:pic>
        <p:nvPicPr>
          <p:cNvPr id="43" name="Picture 42" descr="admin-01-liveOrd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2221992"/>
            <a:ext cx="2670048" cy="1499616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25128" y="2224908"/>
            <a:ext cx="2670048" cy="149378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 — 설계 · 검증 산출물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키오스크 화면 설계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3300984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300984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데이터 모델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· 결제 데이터 모델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55862" y="1536192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API · DB 확인 자료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범위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· 데이터 · 테스트 자료를 같이 남겨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sz="1200" dirty="0" err="1">
                <a:solidFill>
                  <a:srgbClr val="FFFFFF"/>
                </a:solidFill>
                <a:latin typeface="Pretendard"/>
              </a:rPr>
              <a:t>화면과</a:t>
            </a:r>
            <a:r>
              <a:rPr sz="1200" dirty="0">
                <a:solidFill>
                  <a:srgbClr val="FFFFFF"/>
                </a:solidFill>
                <a:latin typeface="Pretendard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Pretendard"/>
              </a:rPr>
              <a:t>흐름을</a:t>
            </a:r>
            <a:r>
              <a:rPr sz="1200" dirty="0">
                <a:solidFill>
                  <a:srgbClr val="FFFFFF"/>
                </a:solidFill>
                <a:latin typeface="Pretendard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Pretendard"/>
              </a:rPr>
              <a:t>추적했다</a:t>
            </a:r>
            <a:r>
              <a:rPr sz="1200" dirty="0">
                <a:solidFill>
                  <a:srgbClr val="FFFFFF"/>
                </a:solidFill>
                <a:latin typeface="Pretendard"/>
              </a:rPr>
              <a:t>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산출물 목록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· Screen Bible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ERD · 주문 · 결제 ERD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컬렉션 · MySQL 조회 결과</a:t>
            </a:r>
            <a:endParaRPr lang="en-US" sz="1200" dirty="0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4792FA4A-C66B-425A-A70A-BA2617BC50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70" t="12267" r="26077"/>
          <a:stretch/>
        </p:blipFill>
        <p:spPr>
          <a:xfrm>
            <a:off x="9376156" y="1542601"/>
            <a:ext cx="2029460" cy="2864807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A93AAF92-7FD9-4200-88EF-CC767BB23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7" y="2345436"/>
            <a:ext cx="2670047" cy="1179576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6F4ED09C-C819-4100-A8EF-32FFF5ACFB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4165" y="2410968"/>
            <a:ext cx="2663685" cy="105841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0419DED-BD63-4ED0-84F8-B320B1181D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7252" y="3030951"/>
            <a:ext cx="607500" cy="1080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9D04CCF-7D28-4442-B2B0-D67524350B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1813766"/>
            <a:ext cx="607500" cy="10800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B648B703-D986-4BA9-88AE-5F9F28E854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2510" y="1813766"/>
            <a:ext cx="607500" cy="108000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A680044B-3DF9-4F5C-97D0-7B12BF6639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17252" y="1825286"/>
            <a:ext cx="607500" cy="1080000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264AC60-FEF0-40ED-BEA3-E82F05F2B5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" y="3037377"/>
            <a:ext cx="607500" cy="10800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A4C4EA7B-ADCA-410D-8107-3999A56C36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51818" y="3037377"/>
            <a:ext cx="6075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 평가 의견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자체 평가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3639312" cy="4480560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704461" y="2363238"/>
            <a:ext cx="20657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b="1" dirty="0">
                <a:solidFill>
                  <a:schemeClr val="bg1"/>
                </a:solidFill>
              </a:rPr>
              <a:t>9 / 10</a:t>
            </a:r>
          </a:p>
        </p:txBody>
      </p:sp>
      <p:sp>
        <p:nvSpPr>
          <p:cNvPr id="16" name="Shape 14"/>
          <p:cNvSpPr/>
          <p:nvPr/>
        </p:nvSpPr>
        <p:spPr>
          <a:xfrm>
            <a:off x="640080" y="3145536"/>
            <a:ext cx="3236976" cy="18288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85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566160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WBS 항목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2428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40740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테이블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0840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5248656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79392" y="1554480"/>
            <a:ext cx="7479792" cy="1389888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4480560" y="1719072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잘한 점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2084832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sz="1250">
                <a:solidFill>
                  <a:srgbClr val="111827"/>
                </a:solidFill>
                <a:latin typeface="Pretendard"/>
              </a:rPr>
              <a:t>문서·Kiosk·Admin·Backend를 저장소로 나누고, 옵션·제외까지 담은 데이터 모델을 설계했다.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279392" y="3090672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279392" y="3090672"/>
            <a:ext cx="45720" cy="138988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4480560" y="3255264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보완할 점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480560" y="3621024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sz="1250">
                <a:solidFill>
                  <a:srgbClr val="111827"/>
                </a:solidFill>
                <a:latin typeface="Pretendard"/>
              </a:rPr>
              <a:t>주문 생성·결제 승인 E2E와 Admin mock 제거·실연동을 끝까지 검증해야 한다.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279392" y="4626864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4279392" y="4626864"/>
            <a:ext cx="45720" cy="1389888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4480560" y="4791456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프로젝트를 통해 배운 점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5157216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sz="1250">
                <a:solidFill>
                  <a:srgbClr val="111827"/>
                </a:solidFill>
                <a:latin typeface="Pretendard"/>
              </a:rPr>
              <a:t>화면·API·DB는 각각 통과해도, 같은 주문번호로 한 줄로 이을 때 진짜 검증이 된다.</a:t>
            </a:r>
            <a:endParaRPr lang="en-US" sz="12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6DF1FA-54FA-411A-9147-E714F941840F}"/>
              </a:ext>
            </a:extLst>
          </p:cNvPr>
          <p:cNvSpPr txBox="1"/>
          <p:nvPr/>
        </p:nvSpPr>
        <p:spPr>
          <a:xfrm>
            <a:off x="644092" y="1767239"/>
            <a:ext cx="18394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B5E30F"/>
                </a:solidFill>
              </a:rPr>
              <a:t>현재 단계</a:t>
            </a:r>
            <a:br>
              <a:rPr lang="en-US" altLang="ko-KR" sz="1400" b="1" dirty="0">
                <a:solidFill>
                  <a:srgbClr val="B5E30F"/>
                </a:solidFill>
              </a:rPr>
            </a:br>
            <a:r>
              <a:rPr lang="ko-KR" altLang="en-US" sz="1400" b="1" dirty="0">
                <a:solidFill>
                  <a:srgbClr val="B5E30F"/>
                </a:solidFill>
              </a:rPr>
              <a:t>완성도 자체 평가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4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920240" y="466344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424160" y="82296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1155680" y="4480560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0" y="2286000"/>
            <a:ext cx="121916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샐러드 스마트 키오스크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0" y="310896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선택 → 옵션 · 제외 재료 · 수량 선택 → 장바구니 → 주문 관리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67528" y="3712464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Pretendard"/>
        <a:cs typeface="Pretendard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Pretendard"/>
        <a:cs typeface="Pretendard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Pretendard"/>
        <a:cs typeface="Pretendard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Pretendard"/>
        <a:cs typeface="Pretendard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2785</Words>
  <Application>Microsoft Office PowerPoint</Application>
  <PresentationFormat>와이드스크린</PresentationFormat>
  <Paragraphs>586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5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ASAK : 샐러드 스마트 키오스크</dc:title>
  <dc:subject>PptxGenJS Presentation</dc:subject>
  <dc:creator>TEAM ASAK</dc:creator>
  <cp:lastModifiedBy>Administrator</cp:lastModifiedBy>
  <cp:revision>28</cp:revision>
  <dcterms:created xsi:type="dcterms:W3CDTF">2026-08-07T09:36:12Z</dcterms:created>
  <dcterms:modified xsi:type="dcterms:W3CDTF">2026-08-21T06:32:56Z</dcterms:modified>
</cp:coreProperties>
</file>
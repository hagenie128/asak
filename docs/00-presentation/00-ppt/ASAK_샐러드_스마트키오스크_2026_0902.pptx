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69" r:id="rId16"/>
    <p:sldId id="279" r:id="rId17"/>
    <p:sldId id="280" r:id="rId18"/>
    <p:sldId id="281" r:id="rId19"/>
    <p:sldId id="270" r:id="rId20"/>
    <p:sldId id="271" r:id="rId21"/>
    <p:sldId id="282" r:id="rId22"/>
    <p:sldId id="283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/>
  <p:notesSz cx="6858000" cy="12192000"/>
  <p:embeddedFontLst>
    <p:embeddedFont>
      <p:font typeface="Pretendard" panose="02000503000000020004" pitchFamily="50" charset="-127"/>
      <p:regular r:id="rId31"/>
      <p:bold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retendard"/>
        <a:ea typeface="Pretendard"/>
        <a:cs typeface="Pretendard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E30F"/>
    <a:srgbClr val="FBBF2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720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Pretendard"/>
        <a:ea typeface="Pretendard"/>
        <a:cs typeface="Pretendard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표지. ASAK = A Salad A Kiosk. 팀 다비치 · 이하진·김나연. AI 추천·무인결제 완성 표현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목차. Why → Who → How → Build → Review 다섯 단계로 발표한다.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개요. 셀프오더 트렌드 중 ‘정확한 커스터마이징’에 집중. AI 추천·성과 수치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팀. 역할은 화면·API 단위. 통합·발표는 공동.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절차. 문서 선행 후 화면·서버를 연결한다. 8/3~8/14 실 API·DB 연동, 8/17~8/21 RTOS, 8/24 이후 통합 테스트·문서화 순서.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수행 경과 요약. 이후 7~20쪽에서 각 항목을 상세히 다룬다.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활용 기술. 실제 package.json 기준. 외부 API는 Cloudinary 이미지 API, Figma API/MCP 연동을 별도 표기하고, 결제는 실 PG가 아닌 가상 결제 REST API임을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전체 구조. React Kiosk/Admin → Spring Boot REST API → MySQL. KSD 실 API·DB 연동 이후 8/17~8/21 RTOS Simulator를 영수증/장치 이벤트 중심으로 연결할 예정이며, 현재 완료 기능처럼 표현하지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1/2. 아삭_mysql.sql 정본 기준. 전체 24개 테이블 중 메뉴·옵션 핵심 9개만 표시했고 부가 테이블은 하단에 이름으로 남겼다.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ERD 2/2. 주문 상태·주문 유형·결제 수단·결제 상태는 모두 common_code를 참조하는 공통코드 구조다. code_group → common_code → orders/payment/pay_method_cfg 경로를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화면설계. 단계 분리 + 선택 유지가 UX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핵심 차별점. 커스터마이징 UX = 실수 없이 조합 완성. 서버 재검증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6239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00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12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메뉴 목록 화면. Kiosk 캡처 2장(기본 목록 / 카테고리 전환 또는 품절 상태)을 넣는다.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297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운영 연동. 키오스크 주문이 Admin까지 와야 루프가 닫힌다.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관리자 메뉴 관리. 조회만 구현했다면 제목을 "메뉴 정보 조회"로 바꾼다.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162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시연 범위 B: 결제 화면 이동까지. 승인 완료는 말하지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65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수행 프로세스. 06 1차 통합 → 07 DB 연동 → 08 RTOS 연동 → 09 테스트 QA → 10 발표 시연 순서. RTOS는 실 API·DB 연동 이후 단계로 표시한다.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피드백. 4건 모두 회의록에 날짜와 함께 기록된 실제 강사 피드백이다. 8/4 항목의 주문 생성·결제 연동은 아직 진행 중임을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1/2. 캡처 칸 크기는 동일하게 두고 이미지 비율은 유지한다. 늘려 맞추지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결과물 2/2. 설계·검증 산출물. 실제 확보한 자료만 남기고 나머지 칸은 삭제한다.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자체 평가. mock 1차 연결 ≠ DONE. 통합 검증 진행 중을 정직하게.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마무리. ASAK는 옵션이 많은 샐러드 주문을 실수 없이 끝내고 운영 화면까지 연결한다.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retendard"/>
          <a:ea typeface="Pretendard"/>
          <a:cs typeface="Pretendard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Pretendard"/>
          <a:ea typeface="Pretendard"/>
          <a:cs typeface="Pretendard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retendard"/>
          <a:ea typeface="Pretendard"/>
          <a:cs typeface="Pretendar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212140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11880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8586216" y="2121408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3611880" y="4315968"/>
            <a:ext cx="4974336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11880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86216" y="4096512"/>
            <a:ext cx="0" cy="219456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8531352" y="41148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253728" y="0"/>
            <a:ext cx="100584" cy="1408176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456432" y="4636008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898648" y="4910328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0" y="1700784"/>
            <a:ext cx="12191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그린컴퓨터아카데미 신촌 · 키오스크 풀스택 개발자 양성과정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0" y="2633472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샐러드 스마트 키오스크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0" y="3529584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 Salad A Kiosk — </a:t>
            </a:r>
            <a:r>
              <a:rPr lang="ko-KR" altLang="en-US" sz="15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커스터마이징을 더 정확하고 편리한 주문 경험으로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13048" y="4846320"/>
            <a:ext cx="4572000" cy="69494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3813048" y="49560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다비치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13048" y="521208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Pretendard"/>
              </a:rPr>
              <a:t>이하진 · 김나연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0" y="6291072"/>
            <a:ext cx="12191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다비치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(ASAK </a:t>
            </a:r>
            <a:r>
              <a:rPr lang="en-US" sz="90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샐러드스마트</a:t>
            </a: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키오스크)  ·  2026.06.29 ~ 2026.09.02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731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38912" y="140817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38912" y="1993392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438912" y="2157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215798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221284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시작한 이유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98448" y="2633472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8912" y="2779776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438912" y="29443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2944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구성 및 역할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99923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Who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및 담당 기능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98448" y="3419856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38912" y="3566160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891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37307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절차 및 방법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37856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설계부터 구현까지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98448" y="4206240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438912" y="45171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4517136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4572000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Build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기능 및 결과물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298448" y="4992624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38912" y="5138928"/>
            <a:ext cx="640080" cy="64008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38912" y="53035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53035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</a:t>
            </a: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5358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 — </a:t>
            </a:r>
            <a:r>
              <a:rPr lang="ko-KR" alt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성과와 개선 방향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298448" y="5779008"/>
            <a:ext cx="10012680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프로젝트 개요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주제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기획 의도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특화 ·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sz="1500" b="1">
                <a:solidFill>
                  <a:srgbClr val="111827"/>
                </a:solidFill>
                <a:latin typeface="Pretendard"/>
              </a:rPr>
              <a:t>차별화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2941746" y="3090672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옵션 정책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상태와 수량 제한을 주문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화면뿐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아니라 서버 검증도 동일하게 적용했습니다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결과는 관리자 화면에서 확인할 수 있도록 구성했습니다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15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111496" y="1883664"/>
            <a:ext cx="2116836" cy="420624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내용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276088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3145536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 · 목록 · 상세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장바구니 · 결제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276088" y="3813048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276088" y="399592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 · 품절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276088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5276088" y="4775685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· 주문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sz="1150">
                <a:solidFill>
                  <a:srgbClr val="111827"/>
                </a:solidFill>
                <a:latin typeface="Pretendard"/>
              </a:rPr>
              <a:t>검증 API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47788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·</a:t>
            </a:r>
            <a:endParaRPr lang="en-US" sz="1500" dirty="0"/>
          </a:p>
          <a:p>
            <a:pPr algn="l"/>
            <a:r>
              <a:rPr sz="1500" b="1">
                <a:solidFill>
                  <a:srgbClr val="111827"/>
                </a:solidFill>
                <a:latin typeface="Pretendard"/>
              </a:rPr>
              <a:t>자료</a:t>
            </a:r>
          </a:p>
        </p:txBody>
      </p:sp>
      <p:sp>
        <p:nvSpPr>
          <p:cNvPr id="40" name="Text 38"/>
          <p:cNvSpPr txBox="1"/>
          <p:nvPr/>
        </p:nvSpPr>
        <p:spPr>
          <a:xfrm>
            <a:off x="7612380" y="296265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프론트엔드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7612380" y="3143690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· React Router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Zustand · Axios · Vite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7612380" y="378561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· DB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612380" y="3959352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· Java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 · MySQL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7612380" y="4608576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협업 · 문서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7612380" y="4773168"/>
            <a:ext cx="1819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Bruno · GitHub</a:t>
            </a:r>
            <a:endParaRPr lang="en-US" sz="1150" dirty="0"/>
          </a:p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WBS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9784080" y="1883664"/>
            <a:ext cx="2116836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방안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9948672" y="3090672"/>
            <a:ext cx="18196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고객은 복잡한 옵션을 순서대로 쉽게 선택하고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관리자는 주문과 메뉴 상태를 하나의 운영 화면에서 확인할 수 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이를 통해 주문 과정에서 발생할 수 있는 입력 오류를 줄이고자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53" name="Text 22">
            <a:extLst>
              <a:ext uri="{FF2B5EF4-FFF2-40B4-BE49-F238E27FC236}">
                <a16:creationId xmlns:a16="http://schemas.microsoft.com/office/drawing/2014/main" id="{C99A4CBA-9F79-485F-A839-63B139311154}"/>
              </a:ext>
            </a:extLst>
          </p:cNvPr>
          <p:cNvSpPr txBox="1"/>
          <p:nvPr/>
        </p:nvSpPr>
        <p:spPr>
          <a:xfrm>
            <a:off x="587502" y="3094084"/>
            <a:ext cx="181965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샐러드는 메뉴 선택 이후에도 옵션 추가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제외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 조절 </a:t>
            </a:r>
            <a:r>
              <a:rPr lang="ko-KR" altLang="en-US" sz="115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등여러</a:t>
            </a:r>
            <a:r>
              <a:rPr lang="ko-KR" altLang="en-US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과정이 필요합니다</a:t>
            </a:r>
            <a:r>
              <a:rPr lang="en-US" altLang="ko-KR" sz="11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ts val="1600"/>
              </a:lnSpc>
              <a:buNone/>
            </a:pPr>
            <a:endParaRPr lang="en-US" altLang="ko-KR" sz="11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ts val="1600"/>
              </a:lnSpc>
              <a:buNone/>
            </a:pP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ASAK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는 이러한 복잡한 주문 과정을 단계별로 구성해사용자의 주문 실수를 줄이는 것을 목표로 했습니다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1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팀 구성 및 역할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팀 구성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" y="1463040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 팀으로 구성하여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중심으로 역할을 분담하고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연동과 통합 테스트는 함께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94944" y="2217039"/>
            <a:ext cx="237744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이하진</a:t>
            </a:r>
            <a:endParaRPr lang="en-US" sz="2600" spc="600" dirty="0"/>
          </a:p>
        </p:txBody>
      </p:sp>
      <p:sp>
        <p:nvSpPr>
          <p:cNvPr id="20" name="Text 18"/>
          <p:cNvSpPr txBox="1"/>
          <p:nvPr/>
        </p:nvSpPr>
        <p:spPr>
          <a:xfrm>
            <a:off x="588264" y="2755773"/>
            <a:ext cx="1678418" cy="221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· Documentation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94944" y="3211449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Admin </a:t>
            </a:r>
            <a:r>
              <a:rPr lang="ko-KR" altLang="en-US" sz="1150" dirty="0">
                <a:latin typeface="Pretendard"/>
              </a:rPr>
              <a:t>화면 기획 및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Live </a:t>
            </a:r>
            <a:r>
              <a:rPr lang="ko-KR" altLang="en-US" sz="1150" dirty="0">
                <a:latin typeface="Pretendard"/>
              </a:rPr>
              <a:t>주문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주문 관리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메뉴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품절 관리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관리자 </a:t>
            </a: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</a:t>
            </a:r>
            <a:r>
              <a:rPr lang="en-US" altLang="ko-KR" sz="1150" dirty="0">
                <a:latin typeface="Pretendard"/>
              </a:rPr>
              <a:t>DB </a:t>
            </a:r>
            <a:r>
              <a:rPr lang="ko-KR" altLang="en-US" sz="1150" dirty="0">
                <a:latin typeface="Pretendard"/>
              </a:rPr>
              <a:t>구조 반영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Figma · Screen Bible · WBS · </a:t>
            </a:r>
            <a:r>
              <a:rPr lang="ko-KR" altLang="en-US" sz="1150" dirty="0">
                <a:latin typeface="Pretendard"/>
              </a:rPr>
              <a:t>발표 자료 관리</a:t>
            </a:r>
          </a:p>
        </p:txBody>
      </p:sp>
      <p:sp>
        <p:nvSpPr>
          <p:cNvPr id="23" name="Shape 21"/>
          <p:cNvSpPr/>
          <p:nvPr/>
        </p:nvSpPr>
        <p:spPr>
          <a:xfrm>
            <a:off x="6199632" y="1883664"/>
            <a:ext cx="555955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55664" y="2207514"/>
            <a:ext cx="1187196" cy="42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spc="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김나연</a:t>
            </a:r>
            <a:endParaRPr lang="en-US" sz="2600" spc="60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755773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000" b="1" dirty="0">
                <a:solidFill>
                  <a:schemeClr val="accent6">
                    <a:lumMod val="7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· QA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55664" y="2999232"/>
            <a:ext cx="5047488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449568" y="318211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Kiosk </a:t>
            </a:r>
            <a:r>
              <a:rPr lang="ko-KR" altLang="en-US" sz="1150" dirty="0">
                <a:latin typeface="Pretendard"/>
              </a:rPr>
              <a:t>주문 프로세스 및 옵션 </a:t>
            </a:r>
            <a:r>
              <a:rPr lang="en-US" altLang="ko-KR" sz="1150" dirty="0">
                <a:latin typeface="Pretendard"/>
              </a:rPr>
              <a:t>UI </a:t>
            </a:r>
            <a:r>
              <a:rPr lang="ko-KR" altLang="en-US" sz="1150" dirty="0">
                <a:latin typeface="Pretendard"/>
              </a:rPr>
              <a:t>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필수</a:t>
            </a:r>
            <a:r>
              <a:rPr lang="en-US" altLang="ko-KR" sz="1150" dirty="0">
                <a:latin typeface="Pretendard"/>
              </a:rPr>
              <a:t>/</a:t>
            </a:r>
            <a:r>
              <a:rPr lang="ko-KR" altLang="en-US" sz="1150" dirty="0">
                <a:latin typeface="Pretendard"/>
              </a:rPr>
              <a:t>선택 옵션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재료 제외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수량 제한 처리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150" dirty="0">
                <a:latin typeface="Pretendard"/>
              </a:rPr>
              <a:t>장바구니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결제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완료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타임아웃 화면 구현</a:t>
            </a:r>
            <a:endParaRPr lang="en-US" altLang="ko-KR" sz="1150" dirty="0"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150" dirty="0">
                <a:latin typeface="Pretendard"/>
              </a:rPr>
              <a:t>API </a:t>
            </a:r>
            <a:r>
              <a:rPr lang="ko-KR" altLang="en-US" sz="1150" dirty="0">
                <a:latin typeface="Pretendard"/>
              </a:rPr>
              <a:t>연동 및 테스트 </a:t>
            </a:r>
            <a:r>
              <a:rPr lang="en-US" altLang="ko-KR" sz="1150" dirty="0">
                <a:latin typeface="Pretendard"/>
              </a:rPr>
              <a:t>· </a:t>
            </a:r>
            <a:r>
              <a:rPr lang="ko-KR" altLang="en-US" sz="1150" dirty="0">
                <a:latin typeface="Pretendard"/>
              </a:rPr>
              <a:t>시연 시나리오 검증</a:t>
            </a:r>
          </a:p>
        </p:txBody>
      </p:sp>
      <p:sp>
        <p:nvSpPr>
          <p:cNvPr id="32" name="Text 100">
            <a:extLst>
              <a:ext uri="{FF2B5EF4-FFF2-40B4-BE49-F238E27FC236}">
                <a16:creationId xmlns:a16="http://schemas.microsoft.com/office/drawing/2014/main" id="{A4971B6E-3F02-4912-8117-768CDFB8E474}"/>
              </a:ext>
            </a:extLst>
          </p:cNvPr>
          <p:cNvSpPr txBox="1"/>
          <p:nvPr/>
        </p:nvSpPr>
        <p:spPr>
          <a:xfrm>
            <a:off x="274320" y="5687568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 역할을 분담하되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및 최종 검증은 공동으로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절차 및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수행 절차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8911" y="139293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요구사항과 문서를 먼저 정의한 뒤 </a:t>
            </a:r>
            <a:endParaRPr lang="en-US" altLang="ko-KR" sz="1300" dirty="0">
              <a:solidFill>
                <a:srgbClr val="6B7280"/>
              </a:solidFill>
              <a:latin typeface="Pretendard"/>
            </a:endParaRPr>
          </a:p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화면 구현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API/DB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RTOS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</a:rPr>
              <a:t>연동 → 통합 테스트 순으로 진행했습니다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300" dirty="0">
              <a:solidFill>
                <a:srgbClr val="6B7280"/>
              </a:solidFill>
              <a:latin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236976"/>
            <a:ext cx="10561320" cy="18288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1323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1323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210312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기획 · 요구사항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6/29~7/12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19456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372868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1691640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UI · DB · Figma 설계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7/6~7/19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75888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367588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854196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172968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Kiosk 화면 구현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172968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7/13~7/22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7216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5157216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335524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654296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Admin 화면 구현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654296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7/20~8/7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38544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638544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816852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135624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API 계약 · 백엔드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135624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7/23~7/31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119872" y="3063240"/>
            <a:ext cx="365760" cy="36576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8119872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298180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7616952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실 API · DB 연동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616952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8/3~8/14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9601200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9779508" y="2935224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098280" y="23957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4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098280" y="26883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8/17~8/21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1082528" y="3063240"/>
            <a:ext cx="3657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6C97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11082528" y="3136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11260836" y="3429000"/>
            <a:ext cx="9144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10579608" y="35661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1100" b="1">
                <a:solidFill>
                  <a:srgbClr val="111827"/>
                </a:solidFill>
                <a:latin typeface="Pretendard"/>
              </a:rPr>
              <a:t>통합 테스트 · 문서화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579608" y="3858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sz="950">
                <a:solidFill>
                  <a:srgbClr val="6B7280"/>
                </a:solidFill>
                <a:latin typeface="Pretendard"/>
              </a:rPr>
              <a:t>8/24~9/1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5120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731520" y="49926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개발기간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5486400" y="4956048"/>
            <a:ext cx="5532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2026.06.29  ~  2026.09.02   (9주 · ISO W27~W36)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경과 요약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39064" y="13853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수행 과정과 결과를 기술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 프로세스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반영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산출물의 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가지 관점에서 정리했습니다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8912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38912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03504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방법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Pretendard"/>
              </a:rPr>
              <a:t>React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기반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Kiosk/Admin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과 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Spring Boot · </a:t>
            </a:r>
            <a:r>
              <a:rPr lang="en-US" sz="1150" dirty="0" err="1">
                <a:solidFill>
                  <a:srgbClr val="111827"/>
                </a:solidFill>
                <a:latin typeface="Pretendard"/>
              </a:rPr>
              <a:t>MyBatis</a:t>
            </a:r>
            <a:r>
              <a:rPr lang="en-US" sz="1150" dirty="0">
                <a:solidFill>
                  <a:srgbClr val="111827"/>
                </a:solidFill>
                <a:latin typeface="Pretendard"/>
              </a:rPr>
              <a:t> · MySQL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을 활용한 서비스 구조</a:t>
            </a:r>
          </a:p>
        </p:txBody>
      </p:sp>
      <p:sp>
        <p:nvSpPr>
          <p:cNvPr id="19" name="Shape 17"/>
          <p:cNvSpPr/>
          <p:nvPr/>
        </p:nvSpPr>
        <p:spPr>
          <a:xfrm>
            <a:off x="2775204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75204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939796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39796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화면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939796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옵션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재료 제외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수량 선택부터 장바구니와 관리자 주문 관리까지</a:t>
            </a:r>
          </a:p>
        </p:txBody>
      </p:sp>
      <p:sp>
        <p:nvSpPr>
          <p:cNvPr id="24" name="Shape 22"/>
          <p:cNvSpPr/>
          <p:nvPr/>
        </p:nvSpPr>
        <p:spPr>
          <a:xfrm>
            <a:off x="5111496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111496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5276088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76088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276088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요구사항 분석 → 설계 → 개발 → 연동 →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시연</a:t>
            </a:r>
          </a:p>
        </p:txBody>
      </p:sp>
      <p:sp>
        <p:nvSpPr>
          <p:cNvPr id="29" name="Shape 27"/>
          <p:cNvSpPr/>
          <p:nvPr/>
        </p:nvSpPr>
        <p:spPr>
          <a:xfrm>
            <a:off x="7447788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7447788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612380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612380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반영 내용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612380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화면 흐름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데이터 구조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서버 검증을 반복적으로 보완</a:t>
            </a:r>
          </a:p>
        </p:txBody>
      </p:sp>
      <p:sp>
        <p:nvSpPr>
          <p:cNvPr id="34" name="Shape 32"/>
          <p:cNvSpPr/>
          <p:nvPr/>
        </p:nvSpPr>
        <p:spPr>
          <a:xfrm>
            <a:off x="9784080" y="1883664"/>
            <a:ext cx="211683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784080" y="1883664"/>
            <a:ext cx="2116836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9948672" y="20482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948672" y="2340864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</a:t>
            </a:r>
            <a:endParaRPr lang="en-US" sz="15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첨부 자료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948672" y="3093720"/>
            <a:ext cx="181965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구현 화면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ERD · API </a:t>
            </a:r>
            <a:r>
              <a:rPr lang="ko-KR" altLang="en-US" sz="11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150" dirty="0">
                <a:solidFill>
                  <a:srgbClr val="111827"/>
                </a:solidFill>
                <a:latin typeface="Pretendard"/>
              </a:rPr>
              <a:t>· Bible · WBS</a:t>
            </a:r>
            <a:endParaRPr lang="en-US" sz="1150" dirty="0">
              <a:solidFill>
                <a:srgbClr val="111827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2400" b="1" dirty="0">
                <a:solidFill>
                  <a:srgbClr val="111827"/>
                </a:solidFill>
                <a:latin typeface="Pretendard"/>
              </a:rPr>
              <a:t>개발 환경 및 기술 스택</a:t>
            </a:r>
            <a:endParaRPr lang="ko-KR" alt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Kiosk · Admin · Backend</a:t>
            </a:r>
            <a:r>
              <a:rPr lang="ko-KR" altLang="en-US" sz="1100" dirty="0">
                <a:solidFill>
                  <a:srgbClr val="6B7280"/>
                </a:solidFill>
                <a:latin typeface="Pretendard"/>
              </a:rPr>
              <a:t>를 기준으로 실제 프로젝트에 적용한 기술입니다</a:t>
            </a:r>
            <a:r>
              <a:rPr lang="en-US" altLang="ko-KR" sz="1100" dirty="0">
                <a:solidFill>
                  <a:srgbClr val="6B7280"/>
                </a:solidFill>
                <a:latin typeface="Pretendard"/>
              </a:rPr>
              <a:t>.</a:t>
            </a:r>
            <a:endParaRPr lang="ko-KR" alt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645920"/>
            <a:ext cx="201168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66928" y="173736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계층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50592" y="1645920"/>
            <a:ext cx="3291840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2578608" y="173736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기술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42432" y="1645920"/>
            <a:ext cx="6010351" cy="347472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5870448" y="173736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 내용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1993392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566928" y="2167128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프론트엔드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50592" y="1993392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578608" y="2167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42432" y="1993392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870448" y="2167128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세션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옵션 조회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장바구니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 화면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이미지 연동</a:t>
            </a:r>
            <a:endParaRPr lang="ko-KR" alt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" y="2505456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38912" y="2505456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566928" y="2679192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프론트엔드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450592" y="2505456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2578608" y="26791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React 19 · Router 7 · Zustand 5 · Axios · Vite 8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742432" y="2505456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5870448" y="2679192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실시간 주문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주문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메뉴 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품절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매출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결제수단</a:t>
            </a:r>
            <a:endParaRPr lang="ko-KR" alt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" y="3017520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438912" y="3017520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566928" y="3191256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50592" y="3017520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5"/>
          <p:cNvSpPr txBox="1"/>
          <p:nvPr/>
        </p:nvSpPr>
        <p:spPr>
          <a:xfrm>
            <a:off x="2578608" y="319125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Spring Boot 4.0.7 · Java 25 · MyBatis · Gradle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742432" y="3017520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5870448" y="3191256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REST API · Kiosk/Admin API 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비즈니스 로직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데이터 검증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38912" y="3529584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438912" y="3529584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566928" y="3703320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외부 API · 이미지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2450592" y="3529584"/>
            <a:ext cx="3291840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2578608" y="370332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28322D"/>
                </a:solidFill>
                <a:latin typeface="Pretendard"/>
              </a:rPr>
              <a:t>Cloudinary Upload/Delivery API · MySQL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742432" y="3529584"/>
            <a:ext cx="6010351" cy="512064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5870448" y="3703320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050" dirty="0" err="1">
                <a:solidFill>
                  <a:srgbClr val="28322D"/>
                </a:solidFill>
                <a:latin typeface="Pretendard"/>
              </a:rPr>
              <a:t>Cloudinary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이미지 업로드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제공 </a:t>
            </a:r>
            <a:r>
              <a:rPr lang="en-US" altLang="ko-KR" sz="1050" dirty="0">
                <a:solidFill>
                  <a:srgbClr val="28322D"/>
                </a:solidFill>
                <a:latin typeface="Pretendard"/>
              </a:rPr>
              <a:t>· MySQL </a:t>
            </a:r>
            <a:r>
              <a:rPr lang="ko-KR" altLang="en-US" sz="1050" dirty="0">
                <a:solidFill>
                  <a:srgbClr val="28322D"/>
                </a:solidFill>
                <a:latin typeface="Pretendard"/>
              </a:rPr>
              <a:t>데이터 관리</a:t>
            </a:r>
            <a:endParaRPr lang="ko-KR" alt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38912" y="4041648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438912" y="4041648"/>
            <a:ext cx="2011680" cy="512064"/>
          </a:xfrm>
          <a:prstGeom prst="rect">
            <a:avLst/>
          </a:prstGeom>
          <a:solidFill>
            <a:srgbClr val="F5FBE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566928" y="4215384"/>
            <a:ext cx="1755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150" b="1">
                <a:solidFill>
                  <a:srgbClr val="4A7A00"/>
                </a:solidFill>
                <a:latin typeface="Pretendard"/>
              </a:rPr>
              <a:t>개발 · 협업 툴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2450592" y="4041648"/>
            <a:ext cx="329184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" name="Text 49"/>
          <p:cNvSpPr txBox="1"/>
          <p:nvPr/>
        </p:nvSpPr>
        <p:spPr>
          <a:xfrm>
            <a:off x="2578608" y="421538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50">
                <a:solidFill>
                  <a:srgbClr val="111827"/>
                </a:solidFill>
                <a:latin typeface="Pretendard"/>
              </a:rPr>
              <a:t>GitHub · Notion · Figma · Bruno · DevCopilot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742432" y="4041648"/>
            <a:ext cx="6010351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870448" y="4215384"/>
            <a:ext cx="57543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형상관리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화면 설계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API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테스트 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일정</a:t>
            </a:r>
            <a:r>
              <a:rPr lang="en-US" altLang="ko-KR" sz="1050" dirty="0">
                <a:solidFill>
                  <a:srgbClr val="111827"/>
                </a:solidFill>
                <a:latin typeface="Pretendard"/>
              </a:rPr>
              <a:t>/</a:t>
            </a:r>
            <a:r>
              <a:rPr lang="ko-KR" altLang="en-US" sz="1050" dirty="0">
                <a:solidFill>
                  <a:srgbClr val="111827"/>
                </a:solidFill>
                <a:latin typeface="Pretendard"/>
              </a:rPr>
              <a:t>문서 관리</a:t>
            </a:r>
            <a:endParaRPr lang="ko-KR" alt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38912" y="4553712"/>
            <a:ext cx="11313871" cy="9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438912" y="4846320"/>
            <a:ext cx="11313871" cy="109728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71422" y="4982856"/>
            <a:ext cx="1771200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내부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REST API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69504" y="4979822"/>
            <a:ext cx="1771088" cy="210000"/>
          </a:xfrm>
          <a:prstGeom prst="round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 err="1">
                <a:solidFill>
                  <a:srgbClr val="243300"/>
                </a:solidFill>
                <a:latin typeface="Pretendard"/>
              </a:rPr>
              <a:t>외부</a:t>
            </a:r>
            <a:r>
              <a:rPr sz="1200" b="1" dirty="0">
                <a:solidFill>
                  <a:srgbClr val="243300"/>
                </a:solidFill>
                <a:latin typeface="Pretendard"/>
              </a:rPr>
              <a:t> API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1421" y="5266320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GET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/kiosk/categories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menuList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menuDetail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/{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menuId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}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Kiosk: POST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api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/kiosk/cart/validate · /orders · /payments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Admin: /orders · /menus · /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soldOut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/sales · /payment-methods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69504" y="5261466"/>
            <a:ext cx="5366935" cy="64728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Cloudinary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: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이미지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</a:t>
            </a:r>
            <a:r>
              <a:rPr sz="1019" dirty="0" err="1">
                <a:solidFill>
                  <a:srgbClr val="465014"/>
                </a:solidFill>
                <a:latin typeface="Pretendard"/>
              </a:rPr>
              <a:t>업로드</a:t>
            </a:r>
            <a:r>
              <a:rPr sz="1019" dirty="0">
                <a:solidFill>
                  <a:srgbClr val="465014"/>
                </a:solidFill>
                <a:latin typeface="Pretendard"/>
              </a:rPr>
              <a:t> · URL Delivery</a:t>
            </a:r>
            <a:endParaRPr lang="en-US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 • Figma API/MCP :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디자인과 구현 화면 비교 및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UI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개선</a:t>
            </a:r>
            <a:endParaRPr lang="en-US" altLang="ko-KR" sz="1019" dirty="0">
              <a:solidFill>
                <a:srgbClr val="465014"/>
              </a:solidFill>
              <a:latin typeface="Pretendard"/>
            </a:endParaRP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•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결제 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PG: </a:t>
            </a:r>
            <a:r>
              <a:rPr lang="ko-KR" altLang="en-US" sz="1019" dirty="0" err="1">
                <a:solidFill>
                  <a:srgbClr val="465014"/>
                </a:solidFill>
                <a:latin typeface="Pretendard"/>
              </a:rPr>
              <a:t>미연동</a:t>
            </a:r>
            <a:r>
              <a:rPr lang="en-US" altLang="ko-KR" sz="1019" dirty="0">
                <a:solidFill>
                  <a:srgbClr val="465014"/>
                </a:solidFill>
                <a:latin typeface="Pretendard"/>
              </a:rPr>
              <a:t>, </a:t>
            </a:r>
            <a:r>
              <a:rPr lang="ko-KR" altLang="en-US" sz="1019" dirty="0">
                <a:solidFill>
                  <a:srgbClr val="465014"/>
                </a:solidFill>
                <a:latin typeface="Pretendard"/>
              </a:rPr>
              <a:t>현재는 가상 결제 시뮬레이션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전체 구조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구조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1737360"/>
            <a:ext cx="384048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024128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(React)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선택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</a:t>
            </a:r>
            <a:r>
              <a:rPr lang="en-US" altLang="ko-KR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altLang="ko-KR" sz="950" dirty="0">
              <a:solidFill>
                <a:srgbClr val="24330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2433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주문 프로세스 담당</a:t>
            </a:r>
            <a:endParaRPr lang="ko-KR" alt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34656" y="1737360"/>
            <a:ext cx="3840480" cy="1188720"/>
          </a:xfrm>
          <a:prstGeom prst="rect">
            <a:avLst/>
          </a:prstGeom>
          <a:solidFill>
            <a:srgbClr val="F5F5F5"/>
          </a:solidFill>
          <a:ln w="19050">
            <a:solidFill>
              <a:srgbClr val="383D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7735824" y="18836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(React)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35824" y="2249424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주문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관리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관리</a:t>
            </a:r>
            <a:endParaRPr lang="en-US" altLang="ko-KR" sz="950" dirty="0">
              <a:solidFill>
                <a:srgbClr val="1A1A1A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95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관리</a:t>
            </a:r>
            <a:endParaRPr lang="ko-KR" alt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0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3236976"/>
            <a:ext cx="269748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54896" y="2926080"/>
            <a:ext cx="0" cy="310896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766560" y="3236976"/>
            <a:ext cx="2688336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440680" y="3108960"/>
            <a:ext cx="13258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5440680" y="3154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REST API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9048" y="3364992"/>
            <a:ext cx="0" cy="20116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3291840" y="3566160"/>
            <a:ext cx="5605272" cy="11887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3493008" y="37124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Boot Backend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493008" y="4078224"/>
            <a:ext cx="5212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Kiosk/Admin REST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 로직 </a:t>
            </a:r>
            <a:r>
              <a:rPr lang="en-US" altLang="ko-KR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9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· </a:t>
            </a:r>
            <a:r>
              <a:rPr lang="en-US" sz="950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99048" y="4754880"/>
            <a:ext cx="0" cy="27432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986784" y="5029200"/>
            <a:ext cx="4215384" cy="786384"/>
          </a:xfrm>
          <a:prstGeom prst="rect">
            <a:avLst/>
          </a:prstGeom>
          <a:solidFill>
            <a:srgbClr val="4A7A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187952" y="5138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187952" y="54681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메뉴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옵션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주문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결제 </a:t>
            </a:r>
            <a:r>
              <a:rPr lang="en-US" altLang="ko-KR" sz="105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050" dirty="0">
                <a:solidFill>
                  <a:srgbClr val="FFFFFF"/>
                </a:solidFill>
                <a:latin typeface="Pretendard"/>
              </a:rPr>
              <a:t>공통코드 데이터</a:t>
            </a:r>
            <a:endParaRPr lang="ko-KR" altLang="en-US" sz="950" dirty="0"/>
          </a:p>
        </p:txBody>
      </p:sp>
      <p:sp>
        <p:nvSpPr>
          <p:cNvPr id="34" name="Rectangle 33"/>
          <p:cNvSpPr/>
          <p:nvPr/>
        </p:nvSpPr>
        <p:spPr>
          <a:xfrm>
            <a:off x="8549640" y="5010912"/>
            <a:ext cx="2788920" cy="822960"/>
          </a:xfrm>
          <a:prstGeom prst="rect">
            <a:avLst/>
          </a:prstGeom>
          <a:solidFill>
            <a:srgbClr val="F5FBE0"/>
          </a:solidFill>
          <a:ln w="15240">
            <a:solidFill>
              <a:srgbClr val="B5E3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32520" y="5102352"/>
            <a:ext cx="242316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43300"/>
                </a:solidFill>
                <a:latin typeface="Pretendard"/>
              </a:rPr>
              <a:t>RTOS Simulator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5367528"/>
            <a:ext cx="1386598" cy="1337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lang="ko-KR" altLang="en-US" sz="869" dirty="0">
                <a:solidFill>
                  <a:srgbClr val="6B7280"/>
                </a:solidFill>
                <a:latin typeface="Pretendard"/>
              </a:rPr>
              <a:t>영수증 출력 및 장치 이벤트 연동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87968" y="4187952"/>
            <a:ext cx="18288" cy="5303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878825" y="4369354"/>
            <a:ext cx="1042415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912383" y="4369354"/>
            <a:ext cx="18000" cy="64155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 100">
            <a:extLst>
              <a:ext uri="{FF2B5EF4-FFF2-40B4-BE49-F238E27FC236}">
                <a16:creationId xmlns:a16="http://schemas.microsoft.com/office/drawing/2014/main" id="{6FE2EA24-5AE8-4837-8DC3-3900CC6A3833}"/>
              </a:ext>
            </a:extLst>
          </p:cNvPr>
          <p:cNvSpPr txBox="1"/>
          <p:nvPr/>
        </p:nvSpPr>
        <p:spPr>
          <a:xfrm>
            <a:off x="274320" y="596041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RTOS Simulator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는 영수증 출력과 장치 이벤트를 중심으로 연동을 진행했습니다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메뉴 · 재료 · 옵션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1/2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499616"/>
            <a:ext cx="169164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49961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56362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203911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225856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11480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1499616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331720" y="149961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2423160" y="156362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8196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20391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cat_id  FK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25856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47802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69748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423160" y="29169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image_url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1499616"/>
            <a:ext cx="21488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709160" y="1499616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4800600" y="156362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menu_opt_policy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81965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20391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25856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4780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priority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9748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required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49961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49961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5636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81965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203911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225856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policy_key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47802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697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269480" y="2916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601200" y="1499616"/>
            <a:ext cx="1920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601200" y="149961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9692640" y="156362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8196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20391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group_type_id  FK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9692640" y="2258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69264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min_select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9692640" y="269748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max_select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0040" y="3694176"/>
            <a:ext cx="16916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20040" y="3694176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411480" y="37581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411480" y="4014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8" name="Text 56"/>
          <p:cNvSpPr txBox="1"/>
          <p:nvPr/>
        </p:nvSpPr>
        <p:spPr>
          <a:xfrm>
            <a:off x="411480" y="42336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411480" y="44531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type_id  FK</a:t>
            </a:r>
            <a:endParaRPr lang="en-US" sz="950" dirty="0"/>
          </a:p>
        </p:txBody>
      </p:sp>
      <p:sp>
        <p:nvSpPr>
          <p:cNvPr id="60" name="Text 58"/>
          <p:cNvSpPr txBox="1"/>
          <p:nvPr/>
        </p:nvSpPr>
        <p:spPr>
          <a:xfrm>
            <a:off x="411480" y="46725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kcal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114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protein_g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11480" y="511149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331720" y="3694176"/>
            <a:ext cx="2057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2331720" y="3694176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2423160" y="3758184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menu_ing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2423160" y="40142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2423160" y="42336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2423160" y="44531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2423160" y="467258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role_id  FK</a:t>
            </a:r>
            <a:endParaRPr lang="en-US" sz="950" dirty="0"/>
          </a:p>
        </p:txBody>
      </p:sp>
      <p:sp>
        <p:nvSpPr>
          <p:cNvPr id="70" name="Text 68"/>
          <p:cNvSpPr txBox="1"/>
          <p:nvPr/>
        </p:nvSpPr>
        <p:spPr>
          <a:xfrm>
            <a:off x="2423160" y="489204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2423160" y="51114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can_remove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2423160" y="533095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178040" y="3694176"/>
            <a:ext cx="210312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7178040" y="3694176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269480" y="3758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opt_policy_item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7269480" y="40142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7" name="Text 75"/>
          <p:cNvSpPr txBox="1"/>
          <p:nvPr/>
        </p:nvSpPr>
        <p:spPr>
          <a:xfrm>
            <a:off x="7269480" y="42336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policy_id  FK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7269480" y="44531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7269480" y="4672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is_default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7269480" y="4892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81" name="Text 79"/>
          <p:cNvSpPr txBox="1"/>
          <p:nvPr/>
        </p:nvSpPr>
        <p:spPr>
          <a:xfrm>
            <a:off x="7269480" y="511149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9601200" y="3694176"/>
            <a:ext cx="19202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81"/>
          <p:cNvSpPr/>
          <p:nvPr/>
        </p:nvSpPr>
        <p:spPr>
          <a:xfrm>
            <a:off x="9601200" y="3694176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9692640" y="3758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9692640" y="40142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969264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opt_group_id  FK</a:t>
            </a:r>
            <a:endParaRPr lang="en-US" sz="950" dirty="0"/>
          </a:p>
        </p:txBody>
      </p:sp>
      <p:sp>
        <p:nvSpPr>
          <p:cNvPr id="87" name="Text 85"/>
          <p:cNvSpPr txBox="1"/>
          <p:nvPr/>
        </p:nvSpPr>
        <p:spPr>
          <a:xfrm>
            <a:off x="9692640" y="44531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8" name="Text 86"/>
          <p:cNvSpPr txBox="1"/>
          <p:nvPr/>
        </p:nvSpPr>
        <p:spPr>
          <a:xfrm>
            <a:off x="9692640" y="46725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9" name="Text 87"/>
          <p:cNvSpPr txBox="1"/>
          <p:nvPr/>
        </p:nvSpPr>
        <p:spPr>
          <a:xfrm>
            <a:off x="9692640" y="489204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1114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sold_out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01168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Shape 90"/>
          <p:cNvSpPr/>
          <p:nvPr/>
        </p:nvSpPr>
        <p:spPr>
          <a:xfrm>
            <a:off x="438912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6858000" y="188366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822960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10561320" y="2871216"/>
            <a:ext cx="0" cy="82296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3291840" y="3090672"/>
            <a:ext cx="0" cy="60350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2011680" y="4078224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109728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1097280" y="5760720"/>
            <a:ext cx="9464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10561320" y="5285232"/>
            <a:ext cx="0" cy="47548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Text 101"/>
          <p:cNvSpPr txBox="1"/>
          <p:nvPr/>
        </p:nvSpPr>
        <p:spPr>
          <a:xfrm>
            <a:off x="274320" y="5980176"/>
            <a:ext cx="116430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테이블 중 메뉴와 옵션 흐름을 설명하는 핵심 테이블만 표시했습니다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05" name="Text 11">
            <a:extLst>
              <a:ext uri="{FF2B5EF4-FFF2-40B4-BE49-F238E27FC236}">
                <a16:creationId xmlns:a16="http://schemas.microsoft.com/office/drawing/2014/main" id="{8CB08805-8C0B-41C3-B2BF-C23315CC1788}"/>
              </a:ext>
            </a:extLst>
          </p:cNvPr>
          <p:cNvSpPr txBox="1"/>
          <p:nvPr/>
        </p:nvSpPr>
        <p:spPr>
          <a:xfrm>
            <a:off x="438912" y="1033916"/>
            <a:ext cx="1131387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샐러드 옵션을 쉽고 정확하게 선택할 수 있는 스마트 키오스크 서비스를 구현했습니다</a:t>
            </a:r>
            <a:r>
              <a:rPr lang="en-US" altLang="ko-KR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274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— 주문 · 결제 · 공통코드 구조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86384"/>
            <a:ext cx="109728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35640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991088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1146536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301984" y="329184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457432" y="329184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966960" y="53035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수행 경과 · ERD 2/2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75488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06424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097280"/>
            <a:ext cx="1691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20040" y="1097280"/>
            <a:ext cx="16916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11480" y="116128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code_group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11480" y="141732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11480" y="163677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group_code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11480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331720" y="1097280"/>
            <a:ext cx="205740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331720" y="109728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2423160" y="116128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common_code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423160" y="141732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2423160" y="16367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code_grp_id  FK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423160" y="185623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207568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423160" y="229514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sort_no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423160" y="251460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109728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709160" y="109728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800600" y="116128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800600" y="14173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163677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order_no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562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order_type_id  FK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756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29514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total_price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51460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178040" y="109728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7178040" y="10972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7269480" y="11612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7269480" y="14173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269480" y="16367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269480" y="1856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menu_id  FK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269480" y="207568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269480" y="229514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01200" y="109728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601200" y="10972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9692640" y="1161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menu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692640" y="14173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9692640" y="16367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9692640" y="18562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331720" y="3017520"/>
            <a:ext cx="2057400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2331720" y="3017520"/>
            <a:ext cx="205740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2423160" y="308152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pay_method_cfg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2423160" y="3337560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2423160" y="35570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2423160" y="377647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2423160" y="39959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active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709160" y="3017520"/>
            <a:ext cx="214884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4709160" y="3017520"/>
            <a:ext cx="21488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4800600" y="308152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333756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4800600" y="355701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order_id  FK</a:t>
            </a:r>
            <a:endParaRPr lang="en-US" sz="950" dirty="0"/>
          </a:p>
        </p:txBody>
      </p:sp>
      <p:sp>
        <p:nvSpPr>
          <p:cNvPr id="63" name="Text 61"/>
          <p:cNvSpPr txBox="1"/>
          <p:nvPr/>
        </p:nvSpPr>
        <p:spPr>
          <a:xfrm>
            <a:off x="4800600" y="37764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method_id  FK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4800600" y="39959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status_id  FK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4800600" y="421538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amount</a:t>
            </a:r>
            <a:endParaRPr lang="en-US" sz="950" dirty="0"/>
          </a:p>
        </p:txBody>
      </p:sp>
      <p:sp>
        <p:nvSpPr>
          <p:cNvPr id="66" name="Text 64"/>
          <p:cNvSpPr txBox="1"/>
          <p:nvPr/>
        </p:nvSpPr>
        <p:spPr>
          <a:xfrm>
            <a:off x="4800600" y="44348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paid_at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178040" y="3017520"/>
            <a:ext cx="2103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7178040" y="301752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7269480" y="30815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order_item_option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7269480" y="33375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7269480" y="355701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7269480" y="3776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opt_item_id  FK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269480" y="3995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quantity</a:t>
            </a:r>
            <a:endParaRPr lang="en-US" sz="950" dirty="0"/>
          </a:p>
        </p:txBody>
      </p:sp>
      <p:sp>
        <p:nvSpPr>
          <p:cNvPr id="74" name="Text 72"/>
          <p:cNvSpPr txBox="1"/>
          <p:nvPr/>
        </p:nvSpPr>
        <p:spPr>
          <a:xfrm>
            <a:off x="7269480" y="42153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price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9601200" y="3017520"/>
            <a:ext cx="1920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9601200" y="301752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9692640" y="30815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opt_item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9692640" y="33375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79" name="Text 77"/>
          <p:cNvSpPr txBox="1"/>
          <p:nvPr/>
        </p:nvSpPr>
        <p:spPr>
          <a:xfrm>
            <a:off x="9692640" y="355701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80" name="Text 78"/>
          <p:cNvSpPr txBox="1"/>
          <p:nvPr/>
        </p:nvSpPr>
        <p:spPr>
          <a:xfrm>
            <a:off x="9692640" y="37764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add_price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178040" y="4754880"/>
            <a:ext cx="21031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hape 80"/>
          <p:cNvSpPr/>
          <p:nvPr/>
        </p:nvSpPr>
        <p:spPr>
          <a:xfrm>
            <a:off x="7178040" y="4754880"/>
            <a:ext cx="210312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26948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item_exclusion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7269480" y="50749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269480" y="529437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order_item_id  FK</a:t>
            </a:r>
            <a:endParaRPr lang="en-US" sz="950" dirty="0"/>
          </a:p>
        </p:txBody>
      </p:sp>
      <p:sp>
        <p:nvSpPr>
          <p:cNvPr id="86" name="Text 84"/>
          <p:cNvSpPr txBox="1"/>
          <p:nvPr/>
        </p:nvSpPr>
        <p:spPr>
          <a:xfrm>
            <a:off x="7269480" y="55138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ing_id  FK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9601200" y="475488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hape 86"/>
          <p:cNvSpPr/>
          <p:nvPr/>
        </p:nvSpPr>
        <p:spPr>
          <a:xfrm>
            <a:off x="9601200" y="4754880"/>
            <a:ext cx="1920240" cy="274320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692640" y="48188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ing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9692640" y="5074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 PK</a:t>
            </a:r>
            <a:endParaRPr lang="en-US" sz="950" dirty="0"/>
          </a:p>
        </p:txBody>
      </p:sp>
      <p:sp>
        <p:nvSpPr>
          <p:cNvPr id="91" name="Text 89"/>
          <p:cNvSpPr txBox="1"/>
          <p:nvPr/>
        </p:nvSpPr>
        <p:spPr>
          <a:xfrm>
            <a:off x="9692640" y="52943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name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hape 91"/>
          <p:cNvSpPr/>
          <p:nvPr/>
        </p:nvSpPr>
        <p:spPr>
          <a:xfrm>
            <a:off x="438912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hape 92"/>
          <p:cNvSpPr/>
          <p:nvPr/>
        </p:nvSpPr>
        <p:spPr>
          <a:xfrm>
            <a:off x="685800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Shape 93"/>
          <p:cNvSpPr/>
          <p:nvPr/>
        </p:nvSpPr>
        <p:spPr>
          <a:xfrm>
            <a:off x="9281160" y="14813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hape 94"/>
          <p:cNvSpPr/>
          <p:nvPr/>
        </p:nvSpPr>
        <p:spPr>
          <a:xfrm>
            <a:off x="329184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Shape 95"/>
          <p:cNvSpPr/>
          <p:nvPr/>
        </p:nvSpPr>
        <p:spPr>
          <a:xfrm>
            <a:off x="5486400" y="2688336"/>
            <a:ext cx="0" cy="329184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hape 96"/>
          <p:cNvSpPr/>
          <p:nvPr/>
        </p:nvSpPr>
        <p:spPr>
          <a:xfrm>
            <a:off x="8229600" y="2468880"/>
            <a:ext cx="0" cy="54864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hape 97"/>
          <p:cNvSpPr/>
          <p:nvPr/>
        </p:nvSpPr>
        <p:spPr>
          <a:xfrm>
            <a:off x="9281160" y="340156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98"/>
          <p:cNvSpPr/>
          <p:nvPr/>
        </p:nvSpPr>
        <p:spPr>
          <a:xfrm>
            <a:off x="9281160" y="5138928"/>
            <a:ext cx="320040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hape 99"/>
          <p:cNvSpPr/>
          <p:nvPr/>
        </p:nvSpPr>
        <p:spPr>
          <a:xfrm>
            <a:off x="6967728" y="2103120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2" name="Shape 100"/>
          <p:cNvSpPr/>
          <p:nvPr/>
        </p:nvSpPr>
        <p:spPr>
          <a:xfrm>
            <a:off x="6967728" y="2103120"/>
            <a:ext cx="0" cy="3035808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3" name="Shape 101"/>
          <p:cNvSpPr/>
          <p:nvPr/>
        </p:nvSpPr>
        <p:spPr>
          <a:xfrm>
            <a:off x="6967728" y="5138928"/>
            <a:ext cx="210312" cy="0"/>
          </a:xfrm>
          <a:prstGeom prst="line">
            <a:avLst/>
          </a:prstGeom>
          <a:noFill/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Text 102"/>
          <p:cNvSpPr txBox="1"/>
          <p:nvPr/>
        </p:nvSpPr>
        <p:spPr>
          <a:xfrm>
            <a:off x="274320" y="5852160"/>
            <a:ext cx="11643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유형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 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상태는 공통코드 테이블을 통해 일관되게 관리하도록 구성했습니다</a:t>
            </a:r>
            <a:r>
              <a:rPr lang="en-US" altLang="ko-KR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— 키오스크 주문 흐름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주문 한 줄 지도</a:t>
            </a:r>
            <a:endParaRPr lang="ko-KR" altLang="en-US" sz="1100" dirty="0" err="1">
              <a:solidFill>
                <a:srgbClr val="6B7280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727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선택 → 메뉴 선택 →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재료 설정 → 장바구니 → 결제</a:t>
            </a:r>
            <a:endParaRPr lang="ko-KR" alt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482787"/>
            <a:ext cx="3639312" cy="496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주문 과정을 단계별로 나누어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선택해야 할 항목에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집중할 수 있도록 구성했습니다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단계로 이동하더라도 </a:t>
            </a:r>
            <a:endParaRPr lang="en-US" altLang="ko-KR" sz="125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선택 값은 유지됩니다</a:t>
            </a:r>
            <a:r>
              <a:rPr lang="en-US" altLang="ko-KR" sz="125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75888" y="1078992"/>
            <a:ext cx="7479792" cy="44805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105656" y="1517904"/>
            <a:ext cx="2011680" cy="358444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9944" y="1517904"/>
            <a:ext cx="2011680" cy="3584448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714232" y="1517904"/>
            <a:ext cx="2011680" cy="358444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3675888" y="517956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선택 구조와 선택 값 유지가 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 UX</a:t>
            </a:r>
            <a:r>
              <a:rPr lang="ko-KR" alt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 핵심입니다</a:t>
            </a:r>
            <a:r>
              <a:rPr lang="en-US" altLang="ko-KR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44568" y="116535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544568" y="12110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0756" y="1172972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810756" y="121869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21140" y="1161288"/>
            <a:ext cx="1188720" cy="256032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121140" y="1207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</a:t>
            </a:r>
            <a:endParaRPr lang="en-US" sz="1000" dirty="0"/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05656" y="1527578"/>
            <a:ext cx="2011680" cy="3565100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09944" y="1527578"/>
            <a:ext cx="2011680" cy="3565100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714232" y="1527578"/>
            <a:ext cx="2011680" cy="3565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메뉴를 조회하고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메뉴명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화면에서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메뉴를 선택하면 상세 주문 화면으로 이동합니다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품절된 메뉴는 선택할 수 없도록 처리하여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과정에서 발생할 수 있는 오류를 사전에 방지했습니다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카테고리 선택 · 품절 표시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50991" y="1244694"/>
            <a:ext cx="2263073" cy="4010619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7593" y="1244813"/>
            <a:ext cx="2287735" cy="4054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5559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및 옵션 선택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595966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메뉴별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정책에 따라 필수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옵션을 구분해 제공합니다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가능한 재료만 선택적으로 제거할 수 있으며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수량과 옵션에 따른 가격 변화도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실시간으로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81048" y="35021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장바구니 이동 전 서버에서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옵션 정책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상태 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수량을 다시 검증합니다</a:t>
            </a:r>
            <a:r>
              <a:rPr lang="en-US" altLang="ko-KR" sz="120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0000" y="1080000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57124" y="3232570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50530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상세 · 옵션 선택 · 제외 재료 · 수량 변경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 /api/kiosk/cart/validate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통해 서버 기준으로 주문 가능 여부와 금액을 다시 계산합니다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42616" y="1244695"/>
            <a:ext cx="2263073" cy="4010619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14215" y="1244695"/>
            <a:ext cx="2263073" cy="40106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및 옵션 품절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옵션의 품절 상태를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화면에서 각각 구분하여 표시합니다.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품절된 메뉴는 주문을 제한하고,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일부 옵션만 품절된 경우에는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옵션만 선택할 수 없도록 처리했습니다.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품절 범위에 따라 주문 가능 여부를 다르게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제어하여 불필요한 주문 실패를 방지했습니다.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전체 품절 · 개별 옵션 품절 상태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50991" y="1244694"/>
            <a:ext cx="2263073" cy="4010619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7593" y="1244813"/>
            <a:ext cx="2287735" cy="40543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및 결제 이동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메뉴 · 옵션 · 제외 · 수량 ·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금액을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확인합니다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27101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내용을 검토한 뒤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결제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화면으로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 </a:t>
            </a:r>
            <a:r>
              <a:rPr sz="1300" dirty="0" err="1">
                <a:solidFill>
                  <a:srgbClr val="111827"/>
                </a:solidFill>
                <a:latin typeface="Pretendard"/>
              </a:rPr>
              <a:t>이동합니다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장바구니는 마지막 검산.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실패해도 선택은 유지한다. (시연: 결제 화면 이동까지)</a:t>
            </a: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· 주문 금액 확인 · 결제 화면 이동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생성 API와 결제 승인 연동은 현재 구현 중이며, 완료 처리 결과는 아직 시연 범위가 아닙니다.</a:t>
            </a:r>
            <a:endParaRPr lang="en-US" sz="120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79189" y="1244541"/>
            <a:ext cx="2231136" cy="3954020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0184" y="1244541"/>
            <a:ext cx="2231136" cy="39540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프로세스 및 결제수단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362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0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내역을 최종 확인한 뒤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결제수단을 선택하고 결제를 진행합니다.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진행 상태와 완료 결과를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화면으로 구분하여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현재 상태를 확인할 수 있도록 구성했습니다.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1" y="3364992"/>
            <a:ext cx="362136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24470" y="3494518"/>
            <a:ext cx="32524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확인 → 결제수단 선택 → 결제 진행 → 결제 완료의 흐름을 단계별로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40000" y="1078992"/>
            <a:ext cx="6120000" cy="43200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5852925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852925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75501" y="3229328"/>
            <a:ext cx="2212083" cy="26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75501" y="3487355"/>
            <a:ext cx="2212083" cy="24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8593" y="5553812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 err="1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결제수단</a:t>
            </a: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선택 · 결제 진행 · 결제 완료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결제는 실제 PG가 아닌 가상 결제 프로세스로 구현했습니다.</a:t>
            </a:r>
            <a:endParaRPr lang="en-US" sz="12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1B27663-65BC-455E-87C5-DE00F0F2B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79189" y="1244541"/>
            <a:ext cx="2231135" cy="395402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AE5BFF7-2AC1-489F-A3DE-2C3E908D1B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0184" y="1244541"/>
            <a:ext cx="2231135" cy="39540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예외 상황 및 사용자 상태 처리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17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사용 중 발생할 수 있는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누락 · 장바구니 상태 · 사용자 미 응답 상황을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각각 구분하여 안내합니다.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단순 오류 메시지가 아니라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다음 행동을 알 수 있도록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상황별 안내 팝업을 구성했습니다.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804448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950752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사용자의 실수를 사전에 방지하고, 중단된 주문 흐름을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자연스럽게 이어갈 수 있도록 처리했습니다.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타임아웃 · 장바구니 비우기 · 빈 장바구니 · 결제수단 미선택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pic>
        <p:nvPicPr>
          <p:cNvPr id="30" name="Picture 33">
            <a:extLst>
              <a:ext uri="{FF2B5EF4-FFF2-40B4-BE49-F238E27FC236}">
                <a16:creationId xmlns:a16="http://schemas.microsoft.com/office/drawing/2014/main" id="{9BA110D9-F831-452A-B0C6-7B691C3B9D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495" b="28010"/>
          <a:stretch/>
        </p:blipFill>
        <p:spPr>
          <a:xfrm>
            <a:off x="5679189" y="1244541"/>
            <a:ext cx="2231135" cy="1917483"/>
          </a:xfrm>
          <a:prstGeom prst="rect">
            <a:avLst/>
          </a:prstGeom>
        </p:spPr>
      </p:pic>
      <p:pic>
        <p:nvPicPr>
          <p:cNvPr id="31" name="Picture 34">
            <a:extLst>
              <a:ext uri="{FF2B5EF4-FFF2-40B4-BE49-F238E27FC236}">
                <a16:creationId xmlns:a16="http://schemas.microsoft.com/office/drawing/2014/main" id="{33D39883-C9E9-429E-9234-9C470C97603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4708" b="26797"/>
          <a:stretch/>
        </p:blipFill>
        <p:spPr>
          <a:xfrm>
            <a:off x="8330184" y="1244541"/>
            <a:ext cx="2231135" cy="1917483"/>
          </a:xfrm>
          <a:prstGeom prst="rect">
            <a:avLst/>
          </a:prstGeom>
        </p:spPr>
      </p:pic>
      <p:pic>
        <p:nvPicPr>
          <p:cNvPr id="32" name="Picture 33">
            <a:extLst>
              <a:ext uri="{FF2B5EF4-FFF2-40B4-BE49-F238E27FC236}">
                <a16:creationId xmlns:a16="http://schemas.microsoft.com/office/drawing/2014/main" id="{5110050E-233A-4884-ADD0-E5A342EBBAC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753" b="25753"/>
          <a:stretch/>
        </p:blipFill>
        <p:spPr>
          <a:xfrm>
            <a:off x="5664458" y="3255264"/>
            <a:ext cx="2231135" cy="1917483"/>
          </a:xfrm>
          <a:prstGeom prst="rect">
            <a:avLst/>
          </a:prstGeom>
        </p:spPr>
      </p:pic>
      <p:pic>
        <p:nvPicPr>
          <p:cNvPr id="33" name="Picture 34">
            <a:extLst>
              <a:ext uri="{FF2B5EF4-FFF2-40B4-BE49-F238E27FC236}">
                <a16:creationId xmlns:a16="http://schemas.microsoft.com/office/drawing/2014/main" id="{E8DF78AB-B272-46C8-B70C-2F1F5B373B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753" b="25753"/>
          <a:stretch/>
        </p:blipFill>
        <p:spPr>
          <a:xfrm>
            <a:off x="8315453" y="3255264"/>
            <a:ext cx="2231135" cy="191748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완료 및 영수증 출력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21361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결제가 완료되면 주문 완료 상태를 안내하고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영수증 출력 과정을 사용자에게 표시합니다.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종료 이후에도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상태를 확인할 수 있도록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 안내 UI를 구성했습니다.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3364992"/>
            <a:ext cx="3621361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8749" y="3511296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결제 완료 → 주문 완료 안내 → 영수증 출력까지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종료 흐름을 구성했습니다.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63112" y="1078992"/>
            <a:ext cx="6120000" cy="4321008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6812280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34856" y="325526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134856" y="35112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76672" y="5541264"/>
            <a:ext cx="5559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완료 · 영수증 출력 상태 안내</a:t>
            </a:r>
            <a:endParaRPr lang="en-US" sz="95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DDAD0AAD-5EAF-4854-95A1-BA945A6AA1A9}"/>
              </a:ext>
            </a:extLst>
          </p:cNvPr>
          <p:cNvSpPr txBox="1"/>
          <p:nvPr/>
        </p:nvSpPr>
        <p:spPr>
          <a:xfrm>
            <a:off x="5834548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B9CDF489-D7E7-49D7-B44F-134ED594117F}"/>
              </a:ext>
            </a:extLst>
          </p:cNvPr>
          <p:cNvSpPr txBox="1"/>
          <p:nvPr/>
        </p:nvSpPr>
        <p:spPr>
          <a:xfrm>
            <a:off x="7288906" y="2712207"/>
            <a:ext cx="2263073" cy="260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6" name="Text 24">
            <a:extLst>
              <a:ext uri="{FF2B5EF4-FFF2-40B4-BE49-F238E27FC236}">
                <a16:creationId xmlns:a16="http://schemas.microsoft.com/office/drawing/2014/main" id="{94201579-71C7-4A8D-A676-4AED98A08611}"/>
              </a:ext>
            </a:extLst>
          </p:cNvPr>
          <p:cNvSpPr txBox="1"/>
          <p:nvPr/>
        </p:nvSpPr>
        <p:spPr>
          <a:xfrm>
            <a:off x="8157124" y="3490348"/>
            <a:ext cx="2263073" cy="240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41" name="TextBox 40"/>
          <p:cNvSpPr txBox="1"/>
          <p:nvPr/>
        </p:nvSpPr>
        <p:spPr>
          <a:xfrm>
            <a:off x="640080" y="5850000"/>
            <a:ext cx="10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50991" y="1244694"/>
            <a:ext cx="2263073" cy="4010619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37593" y="1244813"/>
            <a:ext cx="2287735" cy="40543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19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화면과 주문 목록에서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주문번호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메뉴 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상태를 확인하고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상세에서는 고객이 선택한 옵션과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제외 재료까지 함께 확인할 수 있습니다</a:t>
            </a:r>
            <a:r>
              <a:rPr lang="en-US" altLang="ko-KR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3493008"/>
            <a:ext cx="2941320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28472" y="3630168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상태를 한눈에 파악하고 관리할 수 있도록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중심의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 구성했습니다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7939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636008" y="1627632"/>
            <a:ext cx="6766560" cy="3803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463600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63600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27939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Live 주문 · 주문 관리 · 주문 상세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Kiosk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생성된 주문 정보를 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</a:t>
            </a:r>
            <a:r>
              <a:rPr lang="ko-KR" alt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 조회하고 관리하는 흐름을 구현했습니다</a:t>
            </a:r>
            <a:r>
              <a:rPr lang="en-US" altLang="ko-KR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8040" y="1627632"/>
            <a:ext cx="6762496" cy="38039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20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상세 · 카테고리를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 dirty="0" err="1">
                <a:solidFill>
                  <a:srgbClr val="111827"/>
                </a:solidFill>
                <a:latin typeface="Pretendard"/>
              </a:rPr>
              <a:t>조회합니다</a:t>
            </a:r>
            <a:r>
              <a:rPr sz="1300" dirty="0">
                <a:solidFill>
                  <a:srgbClr val="111827"/>
                </a:solidFill>
                <a:latin typeface="Pretendard"/>
              </a:rPr>
              <a:t>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101584" y="227101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정책은 고객 주문 화면</a:t>
            </a:r>
            <a:endParaRPr lang="en-US" sz="1300" dirty="0"/>
          </a:p>
          <a:p>
            <a:pPr marL="0" indent="0" algn="l">
              <a:lnSpc>
                <a:spcPct val="145000"/>
              </a:lnSpc>
              <a:buNone/>
            </a:pPr>
            <a:r>
              <a:rPr sz="1300">
                <a:solidFill>
                  <a:srgbClr val="111827"/>
                </a:solidFill>
                <a:latin typeface="Pretendard"/>
              </a:rPr>
              <a:t>데이터의 기준이 됩니다.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sz="1200">
                <a:solidFill>
                  <a:srgbClr val="111827"/>
                </a:solidFill>
                <a:latin typeface="Pretendard"/>
              </a:rPr>
              <a:t>기준 데이터가 흔들리면 Kiosk도 흔들린다. </a:t>
            </a:r>
          </a:p>
          <a:p>
            <a:pPr algn="l"/>
            <a:r>
              <a:rPr sz="1200">
                <a:solidFill>
                  <a:srgbClr val="111827"/>
                </a:solidFill>
                <a:latin typeface="Pretendard"/>
              </a:rPr>
              <a:t>(CRUD 범위는 구현 현황에 맞춤)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· 메뉴 상세 · 품절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조회는 API 연동, 등록 · 수정 · 삭제는 mock 제거 작업이 진행 중입니다.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" b="282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품절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21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메뉴와 재료의 품절 상태를 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화면에서 확인하고 관리합니다.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품절 상태가 변경되면 Kiosk 주문 화면에도 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기준을 적용해 주문할 수 없는 메뉴나 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옵션의 선택을 제한합니다.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Admin 품절 관리 → 서버 데이터 반영 → 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Kiosk 주문 제한</a:t>
            </a: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재료 품절 조회 및 상태 관리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중 발생하는 품절 상황을 빠르게 반영하여 고객이 주문 단계에서 품절 상품을 선택하는 오류를 줄였습니다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" b="282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매출 관리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기능 및 구현 화면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01584" y="1517904"/>
            <a:ext cx="3639312" cy="515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데이터를 기반으로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일별 · 월별 · 시간대별 매출 현황을 조회합니다.</a:t>
            </a: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endParaRPr lang="en-US" altLang="ko-KR" sz="13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기간별 매출과 주문 흐름을 시각화하여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운영자가 매장의 주요 매출 추이를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45000"/>
              </a:lnSpc>
              <a:buNone/>
            </a:pPr>
            <a:r>
              <a:rPr lang="ko-KR" alt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한눈에 확인할 수 있도록 구성했습니다.</a:t>
            </a:r>
            <a:endParaRPr lang="en-US" altLang="ko-KR" sz="13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101584" y="3493008"/>
            <a:ext cx="3639312" cy="78638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302752" y="3639312"/>
            <a:ext cx="3236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/>
              </a:rPr>
              <a:t>주문 데이터 → 매출 집계 → 운영 지표 확인</a:t>
            </a:r>
            <a:endParaRPr lang="en-US" altLang="ko-KR" sz="1200" dirty="0">
              <a:solidFill>
                <a:srgbClr val="111827"/>
              </a:solidFill>
              <a:latin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8912" y="1517904"/>
            <a:ext cx="7479792" cy="40233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 txBox="1"/>
          <p:nvPr/>
        </p:nvSpPr>
        <p:spPr>
          <a:xfrm>
            <a:off x="795528" y="325526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3511296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" y="5596128"/>
            <a:ext cx="7479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현황 · 기간별 통계 · 주문 추이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38912" y="5925312"/>
            <a:ext cx="11313871" cy="36576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" y="5998464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데이터가 단순히 저장되는 데 그치지 않고 운영에 필요한 정보로 활용될 수 있도록 관리자 화면에 시각화 했습니다.</a:t>
            </a:r>
            <a:endParaRPr lang="en-US" sz="12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791B0B7-905B-4546-A526-2B5FF23C89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2" b="282"/>
          <a:stretch/>
        </p:blipFill>
        <p:spPr>
          <a:xfrm>
            <a:off x="795528" y="1591499"/>
            <a:ext cx="6766560" cy="378471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 프로세스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95431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1378311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78311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분석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378311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32791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3133959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3316839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3316839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UI/DB 설계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316839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ERD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71319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5072487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 txBox="1"/>
          <p:nvPr/>
        </p:nvSpPr>
        <p:spPr>
          <a:xfrm>
            <a:off x="5255367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55367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키오스크 개발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5367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09847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011015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193895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193895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개발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193895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React 화면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748375" y="227702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8949543" y="171009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9132423" y="1856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9132423" y="22953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백엔드 개발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32423" y="25696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Spring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97864" y="3264576"/>
            <a:ext cx="1737360" cy="1188720"/>
          </a:xfrm>
          <a:prstGeom prst="rect">
            <a:avLst/>
          </a:prstGeom>
          <a:solidFill>
            <a:srgbClr val="F5FBE0"/>
          </a:solidFill>
          <a:ln w="1905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1380744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06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380744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1차 통합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380744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주문 · 메뉴 API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935224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136392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3319272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07</a:t>
            </a:r>
            <a:endParaRPr lang="en-US" sz="2000" dirty="0"/>
          </a:p>
        </p:txBody>
      </p:sp>
      <p:sp>
        <p:nvSpPr>
          <p:cNvPr id="44" name="Text 42"/>
          <p:cNvSpPr txBox="1"/>
          <p:nvPr/>
        </p:nvSpPr>
        <p:spPr>
          <a:xfrm>
            <a:off x="3319272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DB 연동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3319272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MyBatis · MySQL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73752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5074920" y="3264576"/>
            <a:ext cx="1737360" cy="1188720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5257800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08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5257800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RTOS 연동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5257800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Simulator · 장치 이벤트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12280" y="3831504"/>
            <a:ext cx="201168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7013448" y="3264576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7196328" y="34108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b="1">
                <a:solidFill>
                  <a:srgbClr val="4A7A00"/>
                </a:solidFill>
                <a:latin typeface="Pretendard"/>
              </a:rPr>
              <a:t>09</a:t>
            </a:r>
            <a:endParaRPr lang="en-US" sz="2000" dirty="0"/>
          </a:p>
        </p:txBody>
      </p:sp>
      <p:sp>
        <p:nvSpPr>
          <p:cNvPr id="54" name="Text 52"/>
          <p:cNvSpPr txBox="1"/>
          <p:nvPr/>
        </p:nvSpPr>
        <p:spPr>
          <a:xfrm>
            <a:off x="7196328" y="3849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300" b="1">
                <a:solidFill>
                  <a:srgbClr val="111827"/>
                </a:solidFill>
                <a:latin typeface="Pretendard"/>
              </a:rPr>
              <a:t>테스트 QA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7196328" y="41241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1000">
                <a:solidFill>
                  <a:srgbClr val="6B7280"/>
                </a:solidFill>
                <a:latin typeface="Pretendard"/>
              </a:rPr>
              <a:t>Bruno · 브라우저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" y="5120640"/>
            <a:ext cx="11313871" cy="566928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438912" y="5285232"/>
            <a:ext cx="11313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요구사항 정의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UI/DB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설계 → 기능 개발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API/DB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통합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RTOS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연동 → </a:t>
            </a:r>
            <a:r>
              <a:rPr lang="en-US" altLang="ko-KR" sz="1250" dirty="0">
                <a:solidFill>
                  <a:srgbClr val="FFFFFF"/>
                </a:solidFill>
                <a:latin typeface="Pretendard"/>
              </a:rPr>
              <a:t>QA → </a:t>
            </a:r>
            <a:r>
              <a:rPr lang="ko-KR" altLang="en-US" sz="1250" dirty="0">
                <a:solidFill>
                  <a:srgbClr val="FFFFFF"/>
                </a:solidFill>
                <a:latin typeface="Pretendard"/>
              </a:rPr>
              <a:t>시연</a:t>
            </a:r>
            <a:endParaRPr lang="ko-KR" altLang="en-US" sz="1250" dirty="0"/>
          </a:p>
        </p:txBody>
      </p:sp>
      <p:sp>
        <p:nvSpPr>
          <p:cNvPr id="58" name="Rectangle 57"/>
          <p:cNvSpPr/>
          <p:nvPr/>
        </p:nvSpPr>
        <p:spPr>
          <a:xfrm>
            <a:off x="8951976" y="3264408"/>
            <a:ext cx="1737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750808" y="3831336"/>
            <a:ext cx="201168" cy="54864"/>
          </a:xfrm>
          <a:prstGeom prst="rect">
            <a:avLst/>
          </a:prstGeom>
          <a:solidFill>
            <a:srgbClr val="B5E3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134856" y="3410712"/>
            <a:ext cx="11887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4A7A00"/>
                </a:solidFill>
                <a:latin typeface="Pretendard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34856" y="3849624"/>
            <a:ext cx="137160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Pretendard"/>
              </a:rPr>
              <a:t>발표 시연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34856" y="4123944"/>
            <a:ext cx="137160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6B7280"/>
                </a:solidFill>
                <a:latin typeface="Pretendard"/>
              </a:rPr>
              <a:t>자료 정리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및 반영 내용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438912" y="193852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07.14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10512" y="1554480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197510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97510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경로와 데이터 네이밍 규칙이 일관되지 않고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 사용 범위가 넓음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02552" y="2011680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114032" y="1554480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278624" y="1664208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1920240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및 데이터 네이밍 규칙을 통일하고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전역 상태를 주문 세션 중심으로 단순화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" y="2670048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38912" y="305409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10512" y="2670048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197510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97510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DTO ·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혼재되어 기능 단위 흐름 파악이 어려움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02552" y="3127248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7114032" y="2670048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7278624" y="2779776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278624" y="303580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Request/Response DTO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분리하고 </a:t>
            </a:r>
            <a:endParaRPr lang="en-US" altLang="ko-KR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MyBatis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Mapper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구조를 정리하여 기능별 흐름 명확화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38912" y="3785616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438912" y="416966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07.24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810512" y="3785616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197510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97510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문서의 테이블 정의와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 간 일치 여부 확인 필요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702552" y="4242816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7114032" y="3785616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7278624" y="389534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278624" y="4151376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명세를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스키마와 대조하여 데이터 구조 정리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38912" y="4901184"/>
            <a:ext cx="1188720" cy="969264"/>
          </a:xfrm>
          <a:prstGeom prst="rect">
            <a:avLst/>
          </a:prstGeom>
          <a:solidFill>
            <a:srgbClr val="2433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9"/>
          <p:cNvSpPr txBox="1"/>
          <p:nvPr/>
        </p:nvSpPr>
        <p:spPr>
          <a:xfrm>
            <a:off x="438912" y="528523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08.04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810512" y="4901184"/>
            <a:ext cx="4754880" cy="969264"/>
          </a:xfrm>
          <a:prstGeom prst="rect">
            <a:avLst/>
          </a:prstGeom>
          <a:solidFill>
            <a:srgbClr val="FFF0E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 txBox="1"/>
          <p:nvPr/>
        </p:nvSpPr>
        <p:spPr>
          <a:xfrm>
            <a:off x="197510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994D4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97510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장바구니부터 주문 생성까지 실제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· DB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검증 필요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702552" y="5358384"/>
            <a:ext cx="274320" cy="54864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7114032" y="4901184"/>
            <a:ext cx="4754880" cy="969264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 txBox="1"/>
          <p:nvPr/>
        </p:nvSpPr>
        <p:spPr>
          <a:xfrm>
            <a:off x="7278624" y="501091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278624" y="5266944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장바구니 검증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를 구현해 서버에서 주문 조건과 금액을 </a:t>
            </a:r>
            <a:r>
              <a:rPr lang="ko-KR" altLang="en-US" sz="1200" dirty="0" err="1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재검증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화면 결과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978408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978408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목록 및 카테고리 선택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840480" y="1554480"/>
            <a:ext cx="1591056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840480" y="269748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95351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· 제외 재료 · 수량 선택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163056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주문 관리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25128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025128" y="2221992"/>
            <a:ext cx="2670048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 메뉴 관리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시연 흐름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메뉴 선택 → 옵션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재료 제외 </a:t>
            </a: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·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수량 설정 → 장바구니 → 주문 생성 → </a:t>
            </a:r>
            <a:endParaRPr lang="en-US" altLang="ko-KR" sz="1200" dirty="0">
              <a:solidFill>
                <a:srgbClr val="FFFFFF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ko-KR" sz="1200" dirty="0">
                <a:solidFill>
                  <a:srgbClr val="FFFFFF"/>
                </a:solidFill>
                <a:latin typeface="Pretendard"/>
              </a:rPr>
              <a:t>Admin </a:t>
            </a:r>
            <a:r>
              <a:rPr lang="ko-KR" altLang="en-US" sz="1200" dirty="0">
                <a:solidFill>
                  <a:srgbClr val="FFFFFF"/>
                </a:solidFill>
                <a:latin typeface="Pretendard"/>
              </a:rPr>
              <a:t>주문 확인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및 검증 자료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 Bible · Screen Bible ·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WBS · Bruno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· GitHub</a:t>
            </a:r>
            <a:endParaRPr lang="en-US" sz="120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8408" y="1561965"/>
            <a:ext cx="1591056" cy="2819670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40480" y="1561965"/>
            <a:ext cx="1591056" cy="2819670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65088" y="2221992"/>
            <a:ext cx="2665984" cy="1499616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32345" y="2224908"/>
            <a:ext cx="2655614" cy="149378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 — 설계 · 검증 산출물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38912" y="84124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결과물 첨부 자료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수행 경과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 txBox="1"/>
          <p:nvPr/>
        </p:nvSpPr>
        <p:spPr>
          <a:xfrm>
            <a:off x="438912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키오스크 화면 설계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00984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3300984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00984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3300984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 · 옵션 데이터 모델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1554480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163056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163056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163056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· 결제 데이터 모델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5862" y="1536192"/>
            <a:ext cx="2670048" cy="283464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9025128" y="2697480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캡처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025128" y="2953512"/>
            <a:ext cx="2670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: 9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025128" y="4443984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· DB 확인 자료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" y="4754880"/>
            <a:ext cx="5559552" cy="1426464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64008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범위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12080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설계부터 데이터 구조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API </a:t>
            </a: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 결과까지 함께 문서화하여</a:t>
            </a:r>
            <a:endParaRPr lang="en-US" altLang="ko-KR" sz="1200" dirty="0">
              <a:solidFill>
                <a:srgbClr val="FFFFFF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구현 과정과 변경 사항을 추적할 수 있도록 관리했습니다</a:t>
            </a:r>
            <a:r>
              <a:rPr lang="en-US" altLang="ko-KR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ko-KR" alt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199632" y="4754880"/>
            <a:ext cx="555955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6400800" y="4901184"/>
            <a:ext cx="5157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ko-KR" altLang="en-US" sz="11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산출물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0" y="5212080"/>
            <a:ext cx="5157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흐름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</a:t>
            </a: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Screen Bible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메뉴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 ·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ERD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Bruno API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테스트</a:t>
            </a:r>
            <a:r>
              <a:rPr lang="en-US" altLang="ko-KR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MySQL </a:t>
            </a:r>
            <a:r>
              <a:rPr lang="ko-KR" alt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검증 결과</a:t>
            </a:r>
            <a:endParaRPr lang="en-US" sz="1200" dirty="0">
              <a:solidFill>
                <a:srgbClr val="111827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4792FA4A-C66B-425A-A70A-BA2617BC50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70" t="12267" r="26077"/>
          <a:stretch/>
        </p:blipFill>
        <p:spPr>
          <a:xfrm>
            <a:off x="9376156" y="1542601"/>
            <a:ext cx="2029460" cy="286480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A93AAF92-7FD9-4200-88EF-CC767BB23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7" y="2345436"/>
            <a:ext cx="2670047" cy="117957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6F4ED09C-C819-4100-A8EF-32FFF5ACF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165" y="2410968"/>
            <a:ext cx="2663685" cy="105841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0419DED-BD63-4ED0-84F8-B320B1181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252" y="3030951"/>
            <a:ext cx="607500" cy="1080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9D04CCF-7D28-4442-B2B0-D67524350B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1813766"/>
            <a:ext cx="607500" cy="1080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B648B703-D986-4BA9-88AE-5F9F28E85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2510" y="1813766"/>
            <a:ext cx="607500" cy="1080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A680044B-3DF9-4F5C-97D0-7B12BF6639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7252" y="1825286"/>
            <a:ext cx="607500" cy="10800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B264AC60-FEF0-40ED-BEA3-E82F05F2B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384" y="3037377"/>
            <a:ext cx="607500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A4C4EA7B-ADCA-410D-8107-3999A56C36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51818" y="3037377"/>
            <a:ext cx="607500" cy="108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38912" y="329184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평가 의견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38912" y="1133856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561320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716768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872216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1027664" y="402336"/>
            <a:ext cx="128016" cy="128016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1183112" y="402336"/>
            <a:ext cx="128016" cy="128016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92640" y="60350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자체 평가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" y="6400800"/>
            <a:ext cx="91440" cy="9144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0080" y="636422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스마트 키오스크 · 그린컴퓨터아카데미 신촌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0" y="6336792"/>
            <a:ext cx="521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0000"/>
              </a:lnSpc>
              <a:buNone/>
            </a:pPr>
            <a:r>
              <a:t>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" y="1554480"/>
            <a:ext cx="3639312" cy="4480560"/>
          </a:xfrm>
          <a:prstGeom prst="rect">
            <a:avLst/>
          </a:prstGeom>
          <a:solidFill>
            <a:srgbClr val="383D4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04461" y="2363238"/>
            <a:ext cx="206579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9 / 10</a:t>
            </a:r>
          </a:p>
        </p:txBody>
      </p:sp>
      <p:sp>
        <p:nvSpPr>
          <p:cNvPr id="16" name="Shape 14"/>
          <p:cNvSpPr/>
          <p:nvPr/>
        </p:nvSpPr>
        <p:spPr>
          <a:xfrm>
            <a:off x="640080" y="3145536"/>
            <a:ext cx="3236976" cy="1828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737360" y="3566160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WBS 항목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428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407408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테이블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08406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1737360" y="5248656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저장소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79392" y="1554480"/>
            <a:ext cx="7479792" cy="1389888"/>
          </a:xfrm>
          <a:prstGeom prst="rect">
            <a:avLst/>
          </a:prstGeom>
          <a:solidFill>
            <a:srgbClr val="F5FBE0"/>
          </a:solidFill>
          <a:ln w="12700">
            <a:solidFill>
              <a:srgbClr val="B5E3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4480560" y="1719072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4A7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1984248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Kiosk · Admin · Backend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를 분리해 개발하고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,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메뉴 옵션과 제외 재료까지 표현할 수 있는 데이터 구조를 설계했습니다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또한 문서와 실제 구현 간 차이를 지속적으로 확인하며 프로젝트를 진행했습니다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279392" y="3090672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4279392" y="3090672"/>
            <a:ext cx="45720" cy="1389888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4480560" y="3255264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보완할 점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480560" y="3621024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개별 기능 구현에서 끝나지 않고 주문 생성부터 결제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관리자 확인까지의 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전체 흐름을 보다 안정적으로 검증하는 과정이 필요합니다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279392" y="4626864"/>
            <a:ext cx="7479792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4279392" y="4626864"/>
            <a:ext cx="45720" cy="1389888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 txBox="1"/>
          <p:nvPr/>
        </p:nvSpPr>
        <p:spPr>
          <a:xfrm>
            <a:off x="4480560" y="4791456"/>
            <a:ext cx="7077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프로젝트를 통해 배운 점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480560" y="5056632"/>
            <a:ext cx="7132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화면 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· API · DB</a:t>
            </a: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가 각각 정상 동작하는 것만으로는 충분하지 않았습니다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하나의 주문이 처음부터 끝까지 동일한 데이터로 연결되는지를 확인하는 것이</a:t>
            </a:r>
            <a:endParaRPr lang="en-US" altLang="ko-KR" sz="1250" dirty="0">
              <a:solidFill>
                <a:srgbClr val="111827"/>
              </a:solidFill>
              <a:latin typeface="Pretendard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111827"/>
                </a:solidFill>
                <a:latin typeface="Pretendard"/>
              </a:rPr>
              <a:t>통합 테스트의 핵심이라는 점을 배웠습니다</a:t>
            </a:r>
            <a:r>
              <a:rPr lang="en-US" altLang="ko-KR" sz="1250" dirty="0">
                <a:solidFill>
                  <a:srgbClr val="111827"/>
                </a:solidFill>
                <a:latin typeface="Pretendard"/>
              </a:rPr>
              <a:t>.</a:t>
            </a:r>
            <a:endParaRPr lang="ko-KR" altLang="en-US" sz="12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6DF1FA-54FA-411A-9147-E714F941840F}"/>
              </a:ext>
            </a:extLst>
          </p:cNvPr>
          <p:cNvSpPr txBox="1"/>
          <p:nvPr/>
        </p:nvSpPr>
        <p:spPr>
          <a:xfrm>
            <a:off x="644092" y="1767239"/>
            <a:ext cx="18394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B5E30F"/>
                </a:solidFill>
              </a:rPr>
              <a:t>현재 단계</a:t>
            </a:r>
            <a:br>
              <a:rPr lang="en-US" altLang="ko-KR" sz="1400" b="1" dirty="0">
                <a:solidFill>
                  <a:srgbClr val="B5E30F"/>
                </a:solidFill>
              </a:rPr>
            </a:br>
            <a:r>
              <a:rPr lang="ko-KR" altLang="en-US" sz="1400" b="1" dirty="0">
                <a:solidFill>
                  <a:srgbClr val="B5E30F"/>
                </a:solidFill>
              </a:rPr>
              <a:t>완성도 자체 평가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43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48640"/>
            <a:ext cx="100584" cy="1444752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920240" y="466344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424160" y="822960"/>
            <a:ext cx="100584" cy="1444752"/>
          </a:xfrm>
          <a:prstGeom prst="rect">
            <a:avLst/>
          </a:prstGeom>
          <a:solidFill>
            <a:srgbClr val="B5E30F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1155680" y="4480560"/>
            <a:ext cx="100584" cy="1444752"/>
          </a:xfrm>
          <a:prstGeom prst="rect">
            <a:avLst/>
          </a:prstGeom>
          <a:solidFill>
            <a:srgbClr val="B5E30F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0" y="2286000"/>
            <a:ext cx="121916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B5E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ASAK : A Salad A Kiosk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0" y="3108960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옵션이 많은 샐러드 주문도 실수 없이 선택하고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</a:t>
            </a:r>
            <a:r>
              <a:rPr lang="ko-KR" altLang="en-US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화면까지 이어질 수 있도록</a:t>
            </a:r>
            <a:r>
              <a:rPr lang="en-US" altLang="ko-KR" sz="1400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367528" y="3712464"/>
            <a:ext cx="1463040" cy="45720"/>
          </a:xfrm>
          <a:prstGeom prst="rect">
            <a:avLst/>
          </a:prstGeom>
          <a:solidFill>
            <a:srgbClr val="B5E30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Pretendard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Pretendard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</TotalTime>
  <Words>3423</Words>
  <Application>Microsoft Office PowerPoint</Application>
  <PresentationFormat>와이드스크린</PresentationFormat>
  <Paragraphs>672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ASAK : 샐러드 스마트 키오스크</dc:title>
  <dc:subject>PptxGenJS Presentation</dc:subject>
  <dc:creator>TEAM ASAK</dc:creator>
  <cp:lastModifiedBy>Administrator</cp:lastModifiedBy>
  <cp:revision>31</cp:revision>
  <dcterms:created xsi:type="dcterms:W3CDTF">2026-08-07T09:36:12Z</dcterms:created>
  <dcterms:modified xsi:type="dcterms:W3CDTF">2026-09-02T06:27:55Z</dcterms:modified>
</cp:coreProperties>
</file>
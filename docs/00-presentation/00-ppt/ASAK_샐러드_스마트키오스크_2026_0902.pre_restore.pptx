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69" r:id="rId16"/>
    <p:sldId id="279" r:id="rId17"/>
    <p:sldId id="280" r:id="rId18"/>
    <p:sldId id="281" r:id="rId19"/>
    <p:sldId id="270" r:id="rId20"/>
    <p:sldId id="271" r:id="rId21"/>
    <p:sldId id="282" r:id="rId22"/>
    <p:sldId id="283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/>
  <p:notesSz cx="6858000" cy="12192000"/>
  <p:embeddedFontLst>
    <p:embeddedFont>
      <p:font typeface="Pretendard" panose="02000503000000020004" pitchFamily="50" charset="-127"/>
      <p:regular r:id="rId31"/>
      <p:bold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BBF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66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표지. ASAK = A Salad A Kiosk. 팀 다비치 · 이하진·김나연. AI 추천·무인결제 완성 표현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목차. Why → Who → How → Build → Review 다섯 단계로 발표한다.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개요. 셀프오더 트렌드 중 ‘정확한 커스터마이징’에 집중. AI 추천·성과 수치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팀. 역할은 화면·API 단위. 통합·발표는 공동.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절차. 문서 선행 후 화면·서버를 연결한다. 8/3~8/14 실 API·DB 연동, 8/17~8/21 RTOS, 8/24 이후 통합 테스트·문서화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활용 기술. 실제 package.json 기준. 외부 API는 Cloudinary 이미지 API, Figma API/MCP 연동을 별도 표기하고, 결제는 실 PG가 아닌 가상 결제 REST API임을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전체 구조. React Kiosk/Admin → Spring Boot REST API → MySQL. KSD 실 API·DB 연동 이후 8/17~8/21 RTOS Simulator를 영수증/장치 이벤트 중심으로 연결할 예정이며, 현재 완료 기능처럼 표현하지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화면설계. 단계 분리 + 선택 유지가 UX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차별점. 커스터마이징 UX = 실수 없이 조합 완성. 서버 재검증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239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범위 B: 결제 화면 이동까지. 승인 완료는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00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12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97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연동. 키오스크 주문이 Admin까지 와야 루프가 닫힌다.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범위 B: 결제 화면 이동까지. 승인 완료는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162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범위 B: 결제 화면 이동까지. 승인 완료는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659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수행 프로세스. 06 1차 통합 → 07 DB 연동 → 08 RTOS 연동 → 09 테스트 QA → 10 발표 시연 순서. RTOS는 실 API·DB 연동 이후 단계로 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자체 평가. mock 1차 연결 ≠ DONE. 통합 검증 진행 중을 정직하게.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마무리. ASAK는 옵션이 많은 샐러드 주문을 실수 없이 끝내고 운영 화면까지 연결한다.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Salad A Kiosk — </a:t>
            </a:r>
            <a:r>
              <a:rPr lang="ko-KR" alt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커스터마이징을 더 정확하고 편리한 주문 경험으로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Pretendard"/>
              </a:rPr>
              <a:t>이하진 · 김나연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다비치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(ASAK </a:t>
            </a: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샐러드스마트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키오스크)  ·  2026.06.29 ~ 2026.09.02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시작한 이유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및 담당 기능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</a:t>
            </a: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설계부터 구현까지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기능 및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</a:t>
            </a: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성과와 개선 방향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옵션을 쉽고 정확하게 선택할 수 있는 스마트 키오스크 서비스를 구현했습니다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기획 의도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특화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차별화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메뉴별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옵션 정책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상태와 수량 제한을 주문 </a:t>
            </a: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화면뿐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아니라 서버 검증도 동일하게 적용했습니다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결과는 관리자 화면에서 확인할 수 있도록 구성했습니다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15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목록 · 상세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 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검증 API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·</a:t>
            </a:r>
            <a:endParaRPr lang="en-US" sz="1500" dirty="0"/>
          </a:p>
          <a:p>
            <a:pPr algn="l"/>
            <a:r>
              <a:rPr sz="1500" b="1">
                <a:solidFill>
                  <a:srgbClr val="111827"/>
                </a:solidFill>
                <a:latin typeface="Pretendard"/>
              </a:rPr>
              <a:t>자료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고객은 복잡한 옵션을 순서대로 쉽게 선택하고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,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관리자는 주문과 메뉴 상태를 하나의 운영 화면에서 확인할 수 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이를 통해 주문 과정에서 발생할 수 있는 입력 오류를 줄이고자 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샐러드는 메뉴 선택 이후에도 옵션 추가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제외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조절 </a:t>
            </a: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등여러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선택 과정이 필요합니다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ASAK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는 이러한 복잡한 주문 과정을 단계별로 구성해사용자의 주문 실수를 줄이는 것을 목표로 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 팀으로 구성하여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중심으로 역할을 분담하고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API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연동과 통합 테스트는 함께 진행했습니다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588264" y="2755773"/>
            <a:ext cx="1678418" cy="2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· Documentation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Admin </a:t>
            </a:r>
            <a:r>
              <a:rPr lang="ko-KR" altLang="en-US" sz="1150" dirty="0">
                <a:latin typeface="Pretendard"/>
              </a:rPr>
              <a:t>화면 기획 및 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Live </a:t>
            </a:r>
            <a:r>
              <a:rPr lang="ko-KR" altLang="en-US" sz="1150" dirty="0">
                <a:latin typeface="Pretendard"/>
              </a:rPr>
              <a:t>주문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주문 관리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메뉴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품절 관리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관리자 </a:t>
            </a:r>
            <a:r>
              <a:rPr lang="en-US" altLang="ko-KR" sz="1150" dirty="0">
                <a:latin typeface="Pretendard"/>
              </a:rPr>
              <a:t>API </a:t>
            </a:r>
            <a:r>
              <a:rPr lang="ko-KR" altLang="en-US" sz="1150" dirty="0">
                <a:latin typeface="Pretendard"/>
              </a:rPr>
              <a:t>연동 및 </a:t>
            </a:r>
            <a:r>
              <a:rPr lang="en-US" altLang="ko-KR" sz="1150" dirty="0">
                <a:latin typeface="Pretendard"/>
              </a:rPr>
              <a:t>DB </a:t>
            </a:r>
            <a:r>
              <a:rPr lang="ko-KR" altLang="en-US" sz="1150" dirty="0">
                <a:latin typeface="Pretendard"/>
              </a:rPr>
              <a:t>구조 반영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Figma · Screen Bible · WBS · </a:t>
            </a:r>
            <a:r>
              <a:rPr lang="ko-KR" altLang="en-US" sz="1150" dirty="0">
                <a:latin typeface="Pretendard"/>
              </a:rPr>
              <a:t>발표 자료 관리</a:t>
            </a: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· QA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Kiosk </a:t>
            </a:r>
            <a:r>
              <a:rPr lang="ko-KR" altLang="en-US" sz="1150" dirty="0">
                <a:latin typeface="Pretendard"/>
              </a:rPr>
              <a:t>주문 프로세스 및 옵션 </a:t>
            </a:r>
            <a:r>
              <a:rPr lang="en-US" altLang="ko-KR" sz="1150" dirty="0">
                <a:latin typeface="Pretendard"/>
              </a:rPr>
              <a:t>UI </a:t>
            </a:r>
            <a:r>
              <a:rPr lang="ko-KR" altLang="en-US" sz="1150" dirty="0">
                <a:latin typeface="Pretendard"/>
              </a:rPr>
              <a:t>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필수</a:t>
            </a:r>
            <a:r>
              <a:rPr lang="en-US" altLang="ko-KR" sz="1150" dirty="0">
                <a:latin typeface="Pretendard"/>
              </a:rPr>
              <a:t>/</a:t>
            </a:r>
            <a:r>
              <a:rPr lang="ko-KR" altLang="en-US" sz="1150" dirty="0">
                <a:latin typeface="Pretendard"/>
              </a:rPr>
              <a:t>선택 옵션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재료 제외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수량 제한 처리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장바구니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결제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완료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타임아웃 화면 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API </a:t>
            </a:r>
            <a:r>
              <a:rPr lang="ko-KR" altLang="en-US" sz="1150" dirty="0">
                <a:latin typeface="Pretendard"/>
              </a:rPr>
              <a:t>연동 및 테스트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시연 시나리오 검증</a:t>
            </a:r>
          </a:p>
        </p:txBody>
      </p:sp>
      <p:sp>
        <p:nvSpPr>
          <p:cNvPr id="32" name="Text 100">
            <a:extLst>
              <a:ext uri="{FF2B5EF4-FFF2-40B4-BE49-F238E27FC236}">
                <a16:creationId xmlns:a16="http://schemas.microsoft.com/office/drawing/2014/main" id="{A4971B6E-3F02-4912-8117-768CDFB8E474}"/>
              </a:ext>
            </a:extLst>
          </p:cNvPr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역할을 분담하되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및 최종 검증은 공동으로 진행했습니다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요구사항과 문서를 먼저 정의한 뒤 </a:t>
            </a:r>
            <a:endParaRPr lang="en-US" altLang="ko-KR" sz="1300" dirty="0">
              <a:solidFill>
                <a:srgbClr val="6B7280"/>
              </a:solidFill>
              <a:latin typeface="Pretendard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화면 구현 →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API/DB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연동 →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RTOS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연동 → 통합 테스트 순으로 진행했습니다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.</a:t>
            </a:r>
            <a:endParaRPr lang="ko-KR" altLang="en-US" sz="1300" dirty="0">
              <a:solidFill>
                <a:srgbClr val="6B7280"/>
              </a:solidFill>
              <a:latin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6/29~7/12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UI · DB · Figma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7/6~7/19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Kiosk 화면 구현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7/13~7/22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Admin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7/20~8/7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API 계약 · 백엔드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7/23~7/31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실 API · DB 연동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8/3~8/14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8/17~8/21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통합 테스트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8/24~9/1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2026.06.29  ~  2026.09.02   (9주 · ISO W27~W36)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과정과 결과를 기술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프로세스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반영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산출물의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 관점에서 정리했습니다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/>
              </a:rPr>
              <a:t>React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기반 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Kiosk/Admin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과 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Spring Boot · </a:t>
            </a:r>
            <a:r>
              <a:rPr lang="en-US" sz="1150" dirty="0" err="1">
                <a:solidFill>
                  <a:srgbClr val="111827"/>
                </a:solidFill>
                <a:latin typeface="Pretendard"/>
              </a:rPr>
              <a:t>MyBatis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 · MySQL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을 활용한 서비스 구조</a:t>
            </a:r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옵션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재료 제외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수량 선택부터 장바구니와 관리자 주문 관리까지</a:t>
            </a:r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요구사항 분석 → 설계 → 개발 → 연동 →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QA → 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시연</a:t>
            </a:r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화면 흐름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데이터 구조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서버 검증을 반복적으로 보완</a:t>
            </a:r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구현 화면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ERD · API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테스트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Bible · WBS</a:t>
            </a:r>
            <a:endParaRPr lang="en-US" sz="1150" dirty="0">
              <a:solidFill>
                <a:srgbClr val="111827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2400" b="1" dirty="0">
                <a:solidFill>
                  <a:srgbClr val="111827"/>
                </a:solidFill>
                <a:latin typeface="Pretendard"/>
              </a:rPr>
              <a:t>개발 환경 및 기술 스택</a:t>
            </a:r>
            <a:endParaRPr lang="ko-KR" alt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100" dirty="0">
                <a:solidFill>
                  <a:srgbClr val="6B7280"/>
                </a:solidFill>
                <a:latin typeface="Pretendard"/>
              </a:rPr>
              <a:t>Kiosk · Admin · Backend</a:t>
            </a:r>
            <a:r>
              <a:rPr lang="ko-KR" altLang="en-US" sz="1100" dirty="0">
                <a:solidFill>
                  <a:srgbClr val="6B7280"/>
                </a:solidFill>
                <a:latin typeface="Pretendard"/>
              </a:rPr>
              <a:t>를 기준으로 실제 프로젝트에 적용한 기술입니다</a:t>
            </a:r>
            <a:r>
              <a:rPr lang="en-US" altLang="ko-KR" sz="1100" dirty="0">
                <a:solidFill>
                  <a:srgbClr val="6B7280"/>
                </a:solidFill>
                <a:latin typeface="Pretendard"/>
              </a:rPr>
              <a:t>.</a:t>
            </a:r>
            <a:endParaRPr lang="ko-KR" alt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주문 세션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메뉴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옵션 조회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장바구니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결제 화면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이미지 연동</a:t>
            </a:r>
            <a:endParaRPr lang="ko-KR" alt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실시간 주문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주문 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메뉴 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품절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매출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결제수단</a:t>
            </a:r>
            <a:endParaRPr lang="ko-KR" alt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Spring Boot 4.0.7 · Java 25 · MyBatis · Gradle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REST API · Kiosk/Admin API 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비즈니스 로직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데이터 검증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외부 API · 이미지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Cloudinary Upload/Delivery API · 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050" dirty="0" err="1">
                <a:solidFill>
                  <a:srgbClr val="28322D"/>
                </a:solidFill>
                <a:latin typeface="Pretendard"/>
              </a:rPr>
              <a:t>Cloudinary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 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이미지 업로드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제공 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· MySQL 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데이터 관리</a:t>
            </a:r>
            <a:endParaRPr lang="ko-KR" alt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150" b="1">
                <a:solidFill>
                  <a:srgbClr val="4A7A00"/>
                </a:solidFill>
                <a:latin typeface="Pretendard"/>
              </a:rPr>
              <a:t>개발 · 협업 툴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GitHub · Notion · Figma · Bruno · DevCopilot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형상관리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화면 설계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API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테스트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일정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문서 관리</a:t>
            </a:r>
            <a:endParaRPr lang="ko-KR" alt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71422" y="4982856"/>
            <a:ext cx="1771200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내부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REST 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69504" y="4979822"/>
            <a:ext cx="1771088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외부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1421" y="5266320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GET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/kiosk/categories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menuList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menuDetail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/{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menuId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}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POST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/kiosk/cart/validate · /orders · /payments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Admin: /orders · /menus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soldOut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/sales · /payment-methods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9504" y="5261466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Cloudinary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: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이미지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업로드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URL Delivery</a:t>
            </a:r>
            <a:endParaRPr lang="en-US"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 • Figma API/MCP :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디자인과 구현 화면 비교 및 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UI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개선</a:t>
            </a:r>
            <a:endParaRPr lang="en-US" altLang="ko-KR"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결제 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PG: </a:t>
            </a:r>
            <a:r>
              <a:rPr lang="ko-KR" altLang="en-US" sz="1019" dirty="0" err="1">
                <a:solidFill>
                  <a:srgbClr val="465014"/>
                </a:solidFill>
                <a:latin typeface="Pretendard"/>
              </a:rPr>
              <a:t>미연동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,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현재는 가상 결제 시뮬레이션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altLang="ko-KR" sz="950" dirty="0">
              <a:solidFill>
                <a:srgbClr val="24330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주문 프로세스 담당</a:t>
            </a:r>
            <a:endParaRPr lang="ko-KR" alt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주문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관리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</a:t>
            </a:r>
            <a:endParaRPr lang="en-US" altLang="ko-KR" sz="950" dirty="0">
              <a:solidFill>
                <a:srgbClr val="1A1A1A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관리</a:t>
            </a:r>
            <a:endParaRPr lang="ko-KR" alt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Kiosk/Admin REST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로직 </a:t>
            </a:r>
            <a:r>
              <a:rPr lang="en-US" altLang="ko-KR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· </a:t>
            </a:r>
            <a:r>
              <a:rPr lang="en-US" sz="95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메뉴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옵션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주문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결제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공통코드 데이터</a:t>
            </a:r>
            <a:endParaRPr lang="ko-KR" altLang="en-US" sz="950" dirty="0"/>
          </a:p>
        </p:txBody>
      </p:sp>
      <p:sp>
        <p:nvSpPr>
          <p:cNvPr id="34" name="Rectangle 33"/>
          <p:cNvSpPr/>
          <p:nvPr/>
        </p:nvSpPr>
        <p:spPr>
          <a:xfrm>
            <a:off x="8549640" y="5010912"/>
            <a:ext cx="2788920" cy="822960"/>
          </a:xfrm>
          <a:prstGeom prst="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5102352"/>
            <a:ext cx="24231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43300"/>
                </a:solidFill>
                <a:latin typeface="Pretendard"/>
              </a:rPr>
              <a:t>RTOS Simulator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367528"/>
            <a:ext cx="1386598" cy="1337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869" dirty="0">
                <a:solidFill>
                  <a:srgbClr val="6B7280"/>
                </a:solidFill>
                <a:latin typeface="Pretendard"/>
              </a:rPr>
              <a:t>영수증 출력 및 장치 이벤트 연동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87968" y="4187952"/>
            <a:ext cx="18288" cy="5303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78825" y="4369354"/>
            <a:ext cx="104241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12383" y="4369354"/>
            <a:ext cx="18000" cy="64155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100">
            <a:extLst>
              <a:ext uri="{FF2B5EF4-FFF2-40B4-BE49-F238E27FC236}">
                <a16:creationId xmlns:a16="http://schemas.microsoft.com/office/drawing/2014/main" id="{6FE2EA24-5AE8-4837-8DC3-3900CC6A3833}"/>
              </a:ext>
            </a:extLst>
          </p:cNvPr>
          <p:cNvSpPr txBox="1"/>
          <p:nvPr/>
        </p:nvSpPr>
        <p:spPr>
          <a:xfrm>
            <a:off x="274320" y="596041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RTOS Simulator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영수증 출력과 장치 이벤트를 중심으로 연동을 진행했습니다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499616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499616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5636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8196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20391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2258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4780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499616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331720" y="1499616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423160" y="15636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8196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20391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2585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4780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6974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9169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499616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709160" y="1499616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4800600" y="15636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81965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20391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25856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4780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6974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499616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499616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563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8196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20391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2258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478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697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9169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499616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601200" y="1499616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692640" y="1563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8196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2258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478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697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694176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20040" y="3694176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11480" y="37581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40142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42336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4531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6725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892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51114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694176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2331720" y="3694176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2423160" y="3758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40142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42336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4531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672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8920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51114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5330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694176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178040" y="3694176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269480" y="3758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4014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4233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4531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672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51114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694176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601200" y="3694176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9692640" y="37581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40142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42336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4531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6725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892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1114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438912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685800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8229600" y="3090672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407822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561320" y="2871216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3291840" y="3090672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2011680" y="407822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97280" y="5285232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97280" y="5760720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561320" y="5285232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테이블 중 메뉴와 옵션 흐름을 설명하는 핵심 테이블만 표시했습니다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50" dirty="0"/>
          </a:p>
        </p:txBody>
      </p:sp>
      <p:sp>
        <p:nvSpPr>
          <p:cNvPr id="105" name="Text 11">
            <a:extLst>
              <a:ext uri="{FF2B5EF4-FFF2-40B4-BE49-F238E27FC236}">
                <a16:creationId xmlns:a16="http://schemas.microsoft.com/office/drawing/2014/main" id="{8CB08805-8C0B-41C3-B2BF-C23315CC1788}"/>
              </a:ext>
            </a:extLst>
          </p:cNvPr>
          <p:cNvSpPr txBox="1"/>
          <p:nvPr/>
        </p:nvSpPr>
        <p:spPr>
          <a:xfrm>
            <a:off x="438912" y="10339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옵션을 쉽고 정확하게 선택할 수 있는 스마트 키오스크 서비스를 구현했습니다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유형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상태는 공통코드 테이블을 통해 일관되게 관리하도록 구성했습니다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한 줄 지도</a:t>
            </a:r>
            <a:endParaRPr lang="ko-KR" altLang="en-US" sz="1100" dirty="0" err="1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선택 → 메뉴 선택 →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설정 → 장바구니 → 결제</a:t>
            </a:r>
            <a:endParaRPr lang="ko-KR" alt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482787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주문 과정을 단계별로 나누어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현재 선택해야 할 항목에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집중할 수 있도록 구성했습니다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단계로 이동하더라도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선택 값은 유지됩니다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75888" y="1078992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105656" y="1517904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9944" y="1517904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714232" y="1517904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3675888" y="517956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선택 구조와 선택 값 유지가 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UX</a:t>
            </a: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핵심입니다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44568" y="116535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544568" y="1211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0756" y="117297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810756" y="12186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21140" y="1161288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121140" y="12070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00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5656" y="1517904"/>
            <a:ext cx="2011680" cy="3584448"/>
          </a:xfrm>
          <a:prstGeom prst="rect">
            <a:avLst/>
          </a:prstGeom>
        </p:spPr>
      </p:pic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944" y="1517904"/>
            <a:ext cx="2011680" cy="3584448"/>
          </a:xfrm>
          <a:prstGeom prst="rect">
            <a:avLst/>
          </a:prstGeom>
        </p:spPr>
      </p:pic>
      <p:pic>
        <p:nvPicPr>
          <p:cNvPr id="50" name="Picture 4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14232" y="1517904"/>
            <a:ext cx="201168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메뉴를 조회하고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메뉴명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상태를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화면에서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메뉴를 선택하면 상세 주문 화면으로 이동합니다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품절된 메뉴는 선택할 수 없도록 처리하여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과정에서 발생할 수 있는 오류를 사전에 방지했습니다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메뉴별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정책에 따라 필수 옵션과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옵션을 구분해 제공합니다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재료만 선택적으로 제거할 수 있으며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수량과 옵션에 따른 가격 변화도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실시간으로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81048" y="3502152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장바구니 이동 전 서버에서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옵션 정책 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 상태 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수량을 다시 검증합니다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80000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57124" y="3232570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5053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 /api/kiosk/cart/validate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통해 서버 기준으로 주문 가능 여부와 금액을 다시 계산합니다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616" y="1233812"/>
            <a:ext cx="2263073" cy="4032385"/>
          </a:xfrm>
          <a:prstGeom prst="rect">
            <a:avLst/>
          </a:prstGeom>
        </p:spPr>
      </p:pic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215" y="1233812"/>
            <a:ext cx="2263073" cy="4032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및 옵션 품절 처리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메뉴와 옵션의 품절 상태를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화면에서 각각 구분하여 표시합니다.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품절된 메뉴는 주문을 제한하고,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옵션만 품절된 경우에는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옵션만 선택할 수 없도록 처리했습니다.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 범위에 따라 주문 가능 여부를 다르게 제어하여 불필요한 주문 실패를 방지했습니다.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전체 품절 · 개별 옵션 품절 상태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메뉴 · 옵션 · 제외 · 수량 ·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금액을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결제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화면으로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장바구니는 마지막 검산.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실패해도 선택은 유지한다. (시연: 결제 화면 이동까지)</a:t>
            </a: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189" y="1233812"/>
            <a:ext cx="2231136" cy="3975479"/>
          </a:xfrm>
          <a:prstGeom prst="rect">
            <a:avLst/>
          </a:prstGeom>
        </p:spPr>
      </p:pic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233812"/>
            <a:ext cx="2231136" cy="39754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프로세스 및 결제수단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내역을 최종 확인한 뒤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결제수단을 선택하고 결제를 진행합니다.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진행 상태와 완료 결과를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화면으로 구분하여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현재 상태를 확인할 수 있도록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확인 → 결제수단 선택 → 결제 진행 → 결제 완료의 흐름을 단계별로 구성했습니다.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내역 확인 · 결제수단 선택 · 결제 진행 · 결제 완료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결제는 실제 PG가 아닌 가상 결제 프로세스로 구현했습니다.</a:t>
            </a:r>
            <a:endParaRPr lang="en-US" sz="1200" dirty="0"/>
          </a:p>
        </p:txBody>
      </p:sp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80160"/>
            <a:ext cx="2700000" cy="3800000"/>
          </a:xfrm>
          <a:prstGeom prst="rect">
            <a:avLst/>
          </a:prstGeom>
        </p:spPr>
      </p:pic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000" y="1280160"/>
            <a:ext cx="2700000" cy="3800000"/>
          </a:xfrm>
          <a:prstGeom prst="rect">
            <a:avLst/>
          </a:prstGeom>
        </p:spPr>
      </p:pic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088" y="1280160"/>
            <a:ext cx="2700000" cy="3800000"/>
          </a:xfrm>
          <a:prstGeom prst="rect">
            <a:avLst/>
          </a:prstGeom>
        </p:spPr>
      </p:pic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2176" y="1280160"/>
            <a:ext cx="27000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상황 및 사용자 상태 처리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사용 중 발생할 수 있는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누락 · 장바구니 상태 · 사용자 미응답 상황을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각각 구분하여 안내합니다.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오류 메시지가 아니라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다음 행동을 알 수 있도록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상황별 안내 팝업을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사용자의 실수를 사전에 방지하고, 중단된 주문 흐름을 자연스럽게 이어갈 수 있도록 처리했습니다.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타임아웃 · 장바구니 비우기 · 빈 장바구니 · 결제수단 미선택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112" y="1180000"/>
            <a:ext cx="2900000" cy="2100000"/>
          </a:xfrm>
          <a:prstGeom prst="rect">
            <a:avLst/>
          </a:prstGeom>
        </p:spPr>
      </p:pic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0000" y="1180000"/>
            <a:ext cx="2900000" cy="2100000"/>
          </a:xfrm>
          <a:prstGeom prst="rect">
            <a:avLst/>
          </a:prstGeom>
        </p:spPr>
      </p:pic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3112" y="3500000"/>
            <a:ext cx="2900000" cy="2100000"/>
          </a:xfrm>
          <a:prstGeom prst="rect">
            <a:avLst/>
          </a:prstGeom>
        </p:spPr>
      </p:pic>
      <p:pic>
        <p:nvPicPr>
          <p:cNvPr id="40" name="Picture 39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0000" y="3500000"/>
            <a:ext cx="2900000" cy="21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완료 및 영수증 출력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결제가 완료되면 주문 완료 상태를 안내하고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 출력 과정을 사용자에게 표시합니다.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종료 이후에도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상태를 확인할 수 있도록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안내 UI를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결제 완료 → 주문 완료 안내 → 영수증 출력까지 주문 종료 흐름을 구성했습니다.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완료 · 영수증 출력 상태 안내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41" name="TextBox 40"/>
          <p:cNvSpPr txBox="1"/>
          <p:nvPr/>
        </p:nvSpPr>
        <p:spPr>
          <a:xfrm>
            <a:off x="640080" y="5850000"/>
            <a:ext cx="10000000" cy="300000"/>
          </a:xfrm>
          <a:prstGeom prst="rect">
            <a:avLst/>
          </a:prstGeom>
          <a:noFill/>
        </p:spPr>
        <p:txBody>
          <a:bodyPr wrap="none">
            <a:spAutoFit/>
          </a:bodyPr>
          <a:p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43" name="Picture 4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화면과 주문 목록에서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주문번호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메뉴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상태를 확인하고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상세에서는 고객이 선택한 옵션과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재료까지 함께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94132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28472" y="363016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상태를 한눈에 파악하고 관리할 수 있도록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중심의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구성했습니다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생성된 주문 정보를 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조회하고 관리하는 흐름을 구현했습니다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27" name="Picture 26" descr="admin-01-live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627632"/>
            <a:ext cx="676656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기준 데이터가 흔들리면 Kiosk도 흔들린다.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(CRUD 범위는 구현 현황에 맞춤)</a:t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품절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메뉴와 재료의 품절 상태를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화면에서 확인하고 관리합니다.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상태가 변경되면 Kiosk 주문 화면에도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기준을 적용해 주문할 수 없는 메뉴나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옵션의 선택을 제한합니다.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Admin 품절 관리 → 서버 데이터 반영 →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Kiosk 주문 제한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/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재료 품절 조회 및 상태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중 발생하는 품절 상황을 빠르게 반영하여 고객이 주문 단계에서 품절 상품을 선택하는 오류를 줄였습니다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매출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데이터를 기반으로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일별 · 월별 · 시간대별 매출 현황을 조회합니다.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기간별 매출과 주문 흐름을 시각화하여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운영자가 매장의 주요 매출 추이를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 확인할 수 있도록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데이터 → 매출 집계 → 운영 지표 확인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현황 · 기간별 통계 · 주문 추이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데이터가 단순히 저장되는 데 그치지 않고 운영에 필요한 정보로 활용될 수 있도록 관리자 화면에 시각화 했습니다.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97864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1380744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380744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380744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935224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3136392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3319272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3319272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319272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73752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074920" y="3264576"/>
            <a:ext cx="1737360" cy="118872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5257800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5257800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257800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Simulator · 장치 이벤트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12280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013448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7196328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7196328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테스트 QA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196328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Bruno · 브라우저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요구사항 정의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UI/DB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설계 → 기능 개발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API/DB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통합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RTOS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연동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QA →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시연</a:t>
            </a:r>
            <a:endParaRPr lang="ko-KR" altLang="en-US" sz="1250" dirty="0"/>
          </a:p>
        </p:txBody>
      </p:sp>
      <p:sp>
        <p:nvSpPr>
          <p:cNvPr id="58" name="Rectangle 57"/>
          <p:cNvSpPr/>
          <p:nvPr/>
        </p:nvSpPr>
        <p:spPr>
          <a:xfrm>
            <a:off x="8951976" y="3264408"/>
            <a:ext cx="1737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750808" y="3831336"/>
            <a:ext cx="201168" cy="54864"/>
          </a:xfrm>
          <a:prstGeom prst="rect">
            <a:avLst/>
          </a:prstGeom>
          <a:solidFill>
            <a:srgbClr val="B5E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34856" y="3410712"/>
            <a:ext cx="11887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4A7A00"/>
                </a:solidFill>
                <a:latin typeface="Pretendard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4856" y="3849624"/>
            <a:ext cx="13716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Pretendard"/>
              </a:rPr>
              <a:t>발표 시연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4856" y="41239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Pretendard"/>
              </a:rPr>
              <a:t>자료 정리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경로와 데이터 네이밍 규칙이 일관되지 않고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 사용 범위가 넓음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데이터 네이밍 규칙을 통일하고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중심으로 단순화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 · Mapper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혼재되어 기능 단위 흐름 파악이 어려움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Request/Response DTO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분리하고 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Mapper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구조를 정리하여 기능별 흐름 명확화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간 일치 여부 확인 필요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명세를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스키마와 대조하여 데이터 구조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장바구니부터 주문 생성까지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· DB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검증 필요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구현해 서버에서 주문 조건과 금액을 </a:t>
            </a:r>
            <a:r>
              <a:rPr lang="ko-KR" alt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재검증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메뉴 선택 → 옵션 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재료 제외 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수량 설정 → 장바구니 → 주문 생성 → </a:t>
            </a:r>
            <a:endParaRPr lang="en-US" altLang="ko-KR" sz="1200" dirty="0">
              <a:solidFill>
                <a:srgbClr val="FFFFFF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Admin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주문 확인</a:t>
            </a:r>
            <a:endParaRPr lang="ko-KR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및 검증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GitHub</a:t>
            </a:r>
            <a:endParaRPr lang="en-US" sz="1200" dirty="0"/>
          </a:p>
        </p:txBody>
      </p:sp>
      <p:pic>
        <p:nvPicPr>
          <p:cNvPr id="45" name="Picture 44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" y="1554480"/>
            <a:ext cx="1591056" cy="2834640"/>
          </a:xfrm>
          <a:prstGeom prst="rect">
            <a:avLst/>
          </a:prstGeom>
        </p:spPr>
      </p:pic>
      <p:pic>
        <p:nvPicPr>
          <p:cNvPr id="46" name="Picture 4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554480"/>
            <a:ext cx="1591056" cy="2834640"/>
          </a:xfrm>
          <a:prstGeom prst="rect">
            <a:avLst/>
          </a:prstGeom>
        </p:spPr>
      </p:pic>
      <p:pic>
        <p:nvPicPr>
          <p:cNvPr id="47" name="Picture 4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2221992"/>
            <a:ext cx="2670048" cy="1499616"/>
          </a:xfrm>
          <a:prstGeom prst="rect">
            <a:avLst/>
          </a:prstGeom>
        </p:spPr>
      </p:pic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5128" y="2224908"/>
            <a:ext cx="2670048" cy="149378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5862" y="1536192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설계부터 데이터 구조</a:t>
            </a:r>
            <a:r>
              <a:rPr lang="en-US" altLang="ko-KR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API </a:t>
            </a: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결과까지 함께 문서화하여</a:t>
            </a:r>
            <a:endParaRPr lang="en-US" altLang="ko-KR" sz="1200" dirty="0">
              <a:solidFill>
                <a:srgbClr val="FFFFFF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구현 과정과 변경 사항을 추적할 수 있도록 관리했습니다</a:t>
            </a:r>
            <a:r>
              <a:rPr lang="en-US" altLang="ko-KR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산출물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Screen Bible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MySQL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검증 결과</a:t>
            </a:r>
            <a:endParaRPr lang="en-US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792FA4A-C66B-425A-A70A-BA2617BC5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0" t="12267" r="26077"/>
          <a:stretch/>
        </p:blipFill>
        <p:spPr>
          <a:xfrm>
            <a:off x="9376156" y="1542601"/>
            <a:ext cx="2029460" cy="286480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93AAF92-7FD9-4200-88EF-CC767BB2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7" y="2345436"/>
            <a:ext cx="2670047" cy="117957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4ED09C-C819-4100-A8EF-32FFF5ACF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165" y="2410968"/>
            <a:ext cx="2663685" cy="10584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419DED-BD63-4ED0-84F8-B320B1181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252" y="3030951"/>
            <a:ext cx="607500" cy="108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9D04CCF-7D28-4442-B2B0-D67524350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1813766"/>
            <a:ext cx="607500" cy="108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648B703-D986-4BA9-88AE-5F9F28E8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10" y="1813766"/>
            <a:ext cx="607500" cy="108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680044B-3DF9-4F5C-97D0-7B12BF663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252" y="1825286"/>
            <a:ext cx="607500" cy="108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64AC60-FEF0-40ED-BEA3-E82F05F2B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3037377"/>
            <a:ext cx="607500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C4EA7B-ADCA-410D-8107-3999A56C36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1818" y="3037377"/>
            <a:ext cx="6075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04461" y="2363238"/>
            <a:ext cx="20657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9 / 10</a:t>
            </a:r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1984248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Kiosk · Admin · Backend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를 분리해 개발하고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,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메뉴 옵션과 제외 재료까지 표현할 수 있는 데이터 구조를 설계했습니다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또한 문서와 실제 구현 간 차이를 지속적으로 확인하며 프로젝트를 진행했습니다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개별 기능 구현에서 끝나지 않고 주문 생성부터 결제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관리자 확인까지의 </a:t>
            </a:r>
            <a:endParaRPr lang="en-US" altLang="ko-KR" sz="12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전체 흐름을 보다 안정적으로 검증하는 과정이 필요합니다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0566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화면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· API · DB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가 각각 정상 동작하는 것만으로는 충분하지 않았습니다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하나의 주문이 처음부터 끝까지 동일한 데이터로 연결되는지를 확인하는 것이</a:t>
            </a:r>
            <a:endParaRPr lang="en-US" altLang="ko-KR" sz="12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통합 테스트의 핵심이라는 점을 배웠습니다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6DF1FA-54FA-411A-9147-E714F941840F}"/>
              </a:ext>
            </a:extLst>
          </p:cNvPr>
          <p:cNvSpPr txBox="1"/>
          <p:nvPr/>
        </p:nvSpPr>
        <p:spPr>
          <a:xfrm>
            <a:off x="644092" y="1767239"/>
            <a:ext cx="1839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B5E30F"/>
                </a:solidFill>
              </a:rPr>
              <a:t>현재 단계</a:t>
            </a:r>
            <a:br>
              <a:rPr lang="en-US" altLang="ko-KR" sz="1400" b="1" dirty="0">
                <a:solidFill>
                  <a:srgbClr val="B5E30F"/>
                </a:solidFill>
              </a:rPr>
            </a:br>
            <a:r>
              <a:rPr lang="ko-KR" altLang="en-US" sz="1400" b="1" dirty="0">
                <a:solidFill>
                  <a:srgbClr val="B5E30F"/>
                </a:solidFill>
              </a:rPr>
              <a:t>완성도 자체 평가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A Salad A Kiosk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많은 샐러드 주문도 실수 없이 선택하고</a:t>
            </a:r>
            <a:r>
              <a:rPr lang="en-US" altLang="ko-KR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화면까지 이어질 수 있도록</a:t>
            </a:r>
            <a:r>
              <a:rPr lang="en-US" altLang="ko-KR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3401</Words>
  <Application>Microsoft Office PowerPoint</Application>
  <PresentationFormat>와이드스크린</PresentationFormat>
  <Paragraphs>648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Arial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29</cp:revision>
  <dcterms:created xsi:type="dcterms:W3CDTF">2026-08-07T09:36:12Z</dcterms:created>
  <dcterms:modified xsi:type="dcterms:W3CDTF">2026-09-02T06:00:53Z</dcterms:modified>
</cp:coreProperties>
</file>